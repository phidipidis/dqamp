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next 20 minutes you will learn how to use DQAMP as a Planning Admin.
Read the three objectives aloud. Tell participants they will practise at the end.
[DEMO CUE] Have DQAMP open on the host computer at the sign-in page.
[CHECK BEFORE PRESENTING] All names and figures in this deck are fictional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is the Division Quality Assurance and Monitoring Portal.
1. Goals, objectives, projects, outputs and activities link together, so results are traceable from the top down.
2. Every activity goes through QA review before it is published.
3. Everything is stored on the computer where DQAMP runs. There is no cloud account. The administrator backs up the data folder, so nobody else should copy or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has four roles. Point to the highlighted card: that is the role this session covers.
The rules are enforced by the system, not just by the menus. If you cannot use a button, it does not appear; if a change is outside your role or division, DQAMP refuses it.
[CHECK BEFORE PRESENTING] Name your office's administrator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runs on one computer, and you sign in there in a web browser.
1. Type the email your administrator registered.
2. Type the temporary password your administrator gave you.
3. Click Sign in.
There is no email invitation and no password-reset screen. The administrator handles both.
[DEMO CUE] Sign in with a training account. Do not show a real password on screen.
[CHECK BEFORE PRESENTING] Confirm the address your office uses (the default is http://127.0.0.1:3002).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signing in you land on the Dashboard. Point out the menu, the filters and the headline figures.
[DEMO CUE] Select CID in the division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activity follows these four steps. The filled circles are the steps this role performs.
Returned for Revision is the loop: the QA Assessor sends it back with a note, the Implementer fixes it and submits again.
Once an activity is Under Review or Published, it is locked for everyone except the reviewer and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 carry the division. You can create and edit projects in your own division only.
[DEMO CUE] Edit CID-02 and set its status to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Division objectives sit under the organizational goals. Planning Admins keep them current for their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see every division's activities so you can track delivery, but there are no workflow buttons for you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Open the PIRPA report with the CID filter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common corrections for Planning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table. These are the problems new users meet most often.
[CHECK BEFORE PRESENTING] Add your administrator's name and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about 10 minutes, in pairs if computers are limited.
Practice records go into the same database as real work. Use a training copy of DQAMP, or agree with your administrator which practice records to delete afterwards.
[CHECK BEFORE PRESENTING] Name the practice accounts and the sample OneDrive link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are stuck, start with your administrator.
[CHECK BEFORE PRESENTING] Fill in the support contact on this slide.
Close by thanking participants and asking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this checklist. It summarises the session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F"/>
        </a:solidFill>
      </p:bgPr>
    </p:bg>
    <p:spTree>
      <p:nvGrpSpPr>
        <p:cNvPr id="1" name=""/>
        <p:cNvGrpSpPr/>
        <p:nvPr/>
      </p:nvGrpSpPr>
      <p:grpSpPr>
        <a:xfrm>
          <a:off x="0" y="0"/>
          <a:ext cx="0" cy="0"/>
          <a:chOff x="0" y="0"/>
          <a:chExt cx="0" cy="0"/>
        </a:xfrm>
      </p:grpSpPr>
      <p:pic>
        <p:nvPicPr>
          <p:cNvPr id="2" name="Image 0" descr="Schools Division Office of Lucena City seal">    </p:cNvPr>
          <p:cNvPicPr>
            <a:picLocks noChangeAspect="1"/>
          </p:cNvPicPr>
          <p:nvPr/>
        </p:nvPicPr>
        <p:blipFill>
          <a:blip r:embed="rId1"/>
          <a:stretch>
            <a:fillRect/>
          </a:stretch>
        </p:blipFill>
        <p:spPr>
          <a:xfrm>
            <a:off x="548640" y="411480"/>
            <a:ext cx="777240" cy="777240"/>
          </a:xfrm>
          <a:prstGeom prst="rect">
            <a:avLst/>
          </a:prstGeom>
        </p:spPr>
      </p:pic>
      <p:sp>
        <p:nvSpPr>
          <p:cNvPr id="3" name="Text 0"/>
          <p:cNvSpPr txBox="1"/>
          <p:nvPr/>
        </p:nvSpPr>
        <p:spPr>
          <a:xfrm>
            <a:off x="1463040" y="457200"/>
            <a:ext cx="4572000" cy="68580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DQAMP 2026</a:t>
            </a:r>
            <a:endParaRPr lang="en-US" sz="1400" dirty="0"/>
          </a:p>
          <a:p>
            <a:pPr indent="0" marL="0">
              <a:buNone/>
            </a:pPr>
            <a:r>
              <a:rPr lang="en-US" sz="1100" dirty="0">
                <a:solidFill>
                  <a:srgbClr val="CADCFC"/>
                </a:solidFill>
                <a:latin typeface="Palatino Linotype" pitchFamily="34" charset="0"/>
                <a:ea typeface="Palatino Linotype" pitchFamily="34" charset="-122"/>
                <a:cs typeface="Palatino Linotype" pitchFamily="34" charset="-120"/>
              </a:rPr>
              <a:t>Schools Division Office of Lucena City</a:t>
            </a:r>
            <a:endParaRPr lang="en-US" sz="1400" dirty="0"/>
          </a:p>
        </p:txBody>
      </p:sp>
      <p:sp>
        <p:nvSpPr>
          <p:cNvPr id="4" name="Text 1"/>
          <p:cNvSpPr txBox="1"/>
          <p:nvPr/>
        </p:nvSpPr>
        <p:spPr>
          <a:xfrm>
            <a:off x="548640" y="1828800"/>
            <a:ext cx="5394960" cy="1188720"/>
          </a:xfrm>
          <a:prstGeom prst="rect">
            <a:avLst/>
          </a:prstGeom>
          <a:noFill/>
          <a:ln/>
        </p:spPr>
        <p:txBody>
          <a:bodyPr wrap="square" lIns="0" tIns="0" rIns="0" bIns="0" rtlCol="0" anchor="t"/>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Welcome to DQAMP</a:t>
            </a:r>
            <a:endParaRPr lang="en-US" sz="4000" dirty="0"/>
          </a:p>
        </p:txBody>
      </p:sp>
      <p:sp>
        <p:nvSpPr>
          <p:cNvPr id="5" name="Text 2"/>
          <p:cNvSpPr txBox="1"/>
          <p:nvPr/>
        </p:nvSpPr>
        <p:spPr>
          <a:xfrm>
            <a:off x="548640" y="3154680"/>
            <a:ext cx="5394960" cy="457200"/>
          </a:xfrm>
          <a:prstGeom prst="rect">
            <a:avLst/>
          </a:prstGeom>
          <a:noFill/>
          <a:ln/>
        </p:spPr>
        <p:txBody>
          <a:bodyPr wrap="square" lIns="0" tIns="0" rIns="0" bIns="0" rtlCol="0" anchor="ctr"/>
          <a:lstStyle/>
          <a:p>
            <a:pPr indent="0" marL="0">
              <a:buNone/>
            </a:pPr>
            <a:r>
              <a:rPr lang="en-US" sz="2000" dirty="0">
                <a:solidFill>
                  <a:srgbClr val="F2B705"/>
                </a:solidFill>
                <a:latin typeface="Palatino Linotype" pitchFamily="34" charset="0"/>
                <a:ea typeface="Palatino Linotype" pitchFamily="34" charset="-122"/>
                <a:cs typeface="Palatino Linotype" pitchFamily="34" charset="-120"/>
              </a:rPr>
              <a:t>Onboarding for Planning Admins</a:t>
            </a:r>
            <a:endParaRPr lang="en-US" sz="2000" dirty="0"/>
          </a:p>
        </p:txBody>
      </p:sp>
      <p:sp>
        <p:nvSpPr>
          <p:cNvPr id="6" name="Text 3"/>
          <p:cNvSpPr txBox="1"/>
          <p:nvPr/>
        </p:nvSpPr>
        <p:spPr>
          <a:xfrm>
            <a:off x="548640" y="3611880"/>
            <a:ext cx="5394960" cy="365760"/>
          </a:xfrm>
          <a:prstGeom prst="rect">
            <a:avLst/>
          </a:prstGeom>
          <a:noFill/>
          <a:ln/>
        </p:spPr>
        <p:txBody>
          <a:bodyPr wrap="square" lIns="0" tIns="0" rIns="0" bIns="0" rtlCol="0" anchor="ctr"/>
          <a:lstStyle/>
          <a:p>
            <a:pPr indent="0" marL="0">
              <a:buNone/>
            </a:pPr>
            <a:r>
              <a:rPr lang="en-US" sz="1400" dirty="0">
                <a:solidFill>
                  <a:srgbClr val="CADCFC"/>
                </a:solidFill>
                <a:latin typeface="Palatino Linotype" pitchFamily="34" charset="0"/>
                <a:ea typeface="Palatino Linotype" pitchFamily="34" charset="-122"/>
                <a:cs typeface="Palatino Linotype" pitchFamily="34" charset="-120"/>
              </a:rPr>
              <a:t>About 15 minutes, plus practice</a:t>
            </a:r>
            <a:endParaRPr lang="en-US" sz="1400" dirty="0"/>
          </a:p>
        </p:txBody>
      </p:sp>
      <p:sp>
        <p:nvSpPr>
          <p:cNvPr id="7" name="Text 4"/>
          <p:cNvSpPr txBox="1"/>
          <p:nvPr/>
        </p:nvSpPr>
        <p:spPr>
          <a:xfrm>
            <a:off x="548640" y="5989320"/>
            <a:ext cx="5486400" cy="365760"/>
          </a:xfrm>
          <a:prstGeom prst="rect">
            <a:avLst/>
          </a:prstGeom>
          <a:noFill/>
          <a:ln/>
        </p:spPr>
        <p:txBody>
          <a:bodyPr wrap="square" lIns="0" tIns="0" rIns="0" bIns="0" rtlCol="0" anchor="ctr"/>
          <a:lstStyle/>
          <a:p>
            <a:pPr indent="0" marL="0">
              <a:buNone/>
            </a:pPr>
            <a:r>
              <a:rPr lang="en-US" sz="1400" b="1" dirty="0">
                <a:solidFill>
                  <a:srgbClr val="F2B705"/>
                </a:solidFill>
                <a:latin typeface="Century Gothic" pitchFamily="34" charset="0"/>
                <a:ea typeface="Century Gothic" pitchFamily="34" charset="-122"/>
                <a:cs typeface="Century Gothic" pitchFamily="34" charset="-120"/>
              </a:rPr>
              <a:t>Plan it. Track it. Prove it.</a:t>
            </a:r>
            <a:endParaRPr lang="en-US" sz="1400" dirty="0"/>
          </a:p>
        </p:txBody>
      </p:sp>
      <p:sp>
        <p:nvSpPr>
          <p:cNvPr id="8" name="Text 5"/>
          <p:cNvSpPr txBox="1"/>
          <p:nvPr/>
        </p:nvSpPr>
        <p:spPr>
          <a:xfrm>
            <a:off x="6400800" y="1463040"/>
            <a:ext cx="521208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By the end of this session you can:</a:t>
            </a:r>
            <a:endParaRPr lang="en-US" sz="1600" dirty="0"/>
          </a:p>
        </p:txBody>
      </p:sp>
      <p:sp>
        <p:nvSpPr>
          <p:cNvPr id="9" name="Shape 6"/>
          <p:cNvSpPr/>
          <p:nvPr/>
        </p:nvSpPr>
        <p:spPr>
          <a:xfrm>
            <a:off x="6400800" y="2011680"/>
            <a:ext cx="5212080" cy="777240"/>
          </a:xfrm>
          <a:prstGeom prst="roundRect">
            <a:avLst>
              <a:gd name="adj" fmla="val 7059"/>
            </a:avLst>
          </a:prstGeom>
          <a:solidFill>
            <a:srgbClr val="15338A"/>
          </a:solidFill>
          <a:ln w="12700">
            <a:solidFill>
              <a:srgbClr val="15338A"/>
            </a:solidFill>
            <a:prstDash val="solid"/>
          </a:ln>
        </p:spPr>
      </p:sp>
      <p:sp>
        <p:nvSpPr>
          <p:cNvPr id="10" name="Shape 7"/>
          <p:cNvSpPr/>
          <p:nvPr/>
        </p:nvSpPr>
        <p:spPr>
          <a:xfrm>
            <a:off x="6601968" y="2203704"/>
            <a:ext cx="393192" cy="393192"/>
          </a:xfrm>
          <a:prstGeom prst="ellipse">
            <a:avLst/>
          </a:prstGeom>
          <a:solidFill>
            <a:srgbClr val="F2B705"/>
          </a:solidFill>
          <a:ln w="12700">
            <a:solidFill>
              <a:srgbClr val="F2B705"/>
            </a:solidFill>
            <a:prstDash val="solid"/>
          </a:ln>
        </p:spPr>
      </p:sp>
      <p:sp>
        <p:nvSpPr>
          <p:cNvPr id="11" name="Text 8"/>
          <p:cNvSpPr txBox="1"/>
          <p:nvPr/>
        </p:nvSpPr>
        <p:spPr>
          <a:xfrm>
            <a:off x="6601968" y="220370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1</a:t>
            </a:r>
            <a:endParaRPr lang="en-US" sz="1400" dirty="0"/>
          </a:p>
        </p:txBody>
      </p:sp>
      <p:sp>
        <p:nvSpPr>
          <p:cNvPr id="12" name="Text 9"/>
          <p:cNvSpPr txBox="1"/>
          <p:nvPr/>
        </p:nvSpPr>
        <p:spPr>
          <a:xfrm>
            <a:off x="7178040" y="208483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Sign in and find your division's plans</a:t>
            </a:r>
            <a:endParaRPr lang="en-US" sz="1500" dirty="0"/>
          </a:p>
        </p:txBody>
      </p:sp>
      <p:sp>
        <p:nvSpPr>
          <p:cNvPr id="13" name="Shape 10"/>
          <p:cNvSpPr/>
          <p:nvPr/>
        </p:nvSpPr>
        <p:spPr>
          <a:xfrm>
            <a:off x="6400800" y="2971800"/>
            <a:ext cx="5212080" cy="777240"/>
          </a:xfrm>
          <a:prstGeom prst="roundRect">
            <a:avLst>
              <a:gd name="adj" fmla="val 7059"/>
            </a:avLst>
          </a:prstGeom>
          <a:solidFill>
            <a:srgbClr val="15338A"/>
          </a:solidFill>
          <a:ln w="12700">
            <a:solidFill>
              <a:srgbClr val="15338A"/>
            </a:solidFill>
            <a:prstDash val="solid"/>
          </a:ln>
        </p:spPr>
      </p:sp>
      <p:sp>
        <p:nvSpPr>
          <p:cNvPr id="14" name="Shape 11"/>
          <p:cNvSpPr/>
          <p:nvPr/>
        </p:nvSpPr>
        <p:spPr>
          <a:xfrm>
            <a:off x="6601968" y="3163824"/>
            <a:ext cx="393192" cy="393192"/>
          </a:xfrm>
          <a:prstGeom prst="ellipse">
            <a:avLst/>
          </a:prstGeom>
          <a:solidFill>
            <a:srgbClr val="F2B705"/>
          </a:solidFill>
          <a:ln w="12700">
            <a:solidFill>
              <a:srgbClr val="F2B705"/>
            </a:solidFill>
            <a:prstDash val="solid"/>
          </a:ln>
        </p:spPr>
      </p:sp>
      <p:sp>
        <p:nvSpPr>
          <p:cNvPr id="15" name="Text 12"/>
          <p:cNvSpPr txBox="1"/>
          <p:nvPr/>
        </p:nvSpPr>
        <p:spPr>
          <a:xfrm>
            <a:off x="6601968" y="316382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2</a:t>
            </a:r>
            <a:endParaRPr lang="en-US" sz="1400" dirty="0"/>
          </a:p>
        </p:txBody>
      </p:sp>
      <p:sp>
        <p:nvSpPr>
          <p:cNvPr id="16" name="Text 13"/>
          <p:cNvSpPr txBox="1"/>
          <p:nvPr/>
        </p:nvSpPr>
        <p:spPr>
          <a:xfrm>
            <a:off x="7178040" y="304495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Keep objectives, projects and outputs up to date</a:t>
            </a:r>
            <a:endParaRPr lang="en-US" sz="1500" dirty="0"/>
          </a:p>
        </p:txBody>
      </p:sp>
      <p:sp>
        <p:nvSpPr>
          <p:cNvPr id="17" name="Shape 14"/>
          <p:cNvSpPr/>
          <p:nvPr/>
        </p:nvSpPr>
        <p:spPr>
          <a:xfrm>
            <a:off x="6400800" y="3931920"/>
            <a:ext cx="5212080" cy="777240"/>
          </a:xfrm>
          <a:prstGeom prst="roundRect">
            <a:avLst>
              <a:gd name="adj" fmla="val 7059"/>
            </a:avLst>
          </a:prstGeom>
          <a:solidFill>
            <a:srgbClr val="15338A"/>
          </a:solidFill>
          <a:ln w="12700">
            <a:solidFill>
              <a:srgbClr val="15338A"/>
            </a:solidFill>
            <a:prstDash val="solid"/>
          </a:ln>
        </p:spPr>
      </p:sp>
      <p:sp>
        <p:nvSpPr>
          <p:cNvPr id="18" name="Shape 15"/>
          <p:cNvSpPr/>
          <p:nvPr/>
        </p:nvSpPr>
        <p:spPr>
          <a:xfrm>
            <a:off x="6601968" y="4123944"/>
            <a:ext cx="393192" cy="393192"/>
          </a:xfrm>
          <a:prstGeom prst="ellipse">
            <a:avLst/>
          </a:prstGeom>
          <a:solidFill>
            <a:srgbClr val="F2B705"/>
          </a:solidFill>
          <a:ln w="12700">
            <a:solidFill>
              <a:srgbClr val="F2B705"/>
            </a:solidFill>
            <a:prstDash val="solid"/>
          </a:ln>
        </p:spPr>
      </p:sp>
      <p:sp>
        <p:nvSpPr>
          <p:cNvPr id="19" name="Text 16"/>
          <p:cNvSpPr txBox="1"/>
          <p:nvPr/>
        </p:nvSpPr>
        <p:spPr>
          <a:xfrm>
            <a:off x="6601968" y="412394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3</a:t>
            </a:r>
            <a:endParaRPr lang="en-US" sz="1400" dirty="0"/>
          </a:p>
        </p:txBody>
      </p:sp>
      <p:sp>
        <p:nvSpPr>
          <p:cNvPr id="20" name="Text 17"/>
          <p:cNvSpPr txBox="1"/>
          <p:nvPr/>
        </p:nvSpPr>
        <p:spPr>
          <a:xfrm>
            <a:off x="7178040" y="400507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Follow activities and pull reports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What DQAMP does</a:t>
            </a:r>
            <a:endParaRPr lang="en-US" sz="3400" dirty="0"/>
          </a:p>
        </p:txBody>
      </p:sp>
      <p:sp>
        <p:nvSpPr>
          <p:cNvPr id="3" name="brand frame"/>
          <p:cNvSpPr/>
          <p:nvPr/>
        </p:nvSpPr>
        <p:spPr>
          <a:xfrm>
            <a:off x="1138358" y="1252728"/>
            <a:ext cx="4215524" cy="4901184"/>
          </a:xfrm>
          <a:prstGeom prst="roundRect">
            <a:avLst>
              <a:gd name="adj" fmla="val 651"/>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brand" descr="DQAMP sign-in page panel: Plan it. Track it. Prove it.">    </p:cNvPr>
          <p:cNvPicPr>
            <a:picLocks noChangeAspect="1"/>
          </p:cNvPicPr>
          <p:nvPr/>
        </p:nvPicPr>
        <p:blipFill>
          <a:blip r:embed="rId1"/>
          <a:stretch>
            <a:fillRect/>
          </a:stretch>
        </p:blipFill>
        <p:spPr>
          <a:xfrm>
            <a:off x="1211510" y="1325880"/>
            <a:ext cx="4069220" cy="4754880"/>
          </a:xfrm>
          <a:prstGeom prst="rect">
            <a:avLst/>
          </a:prstGeom>
        </p:spPr>
      </p:pic>
      <p:sp>
        <p:nvSpPr>
          <p:cNvPr id="5" name="Text 2"/>
          <p:cNvSpPr txBox="1"/>
          <p:nvPr/>
        </p:nvSpPr>
        <p:spPr>
          <a:xfrm>
            <a:off x="6400800" y="1325880"/>
            <a:ext cx="5212080" cy="731520"/>
          </a:xfrm>
          <a:prstGeom prst="rect">
            <a:avLst/>
          </a:prstGeom>
          <a:noFill/>
          <a:ln/>
        </p:spPr>
        <p:txBody>
          <a:bodyPr wrap="square" lIns="0" tIns="0" rIns="0" bIns="0" rtlCol="0" anchor="t"/>
          <a:lstStyle/>
          <a:p>
            <a:pPr indent="0" marL="0">
              <a:buNone/>
            </a:pPr>
            <a:r>
              <a:rPr lang="en-US" sz="1600" dirty="0">
                <a:solidFill>
                  <a:srgbClr val="1E293B"/>
                </a:solidFill>
                <a:latin typeface="Palatino Linotype" pitchFamily="34" charset="0"/>
                <a:ea typeface="Palatino Linotype" pitchFamily="34" charset="-122"/>
                <a:cs typeface="Palatino Linotype" pitchFamily="34" charset="-120"/>
              </a:rPr>
              <a:t>DQAMP is the </a:t>
            </a:r>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Division Quality Assurance and Monitoring Portal</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 for SDO Lucena City.</a:t>
            </a:r>
            <a:endParaRPr lang="en-US" sz="1600" dirty="0"/>
          </a:p>
        </p:txBody>
      </p:sp>
      <p:sp>
        <p:nvSpPr>
          <p:cNvPr id="6" name="Callout number 1"/>
          <p:cNvSpPr/>
          <p:nvPr/>
        </p:nvSpPr>
        <p:spPr>
          <a:xfrm>
            <a:off x="6400800" y="2304288"/>
            <a:ext cx="365760" cy="365760"/>
          </a:xfrm>
          <a:prstGeom prst="ellipse">
            <a:avLst/>
          </a:prstGeom>
          <a:solidFill>
            <a:srgbClr val="1B2A8F"/>
          </a:solidFill>
          <a:ln w="25400">
            <a:solidFill>
              <a:srgbClr val="EA580C"/>
            </a:solidFill>
            <a:prstDash val="solid"/>
          </a:ln>
        </p:spPr>
      </p:sp>
      <p:sp>
        <p:nvSpPr>
          <p:cNvPr id="7" name="Text 4"/>
          <p:cNvSpPr txBox="1"/>
          <p:nvPr/>
        </p:nvSpPr>
        <p:spPr>
          <a:xfrm>
            <a:off x="6400800" y="2304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Legend 1"/>
          <p:cNvSpPr txBox="1"/>
          <p:nvPr/>
        </p:nvSpPr>
        <p:spPr>
          <a:xfrm>
            <a:off x="6931152" y="2286000"/>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One chain from goals to evidence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Organizational goals, division objectives, projects, outputs and activities link together.</a:t>
            </a:r>
            <a:endParaRPr lang="en-US" sz="1600" dirty="0"/>
          </a:p>
        </p:txBody>
      </p:sp>
      <p:sp>
        <p:nvSpPr>
          <p:cNvPr id="9" name="Callout number 2"/>
          <p:cNvSpPr/>
          <p:nvPr/>
        </p:nvSpPr>
        <p:spPr>
          <a:xfrm>
            <a:off x="6400800" y="3145536"/>
            <a:ext cx="365760" cy="365760"/>
          </a:xfrm>
          <a:prstGeom prst="ellipse">
            <a:avLst/>
          </a:prstGeom>
          <a:solidFill>
            <a:srgbClr val="1B2A8F"/>
          </a:solidFill>
          <a:ln w="25400">
            <a:solidFill>
              <a:srgbClr val="EA580C"/>
            </a:solidFill>
            <a:prstDash val="solid"/>
          </a:ln>
        </p:spPr>
      </p:sp>
      <p:sp>
        <p:nvSpPr>
          <p:cNvPr id="10" name="Text 7"/>
          <p:cNvSpPr txBox="1"/>
          <p:nvPr/>
        </p:nvSpPr>
        <p:spPr>
          <a:xfrm>
            <a:off x="640080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Legend 2"/>
          <p:cNvSpPr txBox="1"/>
          <p:nvPr/>
        </p:nvSpPr>
        <p:spPr>
          <a:xfrm>
            <a:off x="6931152" y="3127248"/>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Quality assurance built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An activity is published only after a QA Assessor reviews it.</a:t>
            </a:r>
            <a:endParaRPr lang="en-US" sz="1600" dirty="0"/>
          </a:p>
        </p:txBody>
      </p:sp>
      <p:sp>
        <p:nvSpPr>
          <p:cNvPr id="12" name="Callout number 3"/>
          <p:cNvSpPr/>
          <p:nvPr/>
        </p:nvSpPr>
        <p:spPr>
          <a:xfrm>
            <a:off x="6400800" y="3986784"/>
            <a:ext cx="365760" cy="365760"/>
          </a:xfrm>
          <a:prstGeom prst="ellipse">
            <a:avLst/>
          </a:prstGeom>
          <a:solidFill>
            <a:srgbClr val="1B2A8F"/>
          </a:solidFill>
          <a:ln w="25400">
            <a:solidFill>
              <a:srgbClr val="EA580C"/>
            </a:solidFill>
            <a:prstDash val="solid"/>
          </a:ln>
        </p:spPr>
      </p:sp>
      <p:sp>
        <p:nvSpPr>
          <p:cNvPr id="13" name="Text 10"/>
          <p:cNvSpPr txBox="1"/>
          <p:nvPr/>
        </p:nvSpPr>
        <p:spPr>
          <a:xfrm>
            <a:off x="6400800" y="39867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4" name="Legend 3"/>
          <p:cNvSpPr txBox="1"/>
          <p:nvPr/>
        </p:nvSpPr>
        <p:spPr>
          <a:xfrm>
            <a:off x="6931152" y="3968496"/>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Records stay on this computer</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No cloud account. Your administrator backs up the data folder.</a:t>
            </a:r>
            <a:endParaRPr lang="en-US" sz="1600" dirty="0"/>
          </a:p>
        </p:txBody>
      </p:sp>
      <p:sp>
        <p:nvSpPr>
          <p:cNvPr id="15"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16" name="Text 13"/>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Who does what</a:t>
            </a:r>
            <a:endParaRPr lang="en-US" sz="3400" dirty="0"/>
          </a:p>
        </p:txBody>
      </p:sp>
      <p:sp>
        <p:nvSpPr>
          <p:cNvPr id="3" name="Shape 1"/>
          <p:cNvSpPr/>
          <p:nvPr/>
        </p:nvSpPr>
        <p:spPr>
          <a:xfrm>
            <a:off x="548640" y="1234440"/>
            <a:ext cx="5440680" cy="2057400"/>
          </a:xfrm>
          <a:prstGeom prst="roundRect">
            <a:avLst>
              <a:gd name="adj" fmla="val 2667"/>
            </a:avLst>
          </a:prstGeom>
          <a:solidFill>
            <a:srgbClr val="F5F7FA"/>
          </a:solidFill>
          <a:ln w="12700">
            <a:solidFill>
              <a:srgbClr val="E2E8F0"/>
            </a:solidFill>
            <a:prstDash val="solid"/>
          </a:ln>
        </p:spPr>
      </p:sp>
      <p:sp>
        <p:nvSpPr>
          <p:cNvPr id="4" name="Shape 2"/>
          <p:cNvSpPr/>
          <p:nvPr/>
        </p:nvSpPr>
        <p:spPr>
          <a:xfrm>
            <a:off x="777240" y="1435608"/>
            <a:ext cx="457200" cy="457200"/>
          </a:xfrm>
          <a:prstGeom prst="ellipse">
            <a:avLst/>
          </a:prstGeom>
          <a:solidFill>
            <a:srgbClr val="1B2A8F"/>
          </a:solidFill>
          <a:ln w="12700">
            <a:solidFill>
              <a:srgbClr val="1B2A8F"/>
            </a:solidFill>
            <a:prstDash val="solid"/>
          </a:ln>
        </p:spPr>
      </p:sp>
      <p:sp>
        <p:nvSpPr>
          <p:cNvPr id="5" name="Text 3"/>
          <p:cNvSpPr txBox="1"/>
          <p:nvPr/>
        </p:nvSpPr>
        <p:spPr>
          <a:xfrm>
            <a:off x="77724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6" name="Text 4"/>
          <p:cNvSpPr txBox="1"/>
          <p:nvPr/>
        </p:nvSpPr>
        <p:spPr>
          <a:xfrm>
            <a:off x="137160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Administrator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Top management and system administrators</a:t>
            </a:r>
            <a:endParaRPr lang="en-US" sz="1800" dirty="0"/>
          </a:p>
        </p:txBody>
      </p:sp>
      <p:sp>
        <p:nvSpPr>
          <p:cNvPr id="7" name="Text 5"/>
          <p:cNvSpPr txBox="1"/>
          <p:nvPr/>
        </p:nvSpPr>
        <p:spPr>
          <a:xfrm>
            <a:off x="86868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and changes everything</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Publishes reviewed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users and sets roles and divisions</a:t>
            </a:r>
            <a:endParaRPr lang="en-US" sz="1300" dirty="0"/>
          </a:p>
        </p:txBody>
      </p:sp>
      <p:sp>
        <p:nvSpPr>
          <p:cNvPr id="8" name="Shape 6"/>
          <p:cNvSpPr/>
          <p:nvPr/>
        </p:nvSpPr>
        <p:spPr>
          <a:xfrm>
            <a:off x="6172200" y="1234440"/>
            <a:ext cx="5440680" cy="2057400"/>
          </a:xfrm>
          <a:prstGeom prst="roundRect">
            <a:avLst>
              <a:gd name="adj" fmla="val 2667"/>
            </a:avLst>
          </a:prstGeom>
          <a:solidFill>
            <a:srgbClr val="EEF2FF"/>
          </a:solidFill>
          <a:ln w="31750">
            <a:solidFill>
              <a:srgbClr val="F2B705"/>
            </a:solidFill>
            <a:prstDash val="solid"/>
          </a:ln>
        </p:spPr>
      </p:sp>
      <p:sp>
        <p:nvSpPr>
          <p:cNvPr id="9" name="Shape 7"/>
          <p:cNvSpPr/>
          <p:nvPr/>
        </p:nvSpPr>
        <p:spPr>
          <a:xfrm>
            <a:off x="6400800" y="1435608"/>
            <a:ext cx="457200" cy="457200"/>
          </a:xfrm>
          <a:prstGeom prst="ellipse">
            <a:avLst/>
          </a:prstGeom>
          <a:solidFill>
            <a:srgbClr val="1B2A8F"/>
          </a:solidFill>
          <a:ln w="12700">
            <a:solidFill>
              <a:srgbClr val="1B2A8F"/>
            </a:solidFill>
            <a:prstDash val="solid"/>
          </a:ln>
        </p:spPr>
      </p:sp>
      <p:sp>
        <p:nvSpPr>
          <p:cNvPr id="10" name="Text 8"/>
          <p:cNvSpPr txBox="1"/>
          <p:nvPr/>
        </p:nvSpPr>
        <p:spPr>
          <a:xfrm>
            <a:off x="640080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a:t>
            </a:r>
            <a:endParaRPr lang="en-US" sz="1600" dirty="0"/>
          </a:p>
        </p:txBody>
      </p:sp>
      <p:sp>
        <p:nvSpPr>
          <p:cNvPr id="11" name="Text 9"/>
          <p:cNvSpPr txBox="1"/>
          <p:nvPr/>
        </p:nvSpPr>
        <p:spPr>
          <a:xfrm>
            <a:off x="699516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Planning Admin</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Division planning staff</a:t>
            </a:r>
            <a:endParaRPr lang="en-US" sz="1800" dirty="0"/>
          </a:p>
        </p:txBody>
      </p:sp>
      <p:sp>
        <p:nvSpPr>
          <p:cNvPr id="12" name="Shape 10"/>
          <p:cNvSpPr/>
          <p:nvPr/>
        </p:nvSpPr>
        <p:spPr>
          <a:xfrm>
            <a:off x="10424160" y="1463040"/>
            <a:ext cx="987552" cy="329184"/>
          </a:xfrm>
          <a:prstGeom prst="roundRect">
            <a:avLst>
              <a:gd name="adj" fmla="val 50000"/>
            </a:avLst>
          </a:prstGeom>
          <a:solidFill>
            <a:srgbClr val="F2B705"/>
          </a:solidFill>
          <a:ln w="12700">
            <a:solidFill>
              <a:srgbClr val="F2B705"/>
            </a:solidFill>
            <a:prstDash val="solid"/>
          </a:ln>
        </p:spPr>
      </p:sp>
      <p:sp>
        <p:nvSpPr>
          <p:cNvPr id="13" name="Text 11"/>
          <p:cNvSpPr txBox="1"/>
          <p:nvPr/>
        </p:nvSpPr>
        <p:spPr>
          <a:xfrm>
            <a:off x="10424160" y="1463040"/>
            <a:ext cx="987552" cy="329184"/>
          </a:xfrm>
          <a:prstGeom prst="rect">
            <a:avLst/>
          </a:prstGeom>
          <a:noFill/>
          <a:ln/>
        </p:spPr>
        <p:txBody>
          <a:bodyPr wrap="square" lIns="0" tIns="0" rIns="0" bIns="0" rtlCol="0" anchor="ctr"/>
          <a:lstStyle/>
          <a:p>
            <a:pPr algn="ctr" indent="0" marL="0">
              <a:buNone/>
            </a:pPr>
            <a:r>
              <a:rPr lang="en-US" sz="1100" b="1" dirty="0">
                <a:solidFill>
                  <a:srgbClr val="1E293B"/>
                </a:solidFill>
                <a:latin typeface="Palatino Linotype" pitchFamily="34" charset="0"/>
                <a:ea typeface="Palatino Linotype" pitchFamily="34" charset="-122"/>
                <a:cs typeface="Palatino Linotype" pitchFamily="34" charset="-120"/>
              </a:rPr>
              <a:t>Your role</a:t>
            </a:r>
            <a:endParaRPr lang="en-US" sz="1100" dirty="0"/>
          </a:p>
        </p:txBody>
      </p:sp>
      <p:sp>
        <p:nvSpPr>
          <p:cNvPr id="14" name="Text 12"/>
          <p:cNvSpPr txBox="1"/>
          <p:nvPr/>
        </p:nvSpPr>
        <p:spPr>
          <a:xfrm>
            <a:off x="649224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Plans objectives, projects and outputs in their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Reads all activities and reports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Does not edit or publish activities</a:t>
            </a:r>
            <a:endParaRPr lang="en-US" sz="1300" dirty="0"/>
          </a:p>
        </p:txBody>
      </p:sp>
      <p:sp>
        <p:nvSpPr>
          <p:cNvPr id="15" name="Shape 13"/>
          <p:cNvSpPr/>
          <p:nvPr/>
        </p:nvSpPr>
        <p:spPr>
          <a:xfrm>
            <a:off x="548640" y="3474720"/>
            <a:ext cx="5440680" cy="2057400"/>
          </a:xfrm>
          <a:prstGeom prst="roundRect">
            <a:avLst>
              <a:gd name="adj" fmla="val 2667"/>
            </a:avLst>
          </a:prstGeom>
          <a:solidFill>
            <a:srgbClr val="F5F7FA"/>
          </a:solidFill>
          <a:ln w="12700">
            <a:solidFill>
              <a:srgbClr val="E2E8F0"/>
            </a:solidFill>
            <a:prstDash val="solid"/>
          </a:ln>
        </p:spPr>
      </p:sp>
      <p:sp>
        <p:nvSpPr>
          <p:cNvPr id="16" name="Shape 14"/>
          <p:cNvSpPr/>
          <p:nvPr/>
        </p:nvSpPr>
        <p:spPr>
          <a:xfrm>
            <a:off x="777240" y="3675888"/>
            <a:ext cx="457200" cy="457200"/>
          </a:xfrm>
          <a:prstGeom prst="ellipse">
            <a:avLst/>
          </a:prstGeom>
          <a:solidFill>
            <a:srgbClr val="1B2A8F"/>
          </a:solidFill>
          <a:ln w="12700">
            <a:solidFill>
              <a:srgbClr val="1B2A8F"/>
            </a:solidFill>
            <a:prstDash val="solid"/>
          </a:ln>
        </p:spPr>
      </p:sp>
      <p:sp>
        <p:nvSpPr>
          <p:cNvPr id="17" name="Text 15"/>
          <p:cNvSpPr txBox="1"/>
          <p:nvPr/>
        </p:nvSpPr>
        <p:spPr>
          <a:xfrm>
            <a:off x="77724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Q</a:t>
            </a:r>
            <a:endParaRPr lang="en-US" sz="1600" dirty="0"/>
          </a:p>
        </p:txBody>
      </p:sp>
      <p:sp>
        <p:nvSpPr>
          <p:cNvPr id="18" name="Text 16"/>
          <p:cNvSpPr txBox="1"/>
          <p:nvPr/>
        </p:nvSpPr>
        <p:spPr>
          <a:xfrm>
            <a:off x="137160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QA Assessor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Quality assurance</a:t>
            </a:r>
            <a:endParaRPr lang="en-US" sz="1800" dirty="0"/>
          </a:p>
        </p:txBody>
      </p:sp>
      <p:sp>
        <p:nvSpPr>
          <p:cNvPr id="19" name="Text 17"/>
          <p:cNvSpPr txBox="1"/>
          <p:nvPr/>
        </p:nvSpPr>
        <p:spPr>
          <a:xfrm>
            <a:off x="86868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every activity</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Starts reviews and records QAME results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Returns work with a note; does not publish</a:t>
            </a:r>
            <a:endParaRPr lang="en-US" sz="1300" dirty="0"/>
          </a:p>
        </p:txBody>
      </p:sp>
      <p:sp>
        <p:nvSpPr>
          <p:cNvPr id="20" name="Shape 18"/>
          <p:cNvSpPr/>
          <p:nvPr/>
        </p:nvSpPr>
        <p:spPr>
          <a:xfrm>
            <a:off x="6172200" y="3474720"/>
            <a:ext cx="5440680" cy="2057400"/>
          </a:xfrm>
          <a:prstGeom prst="roundRect">
            <a:avLst>
              <a:gd name="adj" fmla="val 2667"/>
            </a:avLst>
          </a:prstGeom>
          <a:solidFill>
            <a:srgbClr val="F5F7FA"/>
          </a:solidFill>
          <a:ln w="12700">
            <a:solidFill>
              <a:srgbClr val="E2E8F0"/>
            </a:solidFill>
            <a:prstDash val="solid"/>
          </a:ln>
        </p:spPr>
      </p:sp>
      <p:sp>
        <p:nvSpPr>
          <p:cNvPr id="21" name="Shape 19"/>
          <p:cNvSpPr/>
          <p:nvPr/>
        </p:nvSpPr>
        <p:spPr>
          <a:xfrm>
            <a:off x="6400800" y="3675888"/>
            <a:ext cx="457200" cy="457200"/>
          </a:xfrm>
          <a:prstGeom prst="ellipse">
            <a:avLst/>
          </a:prstGeom>
          <a:solidFill>
            <a:srgbClr val="1B2A8F"/>
          </a:solidFill>
          <a:ln w="12700">
            <a:solidFill>
              <a:srgbClr val="1B2A8F"/>
            </a:solidFill>
            <a:prstDash val="solid"/>
          </a:ln>
        </p:spPr>
      </p:sp>
      <p:sp>
        <p:nvSpPr>
          <p:cNvPr id="22" name="Text 20"/>
          <p:cNvSpPr txBox="1"/>
          <p:nvPr/>
        </p:nvSpPr>
        <p:spPr>
          <a:xfrm>
            <a:off x="640080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I</a:t>
            </a:r>
            <a:endParaRPr lang="en-US" sz="1600" dirty="0"/>
          </a:p>
        </p:txBody>
      </p:sp>
      <p:sp>
        <p:nvSpPr>
          <p:cNvPr id="23" name="Text 21"/>
          <p:cNvSpPr txBox="1"/>
          <p:nvPr/>
        </p:nvSpPr>
        <p:spPr>
          <a:xfrm>
            <a:off x="699516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Implementer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Staff who run activities</a:t>
            </a:r>
            <a:endParaRPr lang="en-US" sz="1800" dirty="0"/>
          </a:p>
        </p:txBody>
      </p:sp>
      <p:sp>
        <p:nvSpPr>
          <p:cNvPr id="24" name="Text 22"/>
          <p:cNvSpPr txBox="1"/>
          <p:nvPr/>
        </p:nvSpPr>
        <p:spPr>
          <a:xfrm>
            <a:off x="649224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Works in their own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Creates and submits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evidence links and client feedback</a:t>
            </a:r>
            <a:endParaRPr lang="en-US" sz="1300" dirty="0"/>
          </a:p>
        </p:txBody>
      </p:sp>
      <p:sp>
        <p:nvSpPr>
          <p:cNvPr id="25" name="Shape 23"/>
          <p:cNvSpPr/>
          <p:nvPr/>
        </p:nvSpPr>
        <p:spPr>
          <a:xfrm>
            <a:off x="548640" y="5715000"/>
            <a:ext cx="11064240" cy="548640"/>
          </a:xfrm>
          <a:prstGeom prst="roundRect">
            <a:avLst>
              <a:gd name="adj" fmla="val 13333"/>
            </a:avLst>
          </a:prstGeom>
          <a:solidFill>
            <a:srgbClr val="EEF2FF"/>
          </a:solidFill>
          <a:ln w="12700">
            <a:solidFill>
              <a:srgbClr val="EEF2FF"/>
            </a:solidFill>
            <a:prstDash val="solid"/>
          </a:ln>
        </p:spPr>
      </p:sp>
      <p:sp>
        <p:nvSpPr>
          <p:cNvPr id="26" name="Text 24"/>
          <p:cNvSpPr txBox="1"/>
          <p:nvPr/>
        </p:nvSpPr>
        <p:spPr>
          <a:xfrm>
            <a:off x="749808" y="5806440"/>
            <a:ext cx="10661904" cy="3657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Checked by the system: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buttons you cannot use do not appear, and a change outside your role or division is refused.</a:t>
            </a:r>
            <a:endParaRPr lang="en-US" sz="1400" dirty="0"/>
          </a:p>
        </p:txBody>
      </p:sp>
      <p:sp>
        <p:nvSpPr>
          <p:cNvPr id="27"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8" name="Text 26"/>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Signing in</a:t>
            </a:r>
            <a:endParaRPr lang="en-US" sz="3400" dirty="0"/>
          </a:p>
        </p:txBody>
      </p:sp>
      <p:sp>
        <p:nvSpPr>
          <p:cNvPr id="3" name="signin frame"/>
          <p:cNvSpPr/>
          <p:nvPr/>
        </p:nvSpPr>
        <p:spPr>
          <a:xfrm>
            <a:off x="704088" y="1252728"/>
            <a:ext cx="4352544" cy="4668012"/>
          </a:xfrm>
          <a:prstGeom prst="roundRect">
            <a:avLst>
              <a:gd name="adj" fmla="val 63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signin" descr="DQAMP sign-in form with Email, Password and Sign in">    </p:cNvPr>
          <p:cNvPicPr>
            <a:picLocks noChangeAspect="1"/>
          </p:cNvPicPr>
          <p:nvPr/>
        </p:nvPicPr>
        <p:blipFill>
          <a:blip r:embed="rId1"/>
          <a:stretch>
            <a:fillRect/>
          </a:stretch>
        </p:blipFill>
        <p:spPr>
          <a:xfrm>
            <a:off x="777240" y="1325880"/>
            <a:ext cx="4206240" cy="4521708"/>
          </a:xfrm>
          <a:prstGeom prst="rect">
            <a:avLst/>
          </a:prstGeom>
        </p:spPr>
      </p:pic>
      <p:sp>
        <p:nvSpPr>
          <p:cNvPr id="5" name="Highlight 1"/>
          <p:cNvSpPr/>
          <p:nvPr/>
        </p:nvSpPr>
        <p:spPr>
          <a:xfrm>
            <a:off x="1017478" y="2713274"/>
            <a:ext cx="3725764" cy="456369"/>
          </a:xfrm>
          <a:prstGeom prst="roundRect">
            <a:avLst>
              <a:gd name="adj" fmla="val 10018"/>
            </a:avLst>
          </a:prstGeom>
          <a:ln w="31750">
            <a:solidFill>
              <a:srgbClr val="EA580C"/>
            </a:solidFill>
            <a:prstDash val="solid"/>
          </a:ln>
        </p:spPr>
      </p:sp>
      <p:sp>
        <p:nvSpPr>
          <p:cNvPr id="6" name="Highlight 2"/>
          <p:cNvSpPr/>
          <p:nvPr/>
        </p:nvSpPr>
        <p:spPr>
          <a:xfrm>
            <a:off x="1017478" y="3535403"/>
            <a:ext cx="3725764" cy="456369"/>
          </a:xfrm>
          <a:prstGeom prst="roundRect">
            <a:avLst>
              <a:gd name="adj" fmla="val 10018"/>
            </a:avLst>
          </a:prstGeom>
          <a:ln w="31750">
            <a:solidFill>
              <a:srgbClr val="EA580C"/>
            </a:solidFill>
            <a:prstDash val="solid"/>
          </a:ln>
        </p:spPr>
      </p:sp>
      <p:sp>
        <p:nvSpPr>
          <p:cNvPr id="7" name="Highlight 3"/>
          <p:cNvSpPr/>
          <p:nvPr/>
        </p:nvSpPr>
        <p:spPr>
          <a:xfrm>
            <a:off x="1017478" y="4128100"/>
            <a:ext cx="3725764" cy="475488"/>
          </a:xfrm>
          <a:prstGeom prst="roundRect">
            <a:avLst>
              <a:gd name="adj" fmla="val 9615"/>
            </a:avLst>
          </a:prstGeom>
          <a:ln w="31750">
            <a:solidFill>
              <a:srgbClr val="EA580C"/>
            </a:solidFill>
            <a:prstDash val="solid"/>
          </a:ln>
        </p:spPr>
      </p:sp>
      <p:sp>
        <p:nvSpPr>
          <p:cNvPr id="8" name="Callout number 1"/>
          <p:cNvSpPr/>
          <p:nvPr/>
        </p:nvSpPr>
        <p:spPr>
          <a:xfrm>
            <a:off x="660862" y="2786011"/>
            <a:ext cx="310896" cy="310896"/>
          </a:xfrm>
          <a:prstGeom prst="ellipse">
            <a:avLst/>
          </a:prstGeom>
          <a:solidFill>
            <a:srgbClr val="1B2A8F"/>
          </a:solidFill>
          <a:ln w="25400">
            <a:solidFill>
              <a:srgbClr val="EA580C"/>
            </a:solidFill>
            <a:prstDash val="solid"/>
          </a:ln>
        </p:spPr>
      </p:sp>
      <p:sp>
        <p:nvSpPr>
          <p:cNvPr id="9" name="Text 6"/>
          <p:cNvSpPr txBox="1"/>
          <p:nvPr/>
        </p:nvSpPr>
        <p:spPr>
          <a:xfrm>
            <a:off x="660862" y="278601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660862" y="3608139"/>
            <a:ext cx="310896" cy="310896"/>
          </a:xfrm>
          <a:prstGeom prst="ellipse">
            <a:avLst/>
          </a:prstGeom>
          <a:solidFill>
            <a:srgbClr val="1B2A8F"/>
          </a:solidFill>
          <a:ln w="25400">
            <a:solidFill>
              <a:srgbClr val="EA580C"/>
            </a:solidFill>
            <a:prstDash val="solid"/>
          </a:ln>
        </p:spPr>
      </p:sp>
      <p:sp>
        <p:nvSpPr>
          <p:cNvPr id="11" name="Text 8"/>
          <p:cNvSpPr txBox="1"/>
          <p:nvPr/>
        </p:nvSpPr>
        <p:spPr>
          <a:xfrm>
            <a:off x="660862" y="360813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60862" y="4210396"/>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60862" y="42103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Callout number 1"/>
          <p:cNvSpPr/>
          <p:nvPr/>
        </p:nvSpPr>
        <p:spPr>
          <a:xfrm>
            <a:off x="5852160" y="1344168"/>
            <a:ext cx="365760" cy="365760"/>
          </a:xfrm>
          <a:prstGeom prst="ellipse">
            <a:avLst/>
          </a:prstGeom>
          <a:solidFill>
            <a:srgbClr val="1B2A8F"/>
          </a:solidFill>
          <a:ln w="25400">
            <a:solidFill>
              <a:srgbClr val="EA580C"/>
            </a:solidFill>
            <a:prstDash val="solid"/>
          </a:ln>
        </p:spPr>
      </p:sp>
      <p:sp>
        <p:nvSpPr>
          <p:cNvPr id="15" name="Text 12"/>
          <p:cNvSpPr txBox="1"/>
          <p:nvPr/>
        </p:nvSpPr>
        <p:spPr>
          <a:xfrm>
            <a:off x="58521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6" name="Legend 1"/>
          <p:cNvSpPr txBox="1"/>
          <p:nvPr/>
        </p:nvSpPr>
        <p:spPr>
          <a:xfrm>
            <a:off x="6382512" y="132588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Email</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address your administrator registered for you.</a:t>
            </a:r>
            <a:endParaRPr lang="en-US" sz="1600" dirty="0"/>
          </a:p>
        </p:txBody>
      </p:sp>
      <p:sp>
        <p:nvSpPr>
          <p:cNvPr id="17" name="Callout number 2"/>
          <p:cNvSpPr/>
          <p:nvPr/>
        </p:nvSpPr>
        <p:spPr>
          <a:xfrm>
            <a:off x="5852160" y="2167128"/>
            <a:ext cx="365760" cy="365760"/>
          </a:xfrm>
          <a:prstGeom prst="ellipse">
            <a:avLst/>
          </a:prstGeom>
          <a:solidFill>
            <a:srgbClr val="1B2A8F"/>
          </a:solidFill>
          <a:ln w="25400">
            <a:solidFill>
              <a:srgbClr val="EA580C"/>
            </a:solidFill>
            <a:prstDash val="solid"/>
          </a:ln>
        </p:spPr>
      </p:sp>
      <p:sp>
        <p:nvSpPr>
          <p:cNvPr id="18" name="Text 15"/>
          <p:cNvSpPr txBox="1"/>
          <p:nvPr/>
        </p:nvSpPr>
        <p:spPr>
          <a:xfrm>
            <a:off x="5852160" y="2167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9" name="Legend 2"/>
          <p:cNvSpPr txBox="1"/>
          <p:nvPr/>
        </p:nvSpPr>
        <p:spPr>
          <a:xfrm>
            <a:off x="6382512" y="214884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Password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temporary password your administrator gave you.</a:t>
            </a:r>
            <a:endParaRPr lang="en-US" sz="1600" dirty="0"/>
          </a:p>
        </p:txBody>
      </p:sp>
      <p:sp>
        <p:nvSpPr>
          <p:cNvPr id="20" name="Callout number 3"/>
          <p:cNvSpPr/>
          <p:nvPr/>
        </p:nvSpPr>
        <p:spPr>
          <a:xfrm>
            <a:off x="5852160" y="2990088"/>
            <a:ext cx="365760" cy="365760"/>
          </a:xfrm>
          <a:prstGeom prst="ellipse">
            <a:avLst/>
          </a:prstGeom>
          <a:solidFill>
            <a:srgbClr val="1B2A8F"/>
          </a:solidFill>
          <a:ln w="25400">
            <a:solidFill>
              <a:srgbClr val="EA580C"/>
            </a:solidFill>
            <a:prstDash val="solid"/>
          </a:ln>
        </p:spPr>
      </p:sp>
      <p:sp>
        <p:nvSpPr>
          <p:cNvPr id="21" name="Text 18"/>
          <p:cNvSpPr txBox="1"/>
          <p:nvPr/>
        </p:nvSpPr>
        <p:spPr>
          <a:xfrm>
            <a:off x="5852160" y="2990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Legend 3"/>
          <p:cNvSpPr txBox="1"/>
          <p:nvPr/>
        </p:nvSpPr>
        <p:spPr>
          <a:xfrm>
            <a:off x="6382512" y="297180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Sign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Opens the Dashboard.</a:t>
            </a:r>
            <a:endParaRPr lang="en-US" sz="1600" dirty="0"/>
          </a:p>
        </p:txBody>
      </p:sp>
      <p:sp>
        <p:nvSpPr>
          <p:cNvPr id="23" name="Shape 20"/>
          <p:cNvSpPr/>
          <p:nvPr/>
        </p:nvSpPr>
        <p:spPr>
          <a:xfrm>
            <a:off x="5852160" y="3977640"/>
            <a:ext cx="5760720" cy="777240"/>
          </a:xfrm>
          <a:prstGeom prst="roundRect">
            <a:avLst>
              <a:gd name="adj" fmla="val 9412"/>
            </a:avLst>
          </a:prstGeom>
          <a:solidFill>
            <a:srgbClr val="EEF2FF"/>
          </a:solidFill>
          <a:ln w="12700">
            <a:solidFill>
              <a:srgbClr val="EEF2FF"/>
            </a:solidFill>
            <a:prstDash val="solid"/>
          </a:ln>
        </p:spPr>
      </p:sp>
      <p:sp>
        <p:nvSpPr>
          <p:cNvPr id="24" name="Text 21"/>
          <p:cNvSpPr txBox="1"/>
          <p:nvPr/>
        </p:nvSpPr>
        <p:spPr>
          <a:xfrm>
            <a:off x="6053328" y="406908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Where: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Open DQAMP on the computer where it runs, at http://127.0.0.1:3002.</a:t>
            </a:r>
            <a:endParaRPr lang="en-US" sz="1400" dirty="0"/>
          </a:p>
        </p:txBody>
      </p:sp>
      <p:sp>
        <p:nvSpPr>
          <p:cNvPr id="25" name="Shape 22"/>
          <p:cNvSpPr/>
          <p:nvPr/>
        </p:nvSpPr>
        <p:spPr>
          <a:xfrm>
            <a:off x="5852160" y="4937760"/>
            <a:ext cx="5760720" cy="777240"/>
          </a:xfrm>
          <a:prstGeom prst="roundRect">
            <a:avLst>
              <a:gd name="adj" fmla="val 9412"/>
            </a:avLst>
          </a:prstGeom>
          <a:solidFill>
            <a:srgbClr val="EEF2FF"/>
          </a:solidFill>
          <a:ln w="12700">
            <a:solidFill>
              <a:srgbClr val="EEF2FF"/>
            </a:solidFill>
            <a:prstDash val="solid"/>
          </a:ln>
        </p:spPr>
      </p:sp>
      <p:sp>
        <p:nvSpPr>
          <p:cNvPr id="26" name="Text 23"/>
          <p:cNvSpPr txBox="1"/>
          <p:nvPr/>
        </p:nvSpPr>
        <p:spPr>
          <a:xfrm>
            <a:off x="6053328" y="502920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No account yet?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Your administrator creates it. DQAMP does not send email invitations.</a:t>
            </a:r>
            <a:endParaRPr lang="en-US" sz="1400" dirty="0"/>
          </a:p>
        </p:txBody>
      </p:sp>
      <p:sp>
        <p:nvSpPr>
          <p:cNvPr id="27"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8" name="Text 25"/>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Finding your way</a:t>
            </a:r>
            <a:endParaRPr lang="en-US" sz="3400" dirty="0"/>
          </a:p>
        </p:txBody>
      </p:sp>
      <p:sp>
        <p:nvSpPr>
          <p:cNvPr id="3" name="p-dashboard frame"/>
          <p:cNvSpPr/>
          <p:nvPr/>
        </p:nvSpPr>
        <p:spPr>
          <a:xfrm>
            <a:off x="612648" y="1298448"/>
            <a:ext cx="6912864" cy="4375404"/>
          </a:xfrm>
          <a:prstGeom prst="roundRect">
            <a:avLst>
              <a:gd name="adj" fmla="val 62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p-dashboard" descr="DQAMP dashboard for a Planning Admin">    </p:cNvPr>
          <p:cNvPicPr>
            <a:picLocks noChangeAspect="1"/>
          </p:cNvPicPr>
          <p:nvPr/>
        </p:nvPicPr>
        <p:blipFill>
          <a:blip r:embed="rId1"/>
          <a:stretch>
            <a:fillRect/>
          </a:stretch>
        </p:blipFill>
        <p:spPr>
          <a:xfrm>
            <a:off x="685800" y="1371600"/>
            <a:ext cx="6766560" cy="4229100"/>
          </a:xfrm>
          <a:prstGeom prst="rect">
            <a:avLst/>
          </a:prstGeom>
        </p:spPr>
      </p:pic>
      <p:sp>
        <p:nvSpPr>
          <p:cNvPr id="5" name="Highlight 1"/>
          <p:cNvSpPr/>
          <p:nvPr/>
        </p:nvSpPr>
        <p:spPr>
          <a:xfrm>
            <a:off x="658368" y="1749604"/>
            <a:ext cx="1253109" cy="3535501"/>
          </a:xfrm>
          <a:prstGeom prst="roundRect">
            <a:avLst>
              <a:gd name="adj" fmla="val 3649"/>
            </a:avLst>
          </a:prstGeom>
          <a:ln w="31750">
            <a:solidFill>
              <a:srgbClr val="EA580C"/>
            </a:solidFill>
            <a:prstDash val="solid"/>
          </a:ln>
        </p:spPr>
      </p:sp>
      <p:sp>
        <p:nvSpPr>
          <p:cNvPr id="6" name="Highlight 2"/>
          <p:cNvSpPr/>
          <p:nvPr/>
        </p:nvSpPr>
        <p:spPr>
          <a:xfrm>
            <a:off x="2466822" y="1982278"/>
            <a:ext cx="4406872" cy="196715"/>
          </a:xfrm>
          <a:prstGeom prst="roundRect">
            <a:avLst>
              <a:gd name="adj" fmla="val 23242"/>
            </a:avLst>
          </a:prstGeom>
          <a:ln w="31750">
            <a:solidFill>
              <a:srgbClr val="EA580C"/>
            </a:solidFill>
            <a:prstDash val="solid"/>
          </a:ln>
        </p:spPr>
      </p:sp>
      <p:sp>
        <p:nvSpPr>
          <p:cNvPr id="7" name="Highlight 3"/>
          <p:cNvSpPr/>
          <p:nvPr/>
        </p:nvSpPr>
        <p:spPr>
          <a:xfrm>
            <a:off x="2011680" y="2312089"/>
            <a:ext cx="5317744" cy="605088"/>
          </a:xfrm>
          <a:prstGeom prst="roundRect">
            <a:avLst>
              <a:gd name="adj" fmla="val 7556"/>
            </a:avLst>
          </a:prstGeom>
          <a:ln w="31750">
            <a:solidFill>
              <a:srgbClr val="EA580C"/>
            </a:solidFill>
            <a:prstDash val="solid"/>
          </a:ln>
        </p:spPr>
      </p:sp>
      <p:sp>
        <p:nvSpPr>
          <p:cNvPr id="8" name="Callout number 1"/>
          <p:cNvSpPr/>
          <p:nvPr/>
        </p:nvSpPr>
        <p:spPr>
          <a:xfrm>
            <a:off x="502920" y="1594156"/>
            <a:ext cx="310896" cy="310896"/>
          </a:xfrm>
          <a:prstGeom prst="ellipse">
            <a:avLst/>
          </a:prstGeom>
          <a:solidFill>
            <a:srgbClr val="1B2A8F"/>
          </a:solidFill>
          <a:ln w="25400">
            <a:solidFill>
              <a:srgbClr val="EA580C"/>
            </a:solidFill>
            <a:prstDash val="solid"/>
          </a:ln>
        </p:spPr>
      </p:sp>
      <p:sp>
        <p:nvSpPr>
          <p:cNvPr id="9" name="Text 6"/>
          <p:cNvSpPr txBox="1"/>
          <p:nvPr/>
        </p:nvSpPr>
        <p:spPr>
          <a:xfrm>
            <a:off x="502920" y="15941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2110206" y="1925187"/>
            <a:ext cx="310896" cy="310896"/>
          </a:xfrm>
          <a:prstGeom prst="ellipse">
            <a:avLst/>
          </a:prstGeom>
          <a:solidFill>
            <a:srgbClr val="1B2A8F"/>
          </a:solidFill>
          <a:ln w="25400">
            <a:solidFill>
              <a:srgbClr val="EA580C"/>
            </a:solidFill>
            <a:prstDash val="solid"/>
          </a:ln>
        </p:spPr>
      </p:sp>
      <p:sp>
        <p:nvSpPr>
          <p:cNvPr id="11" name="Text 8"/>
          <p:cNvSpPr txBox="1"/>
          <p:nvPr/>
        </p:nvSpPr>
        <p:spPr>
          <a:xfrm>
            <a:off x="2110206" y="1925187"/>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7375144" y="2459184"/>
            <a:ext cx="310896" cy="310896"/>
          </a:xfrm>
          <a:prstGeom prst="ellipse">
            <a:avLst/>
          </a:prstGeom>
          <a:solidFill>
            <a:srgbClr val="1B2A8F"/>
          </a:solidFill>
          <a:ln w="25400">
            <a:solidFill>
              <a:srgbClr val="EA580C"/>
            </a:solidFill>
            <a:prstDash val="solid"/>
          </a:ln>
        </p:spPr>
      </p:sp>
      <p:sp>
        <p:nvSpPr>
          <p:cNvPr id="13" name="Text 10"/>
          <p:cNvSpPr txBox="1"/>
          <p:nvPr/>
        </p:nvSpPr>
        <p:spPr>
          <a:xfrm>
            <a:off x="7375144" y="2459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Callout number 1"/>
          <p:cNvSpPr/>
          <p:nvPr/>
        </p:nvSpPr>
        <p:spPr>
          <a:xfrm>
            <a:off x="7818120" y="1344168"/>
            <a:ext cx="365760" cy="365760"/>
          </a:xfrm>
          <a:prstGeom prst="ellipse">
            <a:avLst/>
          </a:prstGeom>
          <a:solidFill>
            <a:srgbClr val="1B2A8F"/>
          </a:solidFill>
          <a:ln w="25400">
            <a:solidFill>
              <a:srgbClr val="EA580C"/>
            </a:solidFill>
            <a:prstDash val="solid"/>
          </a:ln>
        </p:spPr>
      </p:sp>
      <p:sp>
        <p:nvSpPr>
          <p:cNvPr id="15" name="Text 12"/>
          <p:cNvSpPr txBox="1"/>
          <p:nvPr/>
        </p:nvSpPr>
        <p:spPr>
          <a:xfrm>
            <a:off x="781812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6" name="Legend 1"/>
          <p:cNvSpPr txBox="1"/>
          <p:nvPr/>
        </p:nvSpPr>
        <p:spPr>
          <a:xfrm>
            <a:off x="8348472" y="132588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Menu</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Strategic, operational and monitoring pages for planning.</a:t>
            </a:r>
            <a:endParaRPr lang="en-US" sz="1600" dirty="0"/>
          </a:p>
        </p:txBody>
      </p:sp>
      <p:sp>
        <p:nvSpPr>
          <p:cNvPr id="17" name="Callout number 2"/>
          <p:cNvSpPr/>
          <p:nvPr/>
        </p:nvSpPr>
        <p:spPr>
          <a:xfrm>
            <a:off x="7818120" y="2185416"/>
            <a:ext cx="365760" cy="365760"/>
          </a:xfrm>
          <a:prstGeom prst="ellipse">
            <a:avLst/>
          </a:prstGeom>
          <a:solidFill>
            <a:srgbClr val="1B2A8F"/>
          </a:solidFill>
          <a:ln w="25400">
            <a:solidFill>
              <a:srgbClr val="EA580C"/>
            </a:solidFill>
            <a:prstDash val="solid"/>
          </a:ln>
        </p:spPr>
      </p:sp>
      <p:sp>
        <p:nvSpPr>
          <p:cNvPr id="18" name="Text 15"/>
          <p:cNvSpPr txBox="1"/>
          <p:nvPr/>
        </p:nvSpPr>
        <p:spPr>
          <a:xfrm>
            <a:off x="7818120" y="21854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9" name="Legend 2"/>
          <p:cNvSpPr txBox="1"/>
          <p:nvPr/>
        </p:nvSpPr>
        <p:spPr>
          <a:xfrm>
            <a:off x="8348472" y="216712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Filters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Narrow every figure by quarter, division and project.</a:t>
            </a:r>
            <a:endParaRPr lang="en-US" sz="1600" dirty="0"/>
          </a:p>
        </p:txBody>
      </p:sp>
      <p:sp>
        <p:nvSpPr>
          <p:cNvPr id="20" name="Callout number 3"/>
          <p:cNvSpPr/>
          <p:nvPr/>
        </p:nvSpPr>
        <p:spPr>
          <a:xfrm>
            <a:off x="7818120" y="3026664"/>
            <a:ext cx="365760" cy="365760"/>
          </a:xfrm>
          <a:prstGeom prst="ellipse">
            <a:avLst/>
          </a:prstGeom>
          <a:solidFill>
            <a:srgbClr val="1B2A8F"/>
          </a:solidFill>
          <a:ln w="25400">
            <a:solidFill>
              <a:srgbClr val="EA580C"/>
            </a:solidFill>
            <a:prstDash val="solid"/>
          </a:ln>
        </p:spPr>
      </p:sp>
      <p:sp>
        <p:nvSpPr>
          <p:cNvPr id="21" name="Text 18"/>
          <p:cNvSpPr txBox="1"/>
          <p:nvPr/>
        </p:nvSpPr>
        <p:spPr>
          <a:xfrm>
            <a:off x="7818120" y="30266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Legend 3"/>
          <p:cNvSpPr txBox="1"/>
          <p:nvPr/>
        </p:nvSpPr>
        <p:spPr>
          <a:xfrm>
            <a:off x="8348472" y="3008376"/>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Headline figures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Activities, projects, allocation and completion.</a:t>
            </a:r>
            <a:endParaRPr lang="en-US" sz="1600" dirty="0"/>
          </a:p>
        </p:txBody>
      </p:sp>
      <p:sp>
        <p:nvSpPr>
          <p:cNvPr id="23" name="Shape 20"/>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24" name="Text 21"/>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can read every division, and change only your own.</a:t>
            </a:r>
            <a:endParaRPr lang="en-US" sz="1400" dirty="0"/>
          </a:p>
        </p:txBody>
      </p:sp>
      <p:sp>
        <p:nvSpPr>
          <p:cNvPr id="25"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6" name="Text 23"/>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The workflow at a glance</a:t>
            </a:r>
            <a:endParaRPr lang="en-US" sz="3400" dirty="0"/>
          </a:p>
        </p:txBody>
      </p:sp>
      <p:sp>
        <p:nvSpPr>
          <p:cNvPr id="3" name="Shape 1"/>
          <p:cNvSpPr/>
          <p:nvPr/>
        </p:nvSpPr>
        <p:spPr>
          <a:xfrm>
            <a:off x="1897380" y="2034540"/>
            <a:ext cx="8366760" cy="0"/>
          </a:xfrm>
          <a:prstGeom prst="line">
            <a:avLst/>
          </a:prstGeom>
          <a:noFill/>
          <a:ln w="25400">
            <a:solidFill>
              <a:srgbClr val="1B2A8F"/>
            </a:solidFill>
            <a:prstDash val="solid"/>
          </a:ln>
        </p:spPr>
      </p:sp>
      <p:sp>
        <p:nvSpPr>
          <p:cNvPr id="4" name="Shape 2"/>
          <p:cNvSpPr/>
          <p:nvPr/>
        </p:nvSpPr>
        <p:spPr>
          <a:xfrm>
            <a:off x="1463040" y="1600200"/>
            <a:ext cx="868680" cy="868680"/>
          </a:xfrm>
          <a:prstGeom prst="ellipse">
            <a:avLst/>
          </a:prstGeom>
          <a:solidFill>
            <a:srgbClr val="FFFFFF"/>
          </a:solidFill>
          <a:ln w="31750">
            <a:solidFill>
              <a:srgbClr val="1B2A8F"/>
            </a:solidFill>
            <a:prstDash val="solid"/>
          </a:ln>
        </p:spPr>
      </p:sp>
      <p:sp>
        <p:nvSpPr>
          <p:cNvPr id="5" name="Text 3"/>
          <p:cNvSpPr txBox="1"/>
          <p:nvPr/>
        </p:nvSpPr>
        <p:spPr>
          <a:xfrm>
            <a:off x="146304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1</a:t>
            </a:r>
            <a:endParaRPr lang="en-US" sz="2600" dirty="0"/>
          </a:p>
        </p:txBody>
      </p:sp>
      <p:sp>
        <p:nvSpPr>
          <p:cNvPr id="6" name="Text 4"/>
          <p:cNvSpPr txBox="1"/>
          <p:nvPr/>
        </p:nvSpPr>
        <p:spPr>
          <a:xfrm>
            <a:off x="73152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Draft</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writes it</a:t>
            </a:r>
            <a:endParaRPr lang="en-US" sz="1600" dirty="0"/>
          </a:p>
        </p:txBody>
      </p:sp>
      <p:sp>
        <p:nvSpPr>
          <p:cNvPr id="7" name="Shape 5"/>
          <p:cNvSpPr/>
          <p:nvPr/>
        </p:nvSpPr>
        <p:spPr>
          <a:xfrm>
            <a:off x="4251960" y="1600200"/>
            <a:ext cx="868680" cy="868680"/>
          </a:xfrm>
          <a:prstGeom prst="ellipse">
            <a:avLst/>
          </a:prstGeom>
          <a:solidFill>
            <a:srgbClr val="FFFFFF"/>
          </a:solidFill>
          <a:ln w="31750">
            <a:solidFill>
              <a:srgbClr val="1B2A8F"/>
            </a:solidFill>
            <a:prstDash val="solid"/>
          </a:ln>
        </p:spPr>
      </p:sp>
      <p:sp>
        <p:nvSpPr>
          <p:cNvPr id="8" name="Text 6"/>
          <p:cNvSpPr txBox="1"/>
          <p:nvPr/>
        </p:nvSpPr>
        <p:spPr>
          <a:xfrm>
            <a:off x="425196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2</a:t>
            </a:r>
            <a:endParaRPr lang="en-US" sz="2600" dirty="0"/>
          </a:p>
        </p:txBody>
      </p:sp>
      <p:sp>
        <p:nvSpPr>
          <p:cNvPr id="9" name="Text 7"/>
          <p:cNvSpPr txBox="1"/>
          <p:nvPr/>
        </p:nvSpPr>
        <p:spPr>
          <a:xfrm>
            <a:off x="352044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Submitted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submits</a:t>
            </a:r>
            <a:endParaRPr lang="en-US" sz="1600" dirty="0"/>
          </a:p>
        </p:txBody>
      </p:sp>
      <p:sp>
        <p:nvSpPr>
          <p:cNvPr id="10" name="Shape 8"/>
          <p:cNvSpPr/>
          <p:nvPr/>
        </p:nvSpPr>
        <p:spPr>
          <a:xfrm>
            <a:off x="7040880" y="1600200"/>
            <a:ext cx="868680" cy="868680"/>
          </a:xfrm>
          <a:prstGeom prst="ellipse">
            <a:avLst/>
          </a:prstGeom>
          <a:solidFill>
            <a:srgbClr val="FFFFFF"/>
          </a:solidFill>
          <a:ln w="31750">
            <a:solidFill>
              <a:srgbClr val="1B2A8F"/>
            </a:solidFill>
            <a:prstDash val="solid"/>
          </a:ln>
        </p:spPr>
      </p:sp>
      <p:sp>
        <p:nvSpPr>
          <p:cNvPr id="11" name="Text 9"/>
          <p:cNvSpPr txBox="1"/>
          <p:nvPr/>
        </p:nvSpPr>
        <p:spPr>
          <a:xfrm>
            <a:off x="704088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3</a:t>
            </a:r>
            <a:endParaRPr lang="en-US" sz="2600" dirty="0"/>
          </a:p>
        </p:txBody>
      </p:sp>
      <p:sp>
        <p:nvSpPr>
          <p:cNvPr id="12" name="Text 10"/>
          <p:cNvSpPr txBox="1"/>
          <p:nvPr/>
        </p:nvSpPr>
        <p:spPr>
          <a:xfrm>
            <a:off x="630936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Under Review</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QA Assessor reviews</a:t>
            </a:r>
            <a:endParaRPr lang="en-US" sz="1600" dirty="0"/>
          </a:p>
        </p:txBody>
      </p:sp>
      <p:sp>
        <p:nvSpPr>
          <p:cNvPr id="13" name="Shape 11"/>
          <p:cNvSpPr/>
          <p:nvPr/>
        </p:nvSpPr>
        <p:spPr>
          <a:xfrm>
            <a:off x="9829800" y="1600200"/>
            <a:ext cx="868680" cy="868680"/>
          </a:xfrm>
          <a:prstGeom prst="ellipse">
            <a:avLst/>
          </a:prstGeom>
          <a:solidFill>
            <a:srgbClr val="FFFFFF"/>
          </a:solidFill>
          <a:ln w="31750">
            <a:solidFill>
              <a:srgbClr val="1B2A8F"/>
            </a:solidFill>
            <a:prstDash val="solid"/>
          </a:ln>
        </p:spPr>
      </p:sp>
      <p:sp>
        <p:nvSpPr>
          <p:cNvPr id="14" name="Text 12"/>
          <p:cNvSpPr txBox="1"/>
          <p:nvPr/>
        </p:nvSpPr>
        <p:spPr>
          <a:xfrm>
            <a:off x="982980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4</a:t>
            </a:r>
            <a:endParaRPr lang="en-US" sz="2600" dirty="0"/>
          </a:p>
        </p:txBody>
      </p:sp>
      <p:sp>
        <p:nvSpPr>
          <p:cNvPr id="15" name="Text 13"/>
          <p:cNvSpPr txBox="1"/>
          <p:nvPr/>
        </p:nvSpPr>
        <p:spPr>
          <a:xfrm>
            <a:off x="909828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Published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Administrator publishes</a:t>
            </a:r>
            <a:endParaRPr lang="en-US" sz="1600" dirty="0"/>
          </a:p>
        </p:txBody>
      </p:sp>
      <p:sp>
        <p:nvSpPr>
          <p:cNvPr id="16" name="Text 14"/>
          <p:cNvSpPr txBox="1"/>
          <p:nvPr/>
        </p:nvSpPr>
        <p:spPr>
          <a:xfrm>
            <a:off x="548640" y="3520440"/>
            <a:ext cx="11064240" cy="365760"/>
          </a:xfrm>
          <a:prstGeom prst="rect">
            <a:avLst/>
          </a:prstGeom>
          <a:noFill/>
          <a:ln/>
        </p:spPr>
        <p:txBody>
          <a:bodyPr wrap="square" lIns="0" tIns="0" rIns="0" bIns="0" rtlCol="0" anchor="ctr"/>
          <a:lstStyle/>
          <a:p>
            <a:pPr indent="0" marL="0">
              <a:buNone/>
            </a:pPr>
            <a:r>
              <a:rPr lang="en-US" sz="1300" dirty="0">
                <a:solidFill>
                  <a:srgbClr val="536379"/>
                </a:solidFill>
                <a:latin typeface="Palatino Linotype" pitchFamily="34" charset="0"/>
                <a:ea typeface="Palatino Linotype" pitchFamily="34" charset="-122"/>
                <a:cs typeface="Palatino Linotype" pitchFamily="34" charset="-120"/>
              </a:rPr>
              <a:t>You follow these steps, but you do not move activities between them.</a:t>
            </a:r>
            <a:endParaRPr lang="en-US" sz="1300" dirty="0"/>
          </a:p>
        </p:txBody>
      </p:sp>
      <p:sp>
        <p:nvSpPr>
          <p:cNvPr id="17" name="Shape 15"/>
          <p:cNvSpPr/>
          <p:nvPr/>
        </p:nvSpPr>
        <p:spPr>
          <a:xfrm>
            <a:off x="548640" y="4069080"/>
            <a:ext cx="11064240" cy="868680"/>
          </a:xfrm>
          <a:prstGeom prst="roundRect">
            <a:avLst>
              <a:gd name="adj" fmla="val 8421"/>
            </a:avLst>
          </a:prstGeom>
          <a:solidFill>
            <a:srgbClr val="FFF4ED"/>
          </a:solidFill>
          <a:ln w="12700">
            <a:solidFill>
              <a:srgbClr val="FFF4ED"/>
            </a:solidFill>
            <a:prstDash val="solid"/>
          </a:ln>
        </p:spPr>
      </p:sp>
      <p:sp>
        <p:nvSpPr>
          <p:cNvPr id="18" name="Text 16"/>
          <p:cNvSpPr txBox="1"/>
          <p:nvPr/>
        </p:nvSpPr>
        <p:spPr>
          <a:xfrm>
            <a:off x="749808" y="4160520"/>
            <a:ext cx="10661904" cy="685800"/>
          </a:xfrm>
          <a:prstGeom prst="rect">
            <a:avLst/>
          </a:prstGeom>
          <a:noFill/>
          <a:ln/>
        </p:spPr>
        <p:txBody>
          <a:bodyPr wrap="square" lIns="0" tIns="0" rIns="0" bIns="0" rtlCol="0" anchor="ctr"/>
          <a:lstStyle/>
          <a:p>
            <a:pPr indent="0" marL="0">
              <a:buNone/>
            </a:pPr>
            <a:r>
              <a:rPr lang="en-US" sz="1400" b="1" dirty="0">
                <a:solidFill>
                  <a:srgbClr val="EA580C"/>
                </a:solidFill>
                <a:latin typeface="Palatino Linotype" pitchFamily="34" charset="0"/>
                <a:ea typeface="Palatino Linotype" pitchFamily="34" charset="-122"/>
                <a:cs typeface="Palatino Linotype" pitchFamily="34" charset="-120"/>
              </a:rPr>
              <a:t>Returned for Revision: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 QA Assessor sends an activity back with a note saying what to fix. The Implementer fixes it and submits again, so it returns to Submitted.</a:t>
            </a:r>
            <a:endParaRPr lang="en-US" sz="1400" dirty="0"/>
          </a:p>
        </p:txBody>
      </p:sp>
      <p:sp>
        <p:nvSpPr>
          <p:cNvPr id="19" name="Shape 17"/>
          <p:cNvSpPr/>
          <p:nvPr/>
        </p:nvSpPr>
        <p:spPr>
          <a:xfrm>
            <a:off x="548640" y="5120640"/>
            <a:ext cx="11064240" cy="685800"/>
          </a:xfrm>
          <a:prstGeom prst="roundRect">
            <a:avLst>
              <a:gd name="adj" fmla="val 10667"/>
            </a:avLst>
          </a:prstGeom>
          <a:solidFill>
            <a:srgbClr val="EEF2FF"/>
          </a:solidFill>
          <a:ln w="12700">
            <a:solidFill>
              <a:srgbClr val="EEF2FF"/>
            </a:solidFill>
            <a:prstDash val="solid"/>
          </a:ln>
        </p:spPr>
      </p:sp>
      <p:sp>
        <p:nvSpPr>
          <p:cNvPr id="20" name="Text 18"/>
          <p:cNvSpPr txBox="1"/>
          <p:nvPr/>
        </p:nvSpPr>
        <p:spPr>
          <a:xfrm>
            <a:off x="749808" y="5212080"/>
            <a:ext cx="10661904" cy="50292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Locked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an activity is Under Review or Published, only its reviewer or an administrator can change it.</a:t>
            </a:r>
            <a:endParaRPr lang="en-US" sz="14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2" name="Text 2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Plan projects for your division</a:t>
            </a:r>
            <a:endParaRPr lang="en-US" sz="3400" dirty="0"/>
          </a:p>
        </p:txBody>
      </p:sp>
      <p:sp>
        <p:nvSpPr>
          <p:cNvPr id="3" name="p-projects frame"/>
          <p:cNvSpPr/>
          <p:nvPr/>
        </p:nvSpPr>
        <p:spPr>
          <a:xfrm>
            <a:off x="612648" y="1298448"/>
            <a:ext cx="6912864" cy="3053453"/>
          </a:xfrm>
          <a:prstGeom prst="roundRect">
            <a:avLst>
              <a:gd name="adj" fmla="val 898"/>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p-projects" descr="Projects list with division filter, New Project, status and Edit">    </p:cNvPr>
          <p:cNvPicPr>
            <a:picLocks noChangeAspect="1"/>
          </p:cNvPicPr>
          <p:nvPr/>
        </p:nvPicPr>
        <p:blipFill>
          <a:blip r:embed="rId1"/>
          <a:stretch>
            <a:fillRect/>
          </a:stretch>
        </p:blipFill>
        <p:spPr>
          <a:xfrm>
            <a:off x="685800" y="1371600"/>
            <a:ext cx="6766560" cy="2907149"/>
          </a:xfrm>
          <a:prstGeom prst="rect">
            <a:avLst/>
          </a:prstGeom>
        </p:spPr>
      </p:pic>
      <p:sp>
        <p:nvSpPr>
          <p:cNvPr id="5" name="Highlight 1"/>
          <p:cNvSpPr/>
          <p:nvPr/>
        </p:nvSpPr>
        <p:spPr>
          <a:xfrm>
            <a:off x="3015716" y="1407033"/>
            <a:ext cx="340257" cy="227386"/>
          </a:xfrm>
          <a:prstGeom prst="roundRect">
            <a:avLst>
              <a:gd name="adj" fmla="val 20107"/>
            </a:avLst>
          </a:prstGeom>
          <a:ln w="31750">
            <a:solidFill>
              <a:srgbClr val="EA580C"/>
            </a:solidFill>
            <a:prstDash val="solid"/>
          </a:ln>
        </p:spPr>
      </p:sp>
      <p:sp>
        <p:nvSpPr>
          <p:cNvPr id="6" name="Highlight 2"/>
          <p:cNvSpPr/>
          <p:nvPr/>
        </p:nvSpPr>
        <p:spPr>
          <a:xfrm>
            <a:off x="6463826" y="1876735"/>
            <a:ext cx="833086" cy="283464"/>
          </a:xfrm>
          <a:prstGeom prst="roundRect">
            <a:avLst>
              <a:gd name="adj" fmla="val 16129"/>
            </a:avLst>
          </a:prstGeom>
          <a:ln w="31750">
            <a:solidFill>
              <a:srgbClr val="EA580C"/>
            </a:solidFill>
            <a:prstDash val="solid"/>
          </a:ln>
        </p:spPr>
      </p:sp>
      <p:sp>
        <p:nvSpPr>
          <p:cNvPr id="7" name="Highlight 3"/>
          <p:cNvSpPr/>
          <p:nvPr/>
        </p:nvSpPr>
        <p:spPr>
          <a:xfrm>
            <a:off x="3991820" y="3136892"/>
            <a:ext cx="453575" cy="180594"/>
          </a:xfrm>
          <a:prstGeom prst="roundRect">
            <a:avLst>
              <a:gd name="adj" fmla="val 25316"/>
            </a:avLst>
          </a:prstGeom>
          <a:ln w="31750">
            <a:solidFill>
              <a:srgbClr val="EA580C"/>
            </a:solidFill>
            <a:prstDash val="solid"/>
          </a:ln>
        </p:spPr>
      </p:sp>
      <p:sp>
        <p:nvSpPr>
          <p:cNvPr id="8" name="Highlight 4"/>
          <p:cNvSpPr/>
          <p:nvPr/>
        </p:nvSpPr>
        <p:spPr>
          <a:xfrm>
            <a:off x="6712250" y="3108317"/>
            <a:ext cx="237744" cy="237744"/>
          </a:xfrm>
          <a:prstGeom prst="roundRect">
            <a:avLst>
              <a:gd name="adj" fmla="val 19231"/>
            </a:avLst>
          </a:prstGeom>
          <a:ln w="31750">
            <a:solidFill>
              <a:srgbClr val="EA580C"/>
            </a:solidFill>
            <a:prstDash val="solid"/>
          </a:ln>
        </p:spPr>
      </p:sp>
      <p:sp>
        <p:nvSpPr>
          <p:cNvPr id="9" name="Callout number 1"/>
          <p:cNvSpPr/>
          <p:nvPr/>
        </p:nvSpPr>
        <p:spPr>
          <a:xfrm>
            <a:off x="3401693" y="1365278"/>
            <a:ext cx="310896" cy="310896"/>
          </a:xfrm>
          <a:prstGeom prst="ellipse">
            <a:avLst/>
          </a:prstGeom>
          <a:solidFill>
            <a:srgbClr val="1B2A8F"/>
          </a:solidFill>
          <a:ln w="25400">
            <a:solidFill>
              <a:srgbClr val="EA580C"/>
            </a:solidFill>
            <a:prstDash val="solid"/>
          </a:ln>
        </p:spPr>
      </p:sp>
      <p:sp>
        <p:nvSpPr>
          <p:cNvPr id="10" name="Text 7"/>
          <p:cNvSpPr txBox="1"/>
          <p:nvPr/>
        </p:nvSpPr>
        <p:spPr>
          <a:xfrm>
            <a:off x="3401693" y="136527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1" name="Callout number 2"/>
          <p:cNvSpPr/>
          <p:nvPr/>
        </p:nvSpPr>
        <p:spPr>
          <a:xfrm>
            <a:off x="6724921" y="1520119"/>
            <a:ext cx="310896" cy="310896"/>
          </a:xfrm>
          <a:prstGeom prst="ellipse">
            <a:avLst/>
          </a:prstGeom>
          <a:solidFill>
            <a:srgbClr val="1B2A8F"/>
          </a:solidFill>
          <a:ln w="25400">
            <a:solidFill>
              <a:srgbClr val="EA580C"/>
            </a:solidFill>
            <a:prstDash val="solid"/>
          </a:ln>
        </p:spPr>
      </p:sp>
      <p:sp>
        <p:nvSpPr>
          <p:cNvPr id="12" name="Text 9"/>
          <p:cNvSpPr txBox="1"/>
          <p:nvPr/>
        </p:nvSpPr>
        <p:spPr>
          <a:xfrm>
            <a:off x="6724921" y="152011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3" name="Callout number 3"/>
          <p:cNvSpPr/>
          <p:nvPr/>
        </p:nvSpPr>
        <p:spPr>
          <a:xfrm>
            <a:off x="4063160" y="2780276"/>
            <a:ext cx="310896" cy="310896"/>
          </a:xfrm>
          <a:prstGeom prst="ellipse">
            <a:avLst/>
          </a:prstGeom>
          <a:solidFill>
            <a:srgbClr val="1B2A8F"/>
          </a:solidFill>
          <a:ln w="25400">
            <a:solidFill>
              <a:srgbClr val="EA580C"/>
            </a:solidFill>
            <a:prstDash val="solid"/>
          </a:ln>
        </p:spPr>
      </p:sp>
      <p:sp>
        <p:nvSpPr>
          <p:cNvPr id="14" name="Text 11"/>
          <p:cNvSpPr txBox="1"/>
          <p:nvPr/>
        </p:nvSpPr>
        <p:spPr>
          <a:xfrm>
            <a:off x="4063160" y="27802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5" name="Callout number 4"/>
          <p:cNvSpPr/>
          <p:nvPr/>
        </p:nvSpPr>
        <p:spPr>
          <a:xfrm>
            <a:off x="6675674" y="2751701"/>
            <a:ext cx="310896" cy="310896"/>
          </a:xfrm>
          <a:prstGeom prst="ellipse">
            <a:avLst/>
          </a:prstGeom>
          <a:solidFill>
            <a:srgbClr val="1B2A8F"/>
          </a:solidFill>
          <a:ln w="25400">
            <a:solidFill>
              <a:srgbClr val="EA580C"/>
            </a:solidFill>
            <a:prstDash val="solid"/>
          </a:ln>
        </p:spPr>
      </p:sp>
      <p:sp>
        <p:nvSpPr>
          <p:cNvPr id="16" name="Text 13"/>
          <p:cNvSpPr txBox="1"/>
          <p:nvPr/>
        </p:nvSpPr>
        <p:spPr>
          <a:xfrm>
            <a:off x="6675674" y="275170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4</a:t>
            </a:r>
            <a:endParaRPr lang="en-US" sz="1200" dirty="0"/>
          </a:p>
        </p:txBody>
      </p:sp>
      <p:sp>
        <p:nvSpPr>
          <p:cNvPr id="17"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Projects</a:t>
            </a:r>
            <a:endParaRPr lang="en-US" sz="1600" dirty="0"/>
          </a:p>
        </p:txBody>
      </p:sp>
      <p:sp>
        <p:nvSpPr>
          <p:cNvPr id="18"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9" name="Text 16"/>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20" name="Legend 1"/>
          <p:cNvSpPr txBox="1"/>
          <p:nvPr/>
        </p:nvSpPr>
        <p:spPr>
          <a:xfrm>
            <a:off x="8348472" y="182880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Division filter</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Select your division to see only its projects.</a:t>
            </a:r>
            <a:endParaRPr lang="en-US" sz="1600" dirty="0"/>
          </a:p>
        </p:txBody>
      </p:sp>
      <p:sp>
        <p:nvSpPr>
          <p:cNvPr id="21" name="Callout number 2"/>
          <p:cNvSpPr/>
          <p:nvPr/>
        </p:nvSpPr>
        <p:spPr>
          <a:xfrm>
            <a:off x="7818120" y="2612898"/>
            <a:ext cx="365760" cy="365760"/>
          </a:xfrm>
          <a:prstGeom prst="ellipse">
            <a:avLst/>
          </a:prstGeom>
          <a:solidFill>
            <a:srgbClr val="1B2A8F"/>
          </a:solidFill>
          <a:ln w="25400">
            <a:solidFill>
              <a:srgbClr val="EA580C"/>
            </a:solidFill>
            <a:prstDash val="solid"/>
          </a:ln>
        </p:spPr>
      </p:sp>
      <p:sp>
        <p:nvSpPr>
          <p:cNvPr id="22" name="Text 19"/>
          <p:cNvSpPr txBox="1"/>
          <p:nvPr/>
        </p:nvSpPr>
        <p:spPr>
          <a:xfrm>
            <a:off x="7818120" y="261289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3" name="Legend 2"/>
          <p:cNvSpPr txBox="1"/>
          <p:nvPr/>
        </p:nvSpPr>
        <p:spPr>
          <a:xfrm>
            <a:off x="8348472" y="259461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New Project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Adds a project in your division.</a:t>
            </a:r>
            <a:endParaRPr lang="en-US" sz="1600" dirty="0"/>
          </a:p>
        </p:txBody>
      </p:sp>
      <p:sp>
        <p:nvSpPr>
          <p:cNvPr id="24" name="Callout number 3"/>
          <p:cNvSpPr/>
          <p:nvPr/>
        </p:nvSpPr>
        <p:spPr>
          <a:xfrm>
            <a:off x="7818120" y="3378708"/>
            <a:ext cx="365760" cy="365760"/>
          </a:xfrm>
          <a:prstGeom prst="ellipse">
            <a:avLst/>
          </a:prstGeom>
          <a:solidFill>
            <a:srgbClr val="1B2A8F"/>
          </a:solidFill>
          <a:ln w="25400">
            <a:solidFill>
              <a:srgbClr val="EA580C"/>
            </a:solidFill>
            <a:prstDash val="solid"/>
          </a:ln>
        </p:spPr>
      </p:sp>
      <p:sp>
        <p:nvSpPr>
          <p:cNvPr id="25" name="Text 22"/>
          <p:cNvSpPr txBox="1"/>
          <p:nvPr/>
        </p:nvSpPr>
        <p:spPr>
          <a:xfrm>
            <a:off x="7818120" y="33787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6" name="Legend 3"/>
          <p:cNvSpPr txBox="1"/>
          <p:nvPr/>
        </p:nvSpPr>
        <p:spPr>
          <a:xfrm>
            <a:off x="8348472" y="336042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Status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Ongoing, On Track, At Risk or Delayed.</a:t>
            </a:r>
            <a:endParaRPr lang="en-US" sz="1600" dirty="0"/>
          </a:p>
        </p:txBody>
      </p:sp>
      <p:sp>
        <p:nvSpPr>
          <p:cNvPr id="27" name="Callout number 4"/>
          <p:cNvSpPr/>
          <p:nvPr/>
        </p:nvSpPr>
        <p:spPr>
          <a:xfrm>
            <a:off x="7818120" y="4144518"/>
            <a:ext cx="365760" cy="365760"/>
          </a:xfrm>
          <a:prstGeom prst="ellipse">
            <a:avLst/>
          </a:prstGeom>
          <a:solidFill>
            <a:srgbClr val="1B2A8F"/>
          </a:solidFill>
          <a:ln w="25400">
            <a:solidFill>
              <a:srgbClr val="EA580C"/>
            </a:solidFill>
            <a:prstDash val="solid"/>
          </a:ln>
        </p:spPr>
      </p:sp>
      <p:sp>
        <p:nvSpPr>
          <p:cNvPr id="28" name="Text 25"/>
          <p:cNvSpPr txBox="1"/>
          <p:nvPr/>
        </p:nvSpPr>
        <p:spPr>
          <a:xfrm>
            <a:off x="7818120" y="414451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9" name="Legend 4"/>
          <p:cNvSpPr txBox="1"/>
          <p:nvPr/>
        </p:nvSpPr>
        <p:spPr>
          <a:xfrm>
            <a:off x="8348472" y="412623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Edit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Shown only on your division's projects.</a:t>
            </a:r>
            <a:endParaRPr lang="en-US" sz="1600" dirty="0"/>
          </a:p>
        </p:txBody>
      </p:sp>
      <p:sp>
        <p:nvSpPr>
          <p:cNvPr id="30" name="Shape 27"/>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31" name="Text 28"/>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 dash in Total Budget means no budget is set yet.</a:t>
            </a:r>
            <a:endParaRPr lang="en-US" sz="1400" dirty="0"/>
          </a:p>
        </p:txBody>
      </p:sp>
      <p:sp>
        <p:nvSpPr>
          <p:cNvPr id="32" name="Text 2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33" name="Text 3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Set division objectives</a:t>
            </a:r>
            <a:endParaRPr lang="en-US" sz="3400" dirty="0"/>
          </a:p>
        </p:txBody>
      </p:sp>
      <p:sp>
        <p:nvSpPr>
          <p:cNvPr id="3" name="p-objectives frame"/>
          <p:cNvSpPr/>
          <p:nvPr/>
        </p:nvSpPr>
        <p:spPr>
          <a:xfrm>
            <a:off x="612648" y="1298448"/>
            <a:ext cx="6912864" cy="2659118"/>
          </a:xfrm>
          <a:prstGeom prst="roundRect">
            <a:avLst>
              <a:gd name="adj" fmla="val 1032"/>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p-objectives" descr="Division Objectives list with New Objective">    </p:cNvPr>
          <p:cNvPicPr>
            <a:picLocks noChangeAspect="1"/>
          </p:cNvPicPr>
          <p:nvPr/>
        </p:nvPicPr>
        <p:blipFill>
          <a:blip r:embed="rId1"/>
          <a:stretch>
            <a:fillRect/>
          </a:stretch>
        </p:blipFill>
        <p:spPr>
          <a:xfrm>
            <a:off x="685800" y="1371600"/>
            <a:ext cx="6766560" cy="2512814"/>
          </a:xfrm>
          <a:prstGeom prst="rect">
            <a:avLst/>
          </a:prstGeom>
        </p:spPr>
      </p:pic>
      <p:sp>
        <p:nvSpPr>
          <p:cNvPr id="5" name="Highlight 1"/>
          <p:cNvSpPr/>
          <p:nvPr/>
        </p:nvSpPr>
        <p:spPr>
          <a:xfrm>
            <a:off x="6379262" y="1876735"/>
            <a:ext cx="917650" cy="283464"/>
          </a:xfrm>
          <a:prstGeom prst="roundRect">
            <a:avLst>
              <a:gd name="adj" fmla="val 16129"/>
            </a:avLst>
          </a:prstGeom>
          <a:ln w="31750">
            <a:solidFill>
              <a:srgbClr val="EA580C"/>
            </a:solidFill>
            <a:prstDash val="solid"/>
          </a:ln>
        </p:spPr>
      </p:sp>
      <p:sp>
        <p:nvSpPr>
          <p:cNvPr id="6" name="Highlight 2"/>
          <p:cNvSpPr/>
          <p:nvPr/>
        </p:nvSpPr>
        <p:spPr>
          <a:xfrm>
            <a:off x="846963" y="3505510"/>
            <a:ext cx="6444234" cy="332042"/>
          </a:xfrm>
          <a:prstGeom prst="roundRect">
            <a:avLst>
              <a:gd name="adj" fmla="val 13769"/>
            </a:avLst>
          </a:prstGeom>
          <a:ln w="31750">
            <a:solidFill>
              <a:srgbClr val="EA580C"/>
            </a:solidFill>
            <a:prstDash val="solid"/>
          </a:ln>
        </p:spPr>
      </p:sp>
      <p:sp>
        <p:nvSpPr>
          <p:cNvPr id="7" name="Callout number 1"/>
          <p:cNvSpPr/>
          <p:nvPr/>
        </p:nvSpPr>
        <p:spPr>
          <a:xfrm>
            <a:off x="6682639" y="1520119"/>
            <a:ext cx="310896" cy="310896"/>
          </a:xfrm>
          <a:prstGeom prst="ellipse">
            <a:avLst/>
          </a:prstGeom>
          <a:solidFill>
            <a:srgbClr val="1B2A8F"/>
          </a:solidFill>
          <a:ln w="25400">
            <a:solidFill>
              <a:srgbClr val="EA580C"/>
            </a:solidFill>
            <a:prstDash val="solid"/>
          </a:ln>
        </p:spPr>
      </p:sp>
      <p:sp>
        <p:nvSpPr>
          <p:cNvPr id="8" name="Text 5"/>
          <p:cNvSpPr txBox="1"/>
          <p:nvPr/>
        </p:nvSpPr>
        <p:spPr>
          <a:xfrm>
            <a:off x="6682639" y="152011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490347" y="3516082"/>
            <a:ext cx="310896" cy="310896"/>
          </a:xfrm>
          <a:prstGeom prst="ellipse">
            <a:avLst/>
          </a:prstGeom>
          <a:solidFill>
            <a:srgbClr val="1B2A8F"/>
          </a:solidFill>
          <a:ln w="25400">
            <a:solidFill>
              <a:srgbClr val="EA580C"/>
            </a:solidFill>
            <a:prstDash val="solid"/>
          </a:ln>
        </p:spPr>
      </p:sp>
      <p:sp>
        <p:nvSpPr>
          <p:cNvPr id="10" name="Text 7"/>
          <p:cNvSpPr txBox="1"/>
          <p:nvPr/>
        </p:nvSpPr>
        <p:spPr>
          <a:xfrm>
            <a:off x="490347" y="351608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Division Objectives</a:t>
            </a:r>
            <a:endParaRPr lang="en-US" sz="1600" dirty="0"/>
          </a:p>
        </p:txBody>
      </p:sp>
      <p:sp>
        <p:nvSpPr>
          <p:cNvPr id="12"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3" name="Text 10"/>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4"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New Objective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Code, title, year and owner for your division.</a:t>
            </a:r>
            <a:endParaRPr lang="en-US" sz="1600" dirty="0"/>
          </a:p>
        </p:txBody>
      </p:sp>
      <p:sp>
        <p:nvSpPr>
          <p:cNvPr id="15"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7"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Your objective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CID 1.1 is in your division, so you can edit it.</a:t>
            </a:r>
            <a:endParaRPr lang="en-US" sz="1600" dirty="0"/>
          </a:p>
        </p:txBody>
      </p:sp>
      <p:sp>
        <p:nvSpPr>
          <p:cNvPr id="18" name="Shape 15"/>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9" name="Text 16"/>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organizational goals are set by an administrator. Link your objectives to them.</a:t>
            </a:r>
            <a:endParaRPr lang="en-US" sz="1400" dirty="0"/>
          </a:p>
        </p:txBody>
      </p:sp>
      <p:sp>
        <p:nvSpPr>
          <p:cNvPr id="20"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1" name="Text 18"/>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Follow activities (read only)</a:t>
            </a:r>
            <a:endParaRPr lang="en-US" sz="3400" dirty="0"/>
          </a:p>
        </p:txBody>
      </p:sp>
      <p:sp>
        <p:nvSpPr>
          <p:cNvPr id="3" name="p-activities frame"/>
          <p:cNvSpPr/>
          <p:nvPr/>
        </p:nvSpPr>
        <p:spPr>
          <a:xfrm>
            <a:off x="619496" y="1298448"/>
            <a:ext cx="6899168" cy="4901184"/>
          </a:xfrm>
          <a:prstGeom prst="roundRect">
            <a:avLst>
              <a:gd name="adj" fmla="val 56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p-activities" descr="Activities list as seen by a Planning Admin">    </p:cNvPr>
          <p:cNvPicPr>
            <a:picLocks noChangeAspect="1"/>
          </p:cNvPicPr>
          <p:nvPr/>
        </p:nvPicPr>
        <p:blipFill>
          <a:blip r:embed="rId1"/>
          <a:stretch>
            <a:fillRect/>
          </a:stretch>
        </p:blipFill>
        <p:spPr>
          <a:xfrm>
            <a:off x="692648" y="1371600"/>
            <a:ext cx="6752864" cy="4754880"/>
          </a:xfrm>
          <a:prstGeom prst="rect">
            <a:avLst/>
          </a:prstGeom>
        </p:spPr>
      </p:pic>
      <p:sp>
        <p:nvSpPr>
          <p:cNvPr id="5" name="Highlight 1"/>
          <p:cNvSpPr/>
          <p:nvPr/>
        </p:nvSpPr>
        <p:spPr>
          <a:xfrm>
            <a:off x="4567879" y="5477374"/>
            <a:ext cx="619771" cy="180340"/>
          </a:xfrm>
          <a:prstGeom prst="roundRect">
            <a:avLst>
              <a:gd name="adj" fmla="val 25352"/>
            </a:avLst>
          </a:prstGeom>
          <a:ln w="31750">
            <a:solidFill>
              <a:srgbClr val="EA580C"/>
            </a:solidFill>
            <a:prstDash val="solid"/>
          </a:ln>
        </p:spPr>
      </p:sp>
      <p:sp>
        <p:nvSpPr>
          <p:cNvPr id="6" name="Highlight 2"/>
          <p:cNvSpPr/>
          <p:nvPr/>
        </p:nvSpPr>
        <p:spPr>
          <a:xfrm>
            <a:off x="6978916" y="5437450"/>
            <a:ext cx="260188" cy="260188"/>
          </a:xfrm>
          <a:prstGeom prst="roundRect">
            <a:avLst>
              <a:gd name="adj" fmla="val 17572"/>
            </a:avLst>
          </a:prstGeom>
          <a:ln w="31750">
            <a:solidFill>
              <a:srgbClr val="EA580C"/>
            </a:solidFill>
            <a:prstDash val="solid"/>
          </a:ln>
        </p:spPr>
      </p:sp>
      <p:sp>
        <p:nvSpPr>
          <p:cNvPr id="7" name="Callout number 1"/>
          <p:cNvSpPr/>
          <p:nvPr/>
        </p:nvSpPr>
        <p:spPr>
          <a:xfrm>
            <a:off x="4722316" y="5120758"/>
            <a:ext cx="310896" cy="310896"/>
          </a:xfrm>
          <a:prstGeom prst="ellipse">
            <a:avLst/>
          </a:prstGeom>
          <a:solidFill>
            <a:srgbClr val="1B2A8F"/>
          </a:solidFill>
          <a:ln w="25400">
            <a:solidFill>
              <a:srgbClr val="EA580C"/>
            </a:solidFill>
            <a:prstDash val="solid"/>
          </a:ln>
        </p:spPr>
      </p:sp>
      <p:sp>
        <p:nvSpPr>
          <p:cNvPr id="8" name="Text 5"/>
          <p:cNvSpPr txBox="1"/>
          <p:nvPr/>
        </p:nvSpPr>
        <p:spPr>
          <a:xfrm>
            <a:off x="4722316" y="512075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6953561" y="5080834"/>
            <a:ext cx="310896" cy="310896"/>
          </a:xfrm>
          <a:prstGeom prst="ellipse">
            <a:avLst/>
          </a:prstGeom>
          <a:solidFill>
            <a:srgbClr val="1B2A8F"/>
          </a:solidFill>
          <a:ln w="25400">
            <a:solidFill>
              <a:srgbClr val="EA580C"/>
            </a:solidFill>
            <a:prstDash val="solid"/>
          </a:ln>
        </p:spPr>
      </p:sp>
      <p:sp>
        <p:nvSpPr>
          <p:cNvPr id="10" name="Text 7"/>
          <p:cNvSpPr txBox="1"/>
          <p:nvPr/>
        </p:nvSpPr>
        <p:spPr>
          <a:xfrm>
            <a:off x="6953561" y="508083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Activities</a:t>
            </a:r>
            <a:endParaRPr lang="en-US" sz="1600" dirty="0"/>
          </a:p>
        </p:txBody>
      </p:sp>
      <p:sp>
        <p:nvSpPr>
          <p:cNvPr id="12"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3" name="Text 10"/>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4"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Status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Where each activity is in the workflow.</a:t>
            </a:r>
            <a:endParaRPr lang="en-US" sz="1600" dirty="0"/>
          </a:p>
        </p:txBody>
      </p:sp>
      <p:sp>
        <p:nvSpPr>
          <p:cNvPr id="15"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7"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More actions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View details or download the activity report.</a:t>
            </a:r>
            <a:endParaRPr lang="en-US" sz="1600" dirty="0"/>
          </a:p>
        </p:txBody>
      </p:sp>
      <p:sp>
        <p:nvSpPr>
          <p:cNvPr id="18" name="Shape 15"/>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9" name="Text 16"/>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Planning Admins read activities. Ask the Implementer for changes.</a:t>
            </a:r>
            <a:endParaRPr lang="en-US" sz="1400" dirty="0"/>
          </a:p>
        </p:txBody>
      </p:sp>
      <p:sp>
        <p:nvSpPr>
          <p:cNvPr id="20"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1" name="Text 18"/>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Pull a report</a:t>
            </a:r>
            <a:endParaRPr lang="en-US" sz="3400" dirty="0"/>
          </a:p>
        </p:txBody>
      </p:sp>
      <p:sp>
        <p:nvSpPr>
          <p:cNvPr id="3" name="p-reports frame"/>
          <p:cNvSpPr/>
          <p:nvPr/>
        </p:nvSpPr>
        <p:spPr>
          <a:xfrm>
            <a:off x="612648" y="1298448"/>
            <a:ext cx="6912864" cy="4107871"/>
          </a:xfrm>
          <a:prstGeom prst="roundRect">
            <a:avLst>
              <a:gd name="adj" fmla="val 668"/>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p-reports" descr="Report Center with the PIRPA report">    </p:cNvPr>
          <p:cNvPicPr>
            <a:picLocks noChangeAspect="1"/>
          </p:cNvPicPr>
          <p:nvPr/>
        </p:nvPicPr>
        <p:blipFill>
          <a:blip r:embed="rId1"/>
          <a:stretch>
            <a:fillRect/>
          </a:stretch>
        </p:blipFill>
        <p:spPr>
          <a:xfrm>
            <a:off x="685800" y="1371600"/>
            <a:ext cx="6766560" cy="3961567"/>
          </a:xfrm>
          <a:prstGeom prst="rect">
            <a:avLst/>
          </a:prstGeom>
        </p:spPr>
      </p:pic>
      <p:sp>
        <p:nvSpPr>
          <p:cNvPr id="5" name="Highlight 1"/>
          <p:cNvSpPr/>
          <p:nvPr/>
        </p:nvSpPr>
        <p:spPr>
          <a:xfrm>
            <a:off x="1121283" y="3848410"/>
            <a:ext cx="1719804" cy="283464"/>
          </a:xfrm>
          <a:prstGeom prst="roundRect">
            <a:avLst>
              <a:gd name="adj" fmla="val 16129"/>
            </a:avLst>
          </a:prstGeom>
          <a:ln w="31750">
            <a:solidFill>
              <a:srgbClr val="EA580C"/>
            </a:solidFill>
            <a:prstDash val="solid"/>
          </a:ln>
        </p:spPr>
      </p:sp>
      <p:sp>
        <p:nvSpPr>
          <p:cNvPr id="6" name="Callout number 1"/>
          <p:cNvSpPr/>
          <p:nvPr/>
        </p:nvSpPr>
        <p:spPr>
          <a:xfrm>
            <a:off x="1825737" y="3491794"/>
            <a:ext cx="310896" cy="310896"/>
          </a:xfrm>
          <a:prstGeom prst="ellipse">
            <a:avLst/>
          </a:prstGeom>
          <a:solidFill>
            <a:srgbClr val="1B2A8F"/>
          </a:solidFill>
          <a:ln w="25400">
            <a:solidFill>
              <a:srgbClr val="EA580C"/>
            </a:solidFill>
            <a:prstDash val="solid"/>
          </a:ln>
        </p:spPr>
      </p:sp>
      <p:sp>
        <p:nvSpPr>
          <p:cNvPr id="7" name="Text 4"/>
          <p:cNvSpPr txBox="1"/>
          <p:nvPr/>
        </p:nvSpPr>
        <p:spPr>
          <a:xfrm>
            <a:off x="1825737" y="349179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8"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Report Center</a:t>
            </a:r>
            <a:endParaRPr lang="en-US" sz="1600" dirty="0"/>
          </a:p>
        </p:txBody>
      </p:sp>
      <p:sp>
        <p:nvSpPr>
          <p:cNvPr id="9"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0" name="Text 7"/>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1"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View Report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Opens the PIRPA report.</a:t>
            </a:r>
            <a:endParaRPr lang="en-US" sz="1600" dirty="0"/>
          </a:p>
        </p:txBody>
      </p:sp>
      <p:sp>
        <p:nvSpPr>
          <p:cNvPr id="12" name="Shape 9"/>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3" name="Text 10"/>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reports follow the quarter and division filters at the top of the page.</a:t>
            </a:r>
            <a:endParaRPr lang="en-US" sz="1400" dirty="0"/>
          </a:p>
        </p:txBody>
      </p:sp>
      <p:sp>
        <p:nvSpPr>
          <p:cNvPr id="14"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15" name="Text 1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Fixing mistakes</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Typo in a project</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Click Edit (the pencil), correct it and save.</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Record in the wrong division</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You can only set your own division. Ask an administrator to move it.</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An activity needs a change</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Ask the Implementer. QA Assessors change review fields only.</a:t>
            </a:r>
            <a:endParaRPr lang="en-US" sz="1400" dirty="0"/>
          </a:p>
        </p:txBody>
      </p:sp>
      <p:sp>
        <p:nvSpPr>
          <p:cNvPr id="18" name="Shape 16"/>
          <p:cNvSpPr/>
          <p:nvPr/>
        </p:nvSpPr>
        <p:spPr>
          <a:xfrm>
            <a:off x="548640" y="4800600"/>
            <a:ext cx="11064240" cy="822960"/>
          </a:xfrm>
          <a:prstGeom prst="roundRect">
            <a:avLst>
              <a:gd name="adj" fmla="val 8889"/>
            </a:avLst>
          </a:prstGeom>
          <a:solidFill>
            <a:srgbClr val="EEF2FF"/>
          </a:solidFill>
          <a:ln w="12700">
            <a:solidFill>
              <a:srgbClr val="EEF2FF"/>
            </a:solidFill>
            <a:prstDash val="solid"/>
          </a:ln>
        </p:spPr>
      </p:sp>
      <p:sp>
        <p:nvSpPr>
          <p:cNvPr id="19" name="Text 17"/>
          <p:cNvSpPr txBox="1"/>
          <p:nvPr/>
        </p:nvSpPr>
        <p:spPr>
          <a:xfrm>
            <a:off x="749808" y="4892040"/>
            <a:ext cx="10661904" cy="64008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Rules: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change records in your own division only. Organizational goals belong to administrators.</a:t>
            </a:r>
            <a:endParaRPr lang="en-US" sz="1400" dirty="0"/>
          </a:p>
        </p:txBody>
      </p:sp>
      <p:sp>
        <p:nvSpPr>
          <p:cNvPr id="20"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1" name="Text 19"/>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Common problems and fixes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023360"/>
                <a:gridCol w="7040880"/>
              </a:tblGrid>
              <a:tr h="566928">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Problem</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What to do</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I cannot save a project from another division</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Only your division's records can change. Ask that division's Planning Admin.</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I see no projects</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Check the division filter at the top. Clear it to see all.</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I cannot edit an activity</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Planning Admins read activities. Ask the Implementer.</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I cannot edit an organizational goal</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Only administrators set goals.</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DQAMP will not load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The DQAMP window on the host computer must stay open.</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4"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5"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Practice: update a project</a:t>
            </a:r>
            <a:endParaRPr lang="en-US" sz="3400" dirty="0"/>
          </a:p>
        </p:txBody>
      </p:sp>
      <p:sp>
        <p:nvSpPr>
          <p:cNvPr id="3" name="Shape 1"/>
          <p:cNvSpPr/>
          <p:nvPr/>
        </p:nvSpPr>
        <p:spPr>
          <a:xfrm>
            <a:off x="548640" y="1325880"/>
            <a:ext cx="4206240" cy="4480560"/>
          </a:xfrm>
          <a:prstGeom prst="roundRect">
            <a:avLst>
              <a:gd name="adj" fmla="val 1304"/>
            </a:avLst>
          </a:prstGeom>
          <a:solidFill>
            <a:srgbClr val="1B2A8F"/>
          </a:solidFill>
          <a:ln w="12700">
            <a:solidFill>
              <a:srgbClr val="1B2A8F"/>
            </a:solidFill>
            <a:prstDash val="solid"/>
          </a:ln>
        </p:spPr>
      </p:sp>
      <p:sp>
        <p:nvSpPr>
          <p:cNvPr id="4" name="Text 2"/>
          <p:cNvSpPr txBox="1"/>
          <p:nvPr/>
        </p:nvSpPr>
        <p:spPr>
          <a:xfrm>
            <a:off x="822960" y="1554480"/>
            <a:ext cx="3657600" cy="411480"/>
          </a:xfrm>
          <a:prstGeom prst="rect">
            <a:avLst/>
          </a:prstGeom>
          <a:noFill/>
          <a:ln/>
        </p:spPr>
        <p:txBody>
          <a:bodyPr wrap="square" lIns="0" tIns="0" rIns="0" bIns="0" rtlCol="0" anchor="ctr"/>
          <a:lstStyle/>
          <a:p>
            <a:pPr indent="0" marL="0">
              <a:buNone/>
            </a:pPr>
            <a:r>
              <a:rPr lang="en-US" sz="1800" b="1" dirty="0">
                <a:solidFill>
                  <a:srgbClr val="F2B705"/>
                </a:solidFill>
                <a:latin typeface="Palatino Linotype" pitchFamily="34" charset="0"/>
                <a:ea typeface="Palatino Linotype" pitchFamily="34" charset="-122"/>
                <a:cs typeface="Palatino Linotype" pitchFamily="34" charset="-120"/>
              </a:rPr>
              <a:t>Scenario (fictional)</a:t>
            </a:r>
            <a:endParaRPr lang="en-US" sz="1800" dirty="0"/>
          </a:p>
        </p:txBody>
      </p:sp>
      <p:sp>
        <p:nvSpPr>
          <p:cNvPr id="5" name="Text 3"/>
          <p:cNvSpPr txBox="1"/>
          <p:nvPr/>
        </p:nvSpPr>
        <p:spPr>
          <a:xfrm>
            <a:off x="822960" y="2057400"/>
            <a:ext cx="3657600" cy="23774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CID's Numeracy Boost for Grade 4 project is behind schedule. Record that and check the related activity.</a:t>
            </a:r>
            <a:endParaRPr lang="en-US" sz="1500" dirty="0"/>
          </a:p>
          <a:p>
            <a:pPr indent="0" marL="0">
              <a:buNone/>
            </a:pP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Use the practice account your facilitator gives you.</a:t>
            </a:r>
            <a:endParaRPr lang="en-US" sz="1500" dirty="0"/>
          </a:p>
        </p:txBody>
      </p:sp>
      <p:sp>
        <p:nvSpPr>
          <p:cNvPr id="6" name="Shape 4"/>
          <p:cNvSpPr/>
          <p:nvPr/>
        </p:nvSpPr>
        <p:spPr>
          <a:xfrm>
            <a:off x="777240" y="4800600"/>
            <a:ext cx="3749040" cy="777240"/>
          </a:xfrm>
          <a:prstGeom prst="roundRect">
            <a:avLst>
              <a:gd name="adj" fmla="val 7059"/>
            </a:avLst>
          </a:prstGeom>
          <a:solidFill>
            <a:srgbClr val="15338A"/>
          </a:solidFill>
          <a:ln w="12700">
            <a:solidFill>
              <a:srgbClr val="15338A"/>
            </a:solidFill>
            <a:prstDash val="solid"/>
          </a:ln>
        </p:spPr>
      </p:sp>
      <p:sp>
        <p:nvSpPr>
          <p:cNvPr id="7" name="Text 5"/>
          <p:cNvSpPr txBox="1"/>
          <p:nvPr/>
        </p:nvSpPr>
        <p:spPr>
          <a:xfrm>
            <a:off x="960120" y="4846320"/>
            <a:ext cx="3474720" cy="68580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About 10 minutes</a:t>
            </a:r>
            <a:endParaRPr lang="en-US" sz="1500" dirty="0"/>
          </a:p>
          <a:p>
            <a:pPr indent="0" marL="0">
              <a:buNone/>
            </a:pPr>
            <a:r>
              <a:rPr lang="en-US" sz="1200" dirty="0">
                <a:solidFill>
                  <a:srgbClr val="CADCFC"/>
                </a:solidFill>
                <a:latin typeface="Palatino Linotype" pitchFamily="34" charset="0"/>
                <a:ea typeface="Palatino Linotype" pitchFamily="34" charset="-122"/>
                <a:cs typeface="Palatino Linotype" pitchFamily="34" charset="-120"/>
              </a:rPr>
              <a:t>Work in pairs if computers are limited</a:t>
            </a:r>
            <a:endParaRPr lang="en-US" sz="1500" dirty="0"/>
          </a:p>
        </p:txBody>
      </p:sp>
      <p:sp>
        <p:nvSpPr>
          <p:cNvPr id="8" name="Callout number 1"/>
          <p:cNvSpPr/>
          <p:nvPr/>
        </p:nvSpPr>
        <p:spPr>
          <a:xfrm>
            <a:off x="5166360" y="1344168"/>
            <a:ext cx="365760" cy="365760"/>
          </a:xfrm>
          <a:prstGeom prst="ellipse">
            <a:avLst/>
          </a:prstGeom>
          <a:solidFill>
            <a:srgbClr val="1B2A8F"/>
          </a:solidFill>
          <a:ln w="25400">
            <a:solidFill>
              <a:srgbClr val="EA580C"/>
            </a:solidFill>
            <a:prstDash val="solid"/>
          </a:ln>
        </p:spPr>
      </p:sp>
      <p:sp>
        <p:nvSpPr>
          <p:cNvPr id="9" name="Text 7"/>
          <p:cNvSpPr txBox="1"/>
          <p:nvPr/>
        </p:nvSpPr>
        <p:spPr>
          <a:xfrm>
            <a:off x="51663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Legend 1"/>
          <p:cNvSpPr txBox="1"/>
          <p:nvPr/>
        </p:nvSpPr>
        <p:spPr>
          <a:xfrm>
            <a:off x="5696712" y="132588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Filter to CID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Use the division filter at the top.</a:t>
            </a:r>
            <a:endParaRPr lang="en-US" sz="1600" dirty="0"/>
          </a:p>
        </p:txBody>
      </p:sp>
      <p:sp>
        <p:nvSpPr>
          <p:cNvPr id="11" name="Callout number 2"/>
          <p:cNvSpPr/>
          <p:nvPr/>
        </p:nvSpPr>
        <p:spPr>
          <a:xfrm>
            <a:off x="5166360" y="2075688"/>
            <a:ext cx="365760" cy="365760"/>
          </a:xfrm>
          <a:prstGeom prst="ellipse">
            <a:avLst/>
          </a:prstGeom>
          <a:solidFill>
            <a:srgbClr val="1B2A8F"/>
          </a:solidFill>
          <a:ln w="25400">
            <a:solidFill>
              <a:srgbClr val="EA580C"/>
            </a:solidFill>
            <a:prstDash val="solid"/>
          </a:ln>
        </p:spPr>
      </p:sp>
      <p:sp>
        <p:nvSpPr>
          <p:cNvPr id="12" name="Text 10"/>
          <p:cNvSpPr txBox="1"/>
          <p:nvPr/>
        </p:nvSpPr>
        <p:spPr>
          <a:xfrm>
            <a:off x="5166360" y="20756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Legend 2"/>
          <p:cNvSpPr txBox="1"/>
          <p:nvPr/>
        </p:nvSpPr>
        <p:spPr>
          <a:xfrm>
            <a:off x="5696712" y="205740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Edit CID-02</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Set the status to At Risk and save.</a:t>
            </a:r>
            <a:endParaRPr lang="en-US" sz="1600" dirty="0"/>
          </a:p>
        </p:txBody>
      </p:sp>
      <p:sp>
        <p:nvSpPr>
          <p:cNvPr id="14" name="Callout number 3"/>
          <p:cNvSpPr/>
          <p:nvPr/>
        </p:nvSpPr>
        <p:spPr>
          <a:xfrm>
            <a:off x="5166360" y="2807208"/>
            <a:ext cx="365760" cy="365760"/>
          </a:xfrm>
          <a:prstGeom prst="ellipse">
            <a:avLst/>
          </a:prstGeom>
          <a:solidFill>
            <a:srgbClr val="1B2A8F"/>
          </a:solidFill>
          <a:ln w="25400">
            <a:solidFill>
              <a:srgbClr val="EA580C"/>
            </a:solidFill>
            <a:prstDash val="solid"/>
          </a:ln>
        </p:spPr>
      </p:sp>
      <p:sp>
        <p:nvSpPr>
          <p:cNvPr id="15" name="Text 13"/>
          <p:cNvSpPr txBox="1"/>
          <p:nvPr/>
        </p:nvSpPr>
        <p:spPr>
          <a:xfrm>
            <a:off x="5166360" y="2807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Legend 3"/>
          <p:cNvSpPr txBox="1"/>
          <p:nvPr/>
        </p:nvSpPr>
        <p:spPr>
          <a:xfrm>
            <a:off x="5696712" y="278892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Add an output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Outputs → New Output, linked to CID-02.</a:t>
            </a:r>
            <a:endParaRPr lang="en-US" sz="1600" dirty="0"/>
          </a:p>
        </p:txBody>
      </p:sp>
      <p:sp>
        <p:nvSpPr>
          <p:cNvPr id="17" name="Callout number 4"/>
          <p:cNvSpPr/>
          <p:nvPr/>
        </p:nvSpPr>
        <p:spPr>
          <a:xfrm>
            <a:off x="5166360" y="3538728"/>
            <a:ext cx="365760" cy="365760"/>
          </a:xfrm>
          <a:prstGeom prst="ellipse">
            <a:avLst/>
          </a:prstGeom>
          <a:solidFill>
            <a:srgbClr val="1B2A8F"/>
          </a:solidFill>
          <a:ln w="25400">
            <a:solidFill>
              <a:srgbClr val="EA580C"/>
            </a:solidFill>
            <a:prstDash val="solid"/>
          </a:ln>
        </p:spPr>
      </p:sp>
      <p:sp>
        <p:nvSpPr>
          <p:cNvPr id="18" name="Text 16"/>
          <p:cNvSpPr txBox="1"/>
          <p:nvPr/>
        </p:nvSpPr>
        <p:spPr>
          <a:xfrm>
            <a:off x="5166360" y="35387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Legend 4"/>
          <p:cNvSpPr txBox="1"/>
          <p:nvPr/>
        </p:nvSpPr>
        <p:spPr>
          <a:xfrm>
            <a:off x="5696712" y="352044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Check the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Grade 4 Numeracy Benchmark Testing → View details.</a:t>
            </a:r>
            <a:endParaRPr lang="en-US" sz="1600" dirty="0"/>
          </a:p>
        </p:txBody>
      </p:sp>
      <p:sp>
        <p:nvSpPr>
          <p:cNvPr id="20" name="Callout number 5"/>
          <p:cNvSpPr/>
          <p:nvPr/>
        </p:nvSpPr>
        <p:spPr>
          <a:xfrm>
            <a:off x="5166360" y="4270248"/>
            <a:ext cx="365760" cy="365760"/>
          </a:xfrm>
          <a:prstGeom prst="ellipse">
            <a:avLst/>
          </a:prstGeom>
          <a:solidFill>
            <a:srgbClr val="1B2A8F"/>
          </a:solidFill>
          <a:ln w="25400">
            <a:solidFill>
              <a:srgbClr val="EA580C"/>
            </a:solidFill>
            <a:prstDash val="solid"/>
          </a:ln>
        </p:spPr>
      </p:sp>
      <p:sp>
        <p:nvSpPr>
          <p:cNvPr id="21" name="Text 19"/>
          <p:cNvSpPr txBox="1"/>
          <p:nvPr/>
        </p:nvSpPr>
        <p:spPr>
          <a:xfrm>
            <a:off x="5166360" y="4270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2" name="Legend 5"/>
          <p:cNvSpPr txBox="1"/>
          <p:nvPr/>
        </p:nvSpPr>
        <p:spPr>
          <a:xfrm>
            <a:off x="5696712" y="425196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Pull the PIRPA report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Report Center → View Report.</a:t>
            </a:r>
            <a:endParaRPr lang="en-US" sz="1600" dirty="0"/>
          </a:p>
        </p:txBody>
      </p:sp>
      <p:sp>
        <p:nvSpPr>
          <p:cNvPr id="23" name="Shape 21"/>
          <p:cNvSpPr/>
          <p:nvPr/>
        </p:nvSpPr>
        <p:spPr>
          <a:xfrm>
            <a:off x="5166360" y="5074920"/>
            <a:ext cx="6446520" cy="731520"/>
          </a:xfrm>
          <a:prstGeom prst="roundRect">
            <a:avLst>
              <a:gd name="adj" fmla="val 10000"/>
            </a:avLst>
          </a:prstGeom>
          <a:solidFill>
            <a:srgbClr val="EEF2FF"/>
          </a:solidFill>
          <a:ln w="12700">
            <a:solidFill>
              <a:srgbClr val="EEF2FF"/>
            </a:solidFill>
            <a:prstDash val="solid"/>
          </a:ln>
        </p:spPr>
      </p:sp>
      <p:sp>
        <p:nvSpPr>
          <p:cNvPr id="24" name="Text 22"/>
          <p:cNvSpPr txBox="1"/>
          <p:nvPr/>
        </p:nvSpPr>
        <p:spPr>
          <a:xfrm>
            <a:off x="5367528" y="5166360"/>
            <a:ext cx="6044184" cy="54864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Done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CID-02 shows At Risk and the new output appears under Outputs.</a:t>
            </a:r>
            <a:endParaRPr lang="en-US" sz="1400" dirty="0"/>
          </a:p>
        </p:txBody>
      </p:sp>
      <p:sp>
        <p:nvSpPr>
          <p:cNvPr id="25"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6"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Where to get help</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administrator</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Accounts, passwords, roles, divisions, and anything DQAMP will not let you change.</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This guide</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Keep the checklist on the last slide beside you. Print it if that helps.</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DQAMP support contact</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Name: ____________________</a:t>
            </a:r>
            <a:endParaRPr lang="en-US" sz="14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Contact: __________________</a:t>
            </a:r>
            <a:endParaRPr lang="en-US" sz="14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19" name="Text 17"/>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Quick-start checklist</a:t>
            </a:r>
            <a:endParaRPr lang="en-US" sz="3400" dirty="0"/>
          </a:p>
        </p:txBody>
      </p:sp>
      <p:sp>
        <p:nvSpPr>
          <p:cNvPr id="3" name="Text 1"/>
          <p:cNvSpPr txBox="1"/>
          <p:nvPr/>
        </p:nvSpPr>
        <p:spPr>
          <a:xfrm>
            <a:off x="54864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Before you start</a:t>
            </a:r>
            <a:endParaRPr lang="en-US" sz="1700" dirty="0"/>
          </a:p>
        </p:txBody>
      </p:sp>
      <p:sp>
        <p:nvSpPr>
          <p:cNvPr id="4" name="Shape 2"/>
          <p:cNvSpPr/>
          <p:nvPr/>
        </p:nvSpPr>
        <p:spPr>
          <a:xfrm>
            <a:off x="548640" y="1828800"/>
            <a:ext cx="201168" cy="201168"/>
          </a:xfrm>
          <a:prstGeom prst="rect">
            <a:avLst/>
          </a:prstGeom>
          <a:solidFill>
            <a:srgbClr val="FFFFFF"/>
          </a:solidFill>
          <a:ln w="12700">
            <a:solidFill>
              <a:srgbClr val="536379"/>
            </a:solidFill>
            <a:prstDash val="solid"/>
          </a:ln>
        </p:spPr>
      </p:sp>
      <p:sp>
        <p:nvSpPr>
          <p:cNvPr id="5" name="Text 3"/>
          <p:cNvSpPr txBox="1"/>
          <p:nvPr/>
        </p:nvSpPr>
        <p:spPr>
          <a:xfrm>
            <a:off x="89611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can open DQAMP at http://127.0.0.1:3002</a:t>
            </a:r>
            <a:endParaRPr lang="en-US" sz="1350" dirty="0"/>
          </a:p>
        </p:txBody>
      </p:sp>
      <p:sp>
        <p:nvSpPr>
          <p:cNvPr id="6" name="Shape 4"/>
          <p:cNvSpPr/>
          <p:nvPr/>
        </p:nvSpPr>
        <p:spPr>
          <a:xfrm>
            <a:off x="548640" y="2331720"/>
            <a:ext cx="201168" cy="201168"/>
          </a:xfrm>
          <a:prstGeom prst="rect">
            <a:avLst/>
          </a:prstGeom>
          <a:solidFill>
            <a:srgbClr val="FFFFFF"/>
          </a:solidFill>
          <a:ln w="12700">
            <a:solidFill>
              <a:srgbClr val="536379"/>
            </a:solidFill>
            <a:prstDash val="solid"/>
          </a:ln>
        </p:spPr>
      </p:sp>
      <p:sp>
        <p:nvSpPr>
          <p:cNvPr id="7" name="Text 5"/>
          <p:cNvSpPr txBox="1"/>
          <p:nvPr/>
        </p:nvSpPr>
        <p:spPr>
          <a:xfrm>
            <a:off x="89611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My division is set (ask your administrator)</a:t>
            </a:r>
            <a:endParaRPr lang="en-US" sz="1350" dirty="0"/>
          </a:p>
        </p:txBody>
      </p:sp>
      <p:sp>
        <p:nvSpPr>
          <p:cNvPr id="8" name="Text 6"/>
          <p:cNvSpPr txBox="1"/>
          <p:nvPr/>
        </p:nvSpPr>
        <p:spPr>
          <a:xfrm>
            <a:off x="548640" y="301752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When something is wrong</a:t>
            </a:r>
            <a:endParaRPr lang="en-US" sz="1700" dirty="0"/>
          </a:p>
        </p:txBody>
      </p:sp>
      <p:sp>
        <p:nvSpPr>
          <p:cNvPr id="9" name="Shape 7"/>
          <p:cNvSpPr/>
          <p:nvPr/>
        </p:nvSpPr>
        <p:spPr>
          <a:xfrm>
            <a:off x="548640" y="3520440"/>
            <a:ext cx="201168" cy="201168"/>
          </a:xfrm>
          <a:prstGeom prst="rect">
            <a:avLst/>
          </a:prstGeom>
          <a:solidFill>
            <a:srgbClr val="FFFFFF"/>
          </a:solidFill>
          <a:ln w="12700">
            <a:solidFill>
              <a:srgbClr val="536379"/>
            </a:solidFill>
            <a:prstDash val="solid"/>
          </a:ln>
        </p:spPr>
      </p:sp>
      <p:sp>
        <p:nvSpPr>
          <p:cNvPr id="10" name="Text 8"/>
          <p:cNvSpPr txBox="1"/>
          <p:nvPr/>
        </p:nvSpPr>
        <p:spPr>
          <a:xfrm>
            <a:off x="896112" y="34747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Fix your own division's records with Edit</a:t>
            </a:r>
            <a:endParaRPr lang="en-US" sz="1350" dirty="0"/>
          </a:p>
        </p:txBody>
      </p:sp>
      <p:sp>
        <p:nvSpPr>
          <p:cNvPr id="11" name="Shape 9"/>
          <p:cNvSpPr/>
          <p:nvPr/>
        </p:nvSpPr>
        <p:spPr>
          <a:xfrm>
            <a:off x="548640" y="4023360"/>
            <a:ext cx="201168" cy="201168"/>
          </a:xfrm>
          <a:prstGeom prst="rect">
            <a:avLst/>
          </a:prstGeom>
          <a:solidFill>
            <a:srgbClr val="FFFFFF"/>
          </a:solidFill>
          <a:ln w="12700">
            <a:solidFill>
              <a:srgbClr val="536379"/>
            </a:solidFill>
            <a:prstDash val="solid"/>
          </a:ln>
        </p:spPr>
      </p:sp>
      <p:sp>
        <p:nvSpPr>
          <p:cNvPr id="12" name="Text 10"/>
          <p:cNvSpPr txBox="1"/>
          <p:nvPr/>
        </p:nvSpPr>
        <p:spPr>
          <a:xfrm>
            <a:off x="896112" y="39776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Ask the Implementer about activity changes</a:t>
            </a:r>
            <a:endParaRPr lang="en-US" sz="1350" dirty="0"/>
          </a:p>
        </p:txBody>
      </p:sp>
      <p:sp>
        <p:nvSpPr>
          <p:cNvPr id="13" name="Shape 11"/>
          <p:cNvSpPr/>
          <p:nvPr/>
        </p:nvSpPr>
        <p:spPr>
          <a:xfrm>
            <a:off x="548640" y="4526280"/>
            <a:ext cx="201168" cy="201168"/>
          </a:xfrm>
          <a:prstGeom prst="rect">
            <a:avLst/>
          </a:prstGeom>
          <a:solidFill>
            <a:srgbClr val="FFFFFF"/>
          </a:solidFill>
          <a:ln w="12700">
            <a:solidFill>
              <a:srgbClr val="536379"/>
            </a:solidFill>
            <a:prstDash val="solid"/>
          </a:ln>
        </p:spPr>
      </p:sp>
      <p:sp>
        <p:nvSpPr>
          <p:cNvPr id="14" name="Text 12"/>
          <p:cNvSpPr txBox="1"/>
          <p:nvPr/>
        </p:nvSpPr>
        <p:spPr>
          <a:xfrm>
            <a:off x="896112" y="448056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Ask an administrator about goals and divisions</a:t>
            </a:r>
            <a:endParaRPr lang="en-US" sz="1350" dirty="0"/>
          </a:p>
        </p:txBody>
      </p:sp>
      <p:sp>
        <p:nvSpPr>
          <p:cNvPr id="15" name="Text 13"/>
          <p:cNvSpPr txBox="1"/>
          <p:nvPr/>
        </p:nvSpPr>
        <p:spPr>
          <a:xfrm>
            <a:off x="630936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Every month</a:t>
            </a:r>
            <a:endParaRPr lang="en-US" sz="1700" dirty="0"/>
          </a:p>
        </p:txBody>
      </p:sp>
      <p:sp>
        <p:nvSpPr>
          <p:cNvPr id="16" name="Shape 14"/>
          <p:cNvSpPr/>
          <p:nvPr/>
        </p:nvSpPr>
        <p:spPr>
          <a:xfrm>
            <a:off x="6309360" y="1828800"/>
            <a:ext cx="201168" cy="201168"/>
          </a:xfrm>
          <a:prstGeom prst="rect">
            <a:avLst/>
          </a:prstGeom>
          <a:solidFill>
            <a:srgbClr val="FFFFFF"/>
          </a:solidFill>
          <a:ln w="12700">
            <a:solidFill>
              <a:srgbClr val="536379"/>
            </a:solidFill>
            <a:prstDash val="solid"/>
          </a:ln>
        </p:spPr>
      </p:sp>
      <p:sp>
        <p:nvSpPr>
          <p:cNvPr id="17" name="Text 15"/>
          <p:cNvSpPr txBox="1"/>
          <p:nvPr/>
        </p:nvSpPr>
        <p:spPr>
          <a:xfrm>
            <a:off x="665683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Update project status and budgets</a:t>
            </a:r>
            <a:endParaRPr lang="en-US" sz="1350" dirty="0"/>
          </a:p>
        </p:txBody>
      </p:sp>
      <p:sp>
        <p:nvSpPr>
          <p:cNvPr id="18" name="Shape 16"/>
          <p:cNvSpPr/>
          <p:nvPr/>
        </p:nvSpPr>
        <p:spPr>
          <a:xfrm>
            <a:off x="6309360" y="2331720"/>
            <a:ext cx="201168" cy="201168"/>
          </a:xfrm>
          <a:prstGeom prst="rect">
            <a:avLst/>
          </a:prstGeom>
          <a:solidFill>
            <a:srgbClr val="FFFFFF"/>
          </a:solidFill>
          <a:ln w="12700">
            <a:solidFill>
              <a:srgbClr val="536379"/>
            </a:solidFill>
            <a:prstDash val="solid"/>
          </a:ln>
        </p:spPr>
      </p:sp>
      <p:sp>
        <p:nvSpPr>
          <p:cNvPr id="19" name="Text 17"/>
          <p:cNvSpPr txBox="1"/>
          <p:nvPr/>
        </p:nvSpPr>
        <p:spPr>
          <a:xfrm>
            <a:off x="665683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Add or update outputs</a:t>
            </a:r>
            <a:endParaRPr lang="en-US" sz="1350" dirty="0"/>
          </a:p>
        </p:txBody>
      </p:sp>
      <p:sp>
        <p:nvSpPr>
          <p:cNvPr id="20" name="Shape 18"/>
          <p:cNvSpPr/>
          <p:nvPr/>
        </p:nvSpPr>
        <p:spPr>
          <a:xfrm>
            <a:off x="6309360" y="2834640"/>
            <a:ext cx="201168" cy="201168"/>
          </a:xfrm>
          <a:prstGeom prst="rect">
            <a:avLst/>
          </a:prstGeom>
          <a:solidFill>
            <a:srgbClr val="FFFFFF"/>
          </a:solidFill>
          <a:ln w="12700">
            <a:solidFill>
              <a:srgbClr val="536379"/>
            </a:solidFill>
            <a:prstDash val="solid"/>
          </a:ln>
        </p:spPr>
      </p:sp>
      <p:sp>
        <p:nvSpPr>
          <p:cNvPr id="21" name="Text 19"/>
          <p:cNvSpPr txBox="1"/>
          <p:nvPr/>
        </p:nvSpPr>
        <p:spPr>
          <a:xfrm>
            <a:off x="6656832" y="27889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Review division objectives</a:t>
            </a:r>
            <a:endParaRPr lang="en-US" sz="1350" dirty="0"/>
          </a:p>
        </p:txBody>
      </p:sp>
      <p:sp>
        <p:nvSpPr>
          <p:cNvPr id="22" name="Shape 20"/>
          <p:cNvSpPr/>
          <p:nvPr/>
        </p:nvSpPr>
        <p:spPr>
          <a:xfrm>
            <a:off x="6309360" y="3337560"/>
            <a:ext cx="201168" cy="201168"/>
          </a:xfrm>
          <a:prstGeom prst="rect">
            <a:avLst/>
          </a:prstGeom>
          <a:solidFill>
            <a:srgbClr val="FFFFFF"/>
          </a:solidFill>
          <a:ln w="12700">
            <a:solidFill>
              <a:srgbClr val="536379"/>
            </a:solidFill>
            <a:prstDash val="solid"/>
          </a:ln>
        </p:spPr>
      </p:sp>
      <p:sp>
        <p:nvSpPr>
          <p:cNvPr id="23" name="Text 21"/>
          <p:cNvSpPr txBox="1"/>
          <p:nvPr/>
        </p:nvSpPr>
        <p:spPr>
          <a:xfrm>
            <a:off x="6656832" y="32918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Check activities in your division</a:t>
            </a:r>
            <a:endParaRPr lang="en-US" sz="1350" dirty="0"/>
          </a:p>
        </p:txBody>
      </p:sp>
      <p:sp>
        <p:nvSpPr>
          <p:cNvPr id="24" name="Shape 22"/>
          <p:cNvSpPr/>
          <p:nvPr/>
        </p:nvSpPr>
        <p:spPr>
          <a:xfrm>
            <a:off x="6309360" y="3840480"/>
            <a:ext cx="201168" cy="201168"/>
          </a:xfrm>
          <a:prstGeom prst="rect">
            <a:avLst/>
          </a:prstGeom>
          <a:solidFill>
            <a:srgbClr val="FFFFFF"/>
          </a:solidFill>
          <a:ln w="12700">
            <a:solidFill>
              <a:srgbClr val="536379"/>
            </a:solidFill>
            <a:prstDash val="solid"/>
          </a:ln>
        </p:spPr>
      </p:sp>
      <p:sp>
        <p:nvSpPr>
          <p:cNvPr id="25" name="Text 23"/>
          <p:cNvSpPr txBox="1"/>
          <p:nvPr/>
        </p:nvSpPr>
        <p:spPr>
          <a:xfrm>
            <a:off x="6656832" y="379476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Pull the PIRPA report</a:t>
            </a:r>
            <a:endParaRPr lang="en-US" sz="1350" dirty="0"/>
          </a:p>
        </p:txBody>
      </p:sp>
      <p:sp>
        <p:nvSpPr>
          <p:cNvPr id="26" name="Text 24"/>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Help: your DQAMP administrator · README.md beside the launcher · http://127.0.0.1:3002</a:t>
            </a:r>
            <a:endParaRPr lang="en-US" sz="1200" dirty="0"/>
          </a:p>
        </p:txBody>
      </p:sp>
      <p:sp>
        <p:nvSpPr>
          <p:cNvPr id="27"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Planning Admins</a:t>
            </a:r>
            <a:endParaRPr lang="en-US" sz="1000" dirty="0"/>
          </a:p>
        </p:txBody>
      </p:sp>
      <p:sp>
        <p:nvSpPr>
          <p:cNvPr id="28" name="Text 26"/>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15</a:t>
            </a:r>
            <a:endParaRPr lang="en-US" sz="1000" dirty="0"/>
          </a:p>
        </p:txBody>
      </p:sp>
    </p:spTree>
  </p:cSld>
  <p:clrMapOvr>
    <a:masterClrMapping/>
  </p:clrMapOvr>
</p:sld>
</file>

<file path=ppt/theme/theme1.xml><?xml version="1.0" encoding="utf-8"?>
<a:theme xmlns:a="http://schemas.openxmlformats.org/drawingml/2006/main" name="DQAMP">
  <a:themeElements>
    <a:clrScheme name="DQAMP">
      <a:dk1>
        <a:srgbClr val="1E293B"/>
      </a:dk1>
      <a:lt1>
        <a:srgbClr val="FFFFFF"/>
      </a:lt1>
      <a:dk2>
        <a:srgbClr val="1B2A8F"/>
      </a:dk2>
      <a:lt2>
        <a:srgbClr val="F5F7FA"/>
      </a:lt2>
      <a:accent1>
        <a:srgbClr val="1B2A8F"/>
      </a:accent1>
      <a:accent2>
        <a:srgbClr val="EA580C"/>
      </a:accent2>
      <a:accent3>
        <a:srgbClr val="F2B705"/>
      </a:accent3>
      <a:accent4>
        <a:srgbClr val="B91C1C"/>
      </a:accent4>
      <a:accent5>
        <a:srgbClr val="536379"/>
      </a:accent5>
      <a:accent6>
        <a:srgbClr val="15338A"/>
      </a:accent6>
      <a:hlink>
        <a:srgbClr val="1B2A8F"/>
      </a:hlink>
      <a:folHlink>
        <a:srgbClr val="536379"/>
      </a:folHlink>
    </a:clrScheme>
    <a:fontScheme name="DQAMP">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latino Linoty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SDO Lucena City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DQAMP onboarding: Planning Admins</dc:title>
  <dc:subject>PptxGenJS Presentation</dc:subject>
  <dc:creator>DQAMP 2026</dc:creator>
  <cp:lastModifiedBy>DQAMP 2026</cp:lastModifiedBy>
  <cp:revision>1</cp:revision>
  <dcterms:created xsi:type="dcterms:W3CDTF">2026-10-26T13:51:55Z</dcterms:created>
  <dcterms:modified xsi:type="dcterms:W3CDTF">2026-10-26T13:51:55Z</dcterms:modified>
</cp:coreProperties>
</file>