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you will learn how to use DQAMP as an Implementer.
Read the three objectives aloud. Tell participants they will practise at the end.
[DEMO CUE] Have DQAMP open on the host computer at the sign-in page.
[CHECK BEFORE PRESENTING] All names and figures in this deck are fictional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is the Division Quality Assurance and Monitoring Portal.
1. Goals, objectives, projects, outputs and activities link together, so results are traceable from the top down.
2. Every activity goes through QA review before it is published.
3. Everything is stored on the computer where DQAMP runs. There is no cloud account. The administrator backs up the data folder, so nobody else should copy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has four roles. Point to the highlighted card: that is the role this session covers.
The rules are enforced by the system, not just by the menus. If you cannot use a button, it does not appear; if a change is outside your role or division, DQAMP refuses it.
[CHECK BEFORE PRESENTING] Name your office's administrator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DQAMP runs on one computer, and you sign in there in a web browser.
1. Type the email your administrator registered.
2. Type the temporary password your administrator gave you.
3. Click Sign in.
There is no email invitation and no password-reset screen. The administrator handles both.
[DEMO CUE] Sign in with a training account. Do not show a real password on screen.
[CHECK BEFORE PRESENTING] Confirm the address your office uses (the default is http://127.0.0.1:3002).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you land on the Dashboard. Your daily work is under My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activity follows these four steps. The filled circles are the steps this role performs.
Returned for Revision is the loop: the QA Assessor sends it back with a note, the Implementer fixes it and submits again.
Once an activity is Under Review or Published, it is locked for everyone except the reviewer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Create Reading Coaching for Grade 2 Teachers in CID.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button names your next step. Activities under review or published have no button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Open Numeracy Camp Planning Workshop, read the note, and resubmit.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record feedback for activities in your own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corrections for Implementers.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These are the problems new users meet most often.
[CHECK BEFORE PRESENTING] Add your administrator's name and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about 10 minutes, in pairs if computers are limited.
Practice records go into the same database as real work. Use a training copy of DQAMP, or agree with your administrator which practice records to delete afterwards.
[CHECK BEFORE PRESENTING] Name the practice accounts and the sample OneDrive link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are stuck, start with your administrator.
[CHECK BEFORE PRESENTING] Fill in the support contact on this slide.
Close by thanking participants and asking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this checklist. It summarises the session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F"/>
        </a:solidFill>
      </p:bgPr>
    </p:bg>
    <p:spTree>
      <p:nvGrpSpPr>
        <p:cNvPr id="1" name=""/>
        <p:cNvGrpSpPr/>
        <p:nvPr/>
      </p:nvGrpSpPr>
      <p:grpSpPr>
        <a:xfrm>
          <a:off x="0" y="0"/>
          <a:ext cx="0" cy="0"/>
          <a:chOff x="0" y="0"/>
          <a:chExt cx="0" cy="0"/>
        </a:xfrm>
      </p:grpSpPr>
      <p:pic>
        <p:nvPicPr>
          <p:cNvPr id="2" name="Image 0" descr="Schools Division Office of Lucena City seal">    </p:cNvPr>
          <p:cNvPicPr>
            <a:picLocks noChangeAspect="1"/>
          </p:cNvPicPr>
          <p:nvPr/>
        </p:nvPicPr>
        <p:blipFill>
          <a:blip r:embed="rId1"/>
          <a:stretch>
            <a:fillRect/>
          </a:stretch>
        </p:blipFill>
        <p:spPr>
          <a:xfrm>
            <a:off x="548640" y="411480"/>
            <a:ext cx="777240" cy="777240"/>
          </a:xfrm>
          <a:prstGeom prst="rect">
            <a:avLst/>
          </a:prstGeom>
        </p:spPr>
      </p:pic>
      <p:sp>
        <p:nvSpPr>
          <p:cNvPr id="3" name="Text 0"/>
          <p:cNvSpPr txBox="1"/>
          <p:nvPr/>
        </p:nvSpPr>
        <p:spPr>
          <a:xfrm>
            <a:off x="1463040" y="457200"/>
            <a:ext cx="4572000" cy="685800"/>
          </a:xfrm>
          <a:prstGeom prst="rect">
            <a:avLst/>
          </a:prstGeom>
          <a:noFill/>
          <a:ln/>
        </p:spPr>
        <p:txBody>
          <a:bodyPr wrap="square" lIns="0" tIns="0" rIns="0" bIns="0" rtlCol="0" anchor="ct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DQAMP 2026</a:t>
            </a:r>
            <a:endParaRPr lang="en-US" sz="1400" dirty="0"/>
          </a:p>
          <a:p>
            <a:pPr indent="0" marL="0">
              <a:buNone/>
            </a:pPr>
            <a:r>
              <a:rPr lang="en-US" sz="1100" dirty="0">
                <a:solidFill>
                  <a:srgbClr val="CADCFC"/>
                </a:solidFill>
                <a:latin typeface="Palatino Linotype" pitchFamily="34" charset="0"/>
                <a:ea typeface="Palatino Linotype" pitchFamily="34" charset="-122"/>
                <a:cs typeface="Palatino Linotype" pitchFamily="34" charset="-120"/>
              </a:rPr>
              <a:t>Schools Division Office of Lucena City</a:t>
            </a:r>
            <a:endParaRPr lang="en-US" sz="1400" dirty="0"/>
          </a:p>
        </p:txBody>
      </p:sp>
      <p:sp>
        <p:nvSpPr>
          <p:cNvPr id="4" name="Text 1"/>
          <p:cNvSpPr txBox="1"/>
          <p:nvPr/>
        </p:nvSpPr>
        <p:spPr>
          <a:xfrm>
            <a:off x="548640" y="1828800"/>
            <a:ext cx="5394960" cy="11887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Welcome to DQAMP</a:t>
            </a:r>
            <a:endParaRPr lang="en-US" sz="4000" dirty="0"/>
          </a:p>
        </p:txBody>
      </p:sp>
      <p:sp>
        <p:nvSpPr>
          <p:cNvPr id="5" name="Text 2"/>
          <p:cNvSpPr txBox="1"/>
          <p:nvPr/>
        </p:nvSpPr>
        <p:spPr>
          <a:xfrm>
            <a:off x="548640" y="3154680"/>
            <a:ext cx="5394960" cy="457200"/>
          </a:xfrm>
          <a:prstGeom prst="rect">
            <a:avLst/>
          </a:prstGeom>
          <a:noFill/>
          <a:ln/>
        </p:spPr>
        <p:txBody>
          <a:bodyPr wrap="square" lIns="0" tIns="0" rIns="0" bIns="0" rtlCol="0" anchor="ctr"/>
          <a:lstStyle/>
          <a:p>
            <a:pPr indent="0" marL="0">
              <a:buNone/>
            </a:pPr>
            <a:r>
              <a:rPr lang="en-US" sz="2000" dirty="0">
                <a:solidFill>
                  <a:srgbClr val="F2B705"/>
                </a:solidFill>
                <a:latin typeface="Palatino Linotype" pitchFamily="34" charset="0"/>
                <a:ea typeface="Palatino Linotype" pitchFamily="34" charset="-122"/>
                <a:cs typeface="Palatino Linotype" pitchFamily="34" charset="-120"/>
              </a:rPr>
              <a:t>Onboarding for Implementers</a:t>
            </a:r>
            <a:endParaRPr lang="en-US" sz="2000" dirty="0"/>
          </a:p>
        </p:txBody>
      </p:sp>
      <p:sp>
        <p:nvSpPr>
          <p:cNvPr id="6" name="Text 3"/>
          <p:cNvSpPr txBox="1"/>
          <p:nvPr/>
        </p:nvSpPr>
        <p:spPr>
          <a:xfrm>
            <a:off x="548640" y="3611880"/>
            <a:ext cx="5394960" cy="365760"/>
          </a:xfrm>
          <a:prstGeom prst="rect">
            <a:avLst/>
          </a:prstGeom>
          <a:noFill/>
          <a:ln/>
        </p:spPr>
        <p:txBody>
          <a:bodyPr wrap="square" lIns="0" tIns="0" rIns="0" bIns="0" rtlCol="0" anchor="ctr"/>
          <a:lstStyle/>
          <a:p>
            <a:pPr indent="0" marL="0">
              <a:buNone/>
            </a:pPr>
            <a:r>
              <a:rPr lang="en-US" sz="1400" dirty="0">
                <a:solidFill>
                  <a:srgbClr val="CADCFC"/>
                </a:solidFill>
                <a:latin typeface="Palatino Linotype" pitchFamily="34" charset="0"/>
                <a:ea typeface="Palatino Linotype" pitchFamily="34" charset="-122"/>
                <a:cs typeface="Palatino Linotype" pitchFamily="34" charset="-120"/>
              </a:rPr>
              <a:t>About 20 minutes, plus practice</a:t>
            </a:r>
            <a:endParaRPr lang="en-US" sz="1400" dirty="0"/>
          </a:p>
        </p:txBody>
      </p:sp>
      <p:sp>
        <p:nvSpPr>
          <p:cNvPr id="7" name="Text 4"/>
          <p:cNvSpPr txBox="1"/>
          <p:nvPr/>
        </p:nvSpPr>
        <p:spPr>
          <a:xfrm>
            <a:off x="548640" y="5989320"/>
            <a:ext cx="5486400" cy="365760"/>
          </a:xfrm>
          <a:prstGeom prst="rect">
            <a:avLst/>
          </a:prstGeom>
          <a:noFill/>
          <a:ln/>
        </p:spPr>
        <p:txBody>
          <a:bodyPr wrap="square" lIns="0" tIns="0" rIns="0" bIns="0" rtlCol="0" anchor="ctr"/>
          <a:lstStyle/>
          <a:p>
            <a:pPr indent="0" marL="0">
              <a:buNone/>
            </a:pPr>
            <a:r>
              <a:rPr lang="en-US" sz="1400" b="1" dirty="0">
                <a:solidFill>
                  <a:srgbClr val="F2B705"/>
                </a:solidFill>
                <a:latin typeface="Century Gothic" pitchFamily="34" charset="0"/>
                <a:ea typeface="Century Gothic" pitchFamily="34" charset="-122"/>
                <a:cs typeface="Century Gothic" pitchFamily="34" charset="-120"/>
              </a:rPr>
              <a:t>Plan it. Track it. Prove it.</a:t>
            </a:r>
            <a:endParaRPr lang="en-US" sz="1400" dirty="0"/>
          </a:p>
        </p:txBody>
      </p:sp>
      <p:sp>
        <p:nvSpPr>
          <p:cNvPr id="8" name="Text 5"/>
          <p:cNvSpPr txBox="1"/>
          <p:nvPr/>
        </p:nvSpPr>
        <p:spPr>
          <a:xfrm>
            <a:off x="6400800" y="1463040"/>
            <a:ext cx="5212080" cy="411480"/>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By the end of this session you can:</a:t>
            </a:r>
            <a:endParaRPr lang="en-US" sz="1600" dirty="0"/>
          </a:p>
        </p:txBody>
      </p:sp>
      <p:sp>
        <p:nvSpPr>
          <p:cNvPr id="9" name="Shape 6"/>
          <p:cNvSpPr/>
          <p:nvPr/>
        </p:nvSpPr>
        <p:spPr>
          <a:xfrm>
            <a:off x="6400800" y="2011680"/>
            <a:ext cx="5212080" cy="777240"/>
          </a:xfrm>
          <a:prstGeom prst="roundRect">
            <a:avLst>
              <a:gd name="adj" fmla="val 7059"/>
            </a:avLst>
          </a:prstGeom>
          <a:solidFill>
            <a:srgbClr val="15338A"/>
          </a:solidFill>
          <a:ln w="12700">
            <a:solidFill>
              <a:srgbClr val="15338A"/>
            </a:solidFill>
            <a:prstDash val="solid"/>
          </a:ln>
        </p:spPr>
      </p:sp>
      <p:sp>
        <p:nvSpPr>
          <p:cNvPr id="10" name="Shape 7"/>
          <p:cNvSpPr/>
          <p:nvPr/>
        </p:nvSpPr>
        <p:spPr>
          <a:xfrm>
            <a:off x="6601968" y="2203704"/>
            <a:ext cx="393192" cy="393192"/>
          </a:xfrm>
          <a:prstGeom prst="ellipse">
            <a:avLst/>
          </a:prstGeom>
          <a:solidFill>
            <a:srgbClr val="F2B705"/>
          </a:solidFill>
          <a:ln w="12700">
            <a:solidFill>
              <a:srgbClr val="F2B705"/>
            </a:solidFill>
            <a:prstDash val="solid"/>
          </a:ln>
        </p:spPr>
      </p:sp>
      <p:sp>
        <p:nvSpPr>
          <p:cNvPr id="11" name="Text 8"/>
          <p:cNvSpPr txBox="1"/>
          <p:nvPr/>
        </p:nvSpPr>
        <p:spPr>
          <a:xfrm>
            <a:off x="6601968" y="220370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1</a:t>
            </a:r>
            <a:endParaRPr lang="en-US" sz="1400" dirty="0"/>
          </a:p>
        </p:txBody>
      </p:sp>
      <p:sp>
        <p:nvSpPr>
          <p:cNvPr id="12" name="Text 9"/>
          <p:cNvSpPr txBox="1"/>
          <p:nvPr/>
        </p:nvSpPr>
        <p:spPr>
          <a:xfrm>
            <a:off x="7178040" y="208483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Sign in and find your division's activities</a:t>
            </a:r>
            <a:endParaRPr lang="en-US" sz="1500" dirty="0"/>
          </a:p>
        </p:txBody>
      </p:sp>
      <p:sp>
        <p:nvSpPr>
          <p:cNvPr id="13" name="Shape 10"/>
          <p:cNvSpPr/>
          <p:nvPr/>
        </p:nvSpPr>
        <p:spPr>
          <a:xfrm>
            <a:off x="6400800" y="2971800"/>
            <a:ext cx="5212080" cy="777240"/>
          </a:xfrm>
          <a:prstGeom prst="roundRect">
            <a:avLst>
              <a:gd name="adj" fmla="val 7059"/>
            </a:avLst>
          </a:prstGeom>
          <a:solidFill>
            <a:srgbClr val="15338A"/>
          </a:solidFill>
          <a:ln w="12700">
            <a:solidFill>
              <a:srgbClr val="15338A"/>
            </a:solidFill>
            <a:prstDash val="solid"/>
          </a:ln>
        </p:spPr>
      </p:sp>
      <p:sp>
        <p:nvSpPr>
          <p:cNvPr id="14" name="Shape 11"/>
          <p:cNvSpPr/>
          <p:nvPr/>
        </p:nvSpPr>
        <p:spPr>
          <a:xfrm>
            <a:off x="6601968" y="3163824"/>
            <a:ext cx="393192" cy="393192"/>
          </a:xfrm>
          <a:prstGeom prst="ellipse">
            <a:avLst/>
          </a:prstGeom>
          <a:solidFill>
            <a:srgbClr val="F2B705"/>
          </a:solidFill>
          <a:ln w="12700">
            <a:solidFill>
              <a:srgbClr val="F2B705"/>
            </a:solidFill>
            <a:prstDash val="solid"/>
          </a:ln>
        </p:spPr>
      </p:sp>
      <p:sp>
        <p:nvSpPr>
          <p:cNvPr id="15" name="Text 12"/>
          <p:cNvSpPr txBox="1"/>
          <p:nvPr/>
        </p:nvSpPr>
        <p:spPr>
          <a:xfrm>
            <a:off x="6601968" y="316382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2</a:t>
            </a:r>
            <a:endParaRPr lang="en-US" sz="1400" dirty="0"/>
          </a:p>
        </p:txBody>
      </p:sp>
      <p:sp>
        <p:nvSpPr>
          <p:cNvPr id="16" name="Text 13"/>
          <p:cNvSpPr txBox="1"/>
          <p:nvPr/>
        </p:nvSpPr>
        <p:spPr>
          <a:xfrm>
            <a:off x="7178040" y="304495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Create an activity and submit it for review</a:t>
            </a:r>
            <a:endParaRPr lang="en-US" sz="1500" dirty="0"/>
          </a:p>
        </p:txBody>
      </p:sp>
      <p:sp>
        <p:nvSpPr>
          <p:cNvPr id="17" name="Shape 14"/>
          <p:cNvSpPr/>
          <p:nvPr/>
        </p:nvSpPr>
        <p:spPr>
          <a:xfrm>
            <a:off x="6400800" y="3931920"/>
            <a:ext cx="5212080" cy="777240"/>
          </a:xfrm>
          <a:prstGeom prst="roundRect">
            <a:avLst>
              <a:gd name="adj" fmla="val 7059"/>
            </a:avLst>
          </a:prstGeom>
          <a:solidFill>
            <a:srgbClr val="15338A"/>
          </a:solidFill>
          <a:ln w="12700">
            <a:solidFill>
              <a:srgbClr val="15338A"/>
            </a:solidFill>
            <a:prstDash val="solid"/>
          </a:ln>
        </p:spPr>
      </p:sp>
      <p:sp>
        <p:nvSpPr>
          <p:cNvPr id="18" name="Shape 15"/>
          <p:cNvSpPr/>
          <p:nvPr/>
        </p:nvSpPr>
        <p:spPr>
          <a:xfrm>
            <a:off x="6601968" y="4123944"/>
            <a:ext cx="393192" cy="393192"/>
          </a:xfrm>
          <a:prstGeom prst="ellipse">
            <a:avLst/>
          </a:prstGeom>
          <a:solidFill>
            <a:srgbClr val="F2B705"/>
          </a:solidFill>
          <a:ln w="12700">
            <a:solidFill>
              <a:srgbClr val="F2B705"/>
            </a:solidFill>
            <a:prstDash val="solid"/>
          </a:ln>
        </p:spPr>
      </p:sp>
      <p:sp>
        <p:nvSpPr>
          <p:cNvPr id="19" name="Text 16"/>
          <p:cNvSpPr txBox="1"/>
          <p:nvPr/>
        </p:nvSpPr>
        <p:spPr>
          <a:xfrm>
            <a:off x="6601968" y="4123944"/>
            <a:ext cx="393192" cy="393192"/>
          </a:xfrm>
          <a:prstGeom prst="rect">
            <a:avLst/>
          </a:prstGeom>
          <a:noFill/>
          <a:ln/>
        </p:spPr>
        <p:txBody>
          <a:bodyPr wrap="square" lIns="0" tIns="0" rIns="0" bIns="0" rtlCol="0" anchor="ctr"/>
          <a:lstStyle/>
          <a:p>
            <a:pPr algn="ctr" indent="0" marL="0">
              <a:buNone/>
            </a:pPr>
            <a:r>
              <a:rPr lang="en-US" sz="1400" b="1" dirty="0">
                <a:solidFill>
                  <a:srgbClr val="1E293B"/>
                </a:solidFill>
                <a:latin typeface="Palatino Linotype" pitchFamily="34" charset="0"/>
                <a:ea typeface="Palatino Linotype" pitchFamily="34" charset="-122"/>
                <a:cs typeface="Palatino Linotype" pitchFamily="34" charset="-120"/>
              </a:rPr>
              <a:t>3</a:t>
            </a:r>
            <a:endParaRPr lang="en-US" sz="1400" dirty="0"/>
          </a:p>
        </p:txBody>
      </p:sp>
      <p:sp>
        <p:nvSpPr>
          <p:cNvPr id="20" name="Text 17"/>
          <p:cNvSpPr txBox="1"/>
          <p:nvPr/>
        </p:nvSpPr>
        <p:spPr>
          <a:xfrm>
            <a:off x="7178040" y="4005072"/>
            <a:ext cx="4297680" cy="64008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Fix a returned activity and record client feedback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What DQAMP does</a:t>
            </a:r>
            <a:endParaRPr lang="en-US" sz="3400" dirty="0"/>
          </a:p>
        </p:txBody>
      </p:sp>
      <p:sp>
        <p:nvSpPr>
          <p:cNvPr id="3" name="brand frame"/>
          <p:cNvSpPr/>
          <p:nvPr/>
        </p:nvSpPr>
        <p:spPr>
          <a:xfrm>
            <a:off x="1138358" y="1252728"/>
            <a:ext cx="4215524" cy="4901184"/>
          </a:xfrm>
          <a:prstGeom prst="roundRect">
            <a:avLst>
              <a:gd name="adj" fmla="val 651"/>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brand" descr="DQAMP sign-in page panel: Plan it. Track it. Prove it.">    </p:cNvPr>
          <p:cNvPicPr>
            <a:picLocks noChangeAspect="1"/>
          </p:cNvPicPr>
          <p:nvPr/>
        </p:nvPicPr>
        <p:blipFill>
          <a:blip r:embed="rId1"/>
          <a:stretch>
            <a:fillRect/>
          </a:stretch>
        </p:blipFill>
        <p:spPr>
          <a:xfrm>
            <a:off x="1211510" y="1325880"/>
            <a:ext cx="4069220" cy="4754880"/>
          </a:xfrm>
          <a:prstGeom prst="rect">
            <a:avLst/>
          </a:prstGeom>
        </p:spPr>
      </p:pic>
      <p:sp>
        <p:nvSpPr>
          <p:cNvPr id="5" name="Text 2"/>
          <p:cNvSpPr txBox="1"/>
          <p:nvPr/>
        </p:nvSpPr>
        <p:spPr>
          <a:xfrm>
            <a:off x="6400800" y="1325880"/>
            <a:ext cx="5212080" cy="731520"/>
          </a:xfrm>
          <a:prstGeom prst="rect">
            <a:avLst/>
          </a:prstGeom>
          <a:noFill/>
          <a:ln/>
        </p:spPr>
        <p:txBody>
          <a:bodyPr wrap="square" lIns="0" tIns="0" rIns="0" bIns="0" rtlCol="0" anchor="t"/>
          <a:lstStyle/>
          <a:p>
            <a:pPr indent="0" marL="0">
              <a:buNone/>
            </a:pPr>
            <a:r>
              <a:rPr lang="en-US" sz="1600" dirty="0">
                <a:solidFill>
                  <a:srgbClr val="1E293B"/>
                </a:solidFill>
                <a:latin typeface="Palatino Linotype" pitchFamily="34" charset="0"/>
                <a:ea typeface="Palatino Linotype" pitchFamily="34" charset="-122"/>
                <a:cs typeface="Palatino Linotype" pitchFamily="34" charset="-120"/>
              </a:rPr>
              <a:t>DQAMP is the </a:t>
            </a:r>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Division Quality Assurance and Monitoring Portal</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 for SDO Lucena City.</a:t>
            </a:r>
            <a:endParaRPr lang="en-US" sz="1600" dirty="0"/>
          </a:p>
        </p:txBody>
      </p:sp>
      <p:sp>
        <p:nvSpPr>
          <p:cNvPr id="6" name="Callout number 1"/>
          <p:cNvSpPr/>
          <p:nvPr/>
        </p:nvSpPr>
        <p:spPr>
          <a:xfrm>
            <a:off x="6400800" y="2304288"/>
            <a:ext cx="365760" cy="365760"/>
          </a:xfrm>
          <a:prstGeom prst="ellipse">
            <a:avLst/>
          </a:prstGeom>
          <a:solidFill>
            <a:srgbClr val="1B2A8F"/>
          </a:solidFill>
          <a:ln w="25400">
            <a:solidFill>
              <a:srgbClr val="EA580C"/>
            </a:solidFill>
            <a:prstDash val="solid"/>
          </a:ln>
        </p:spPr>
      </p:sp>
      <p:sp>
        <p:nvSpPr>
          <p:cNvPr id="7" name="Text 4"/>
          <p:cNvSpPr txBox="1"/>
          <p:nvPr/>
        </p:nvSpPr>
        <p:spPr>
          <a:xfrm>
            <a:off x="6400800" y="23042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Legend 1"/>
          <p:cNvSpPr txBox="1"/>
          <p:nvPr/>
        </p:nvSpPr>
        <p:spPr>
          <a:xfrm>
            <a:off x="6931152" y="2286000"/>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One chain from goals to evidence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Organizational goals, division objectives, projects, outputs and activities link together.</a:t>
            </a:r>
            <a:endParaRPr lang="en-US" sz="1600" dirty="0"/>
          </a:p>
        </p:txBody>
      </p:sp>
      <p:sp>
        <p:nvSpPr>
          <p:cNvPr id="9" name="Callout number 2"/>
          <p:cNvSpPr/>
          <p:nvPr/>
        </p:nvSpPr>
        <p:spPr>
          <a:xfrm>
            <a:off x="6400800" y="3145536"/>
            <a:ext cx="365760" cy="365760"/>
          </a:xfrm>
          <a:prstGeom prst="ellipse">
            <a:avLst/>
          </a:prstGeom>
          <a:solidFill>
            <a:srgbClr val="1B2A8F"/>
          </a:solidFill>
          <a:ln w="25400">
            <a:solidFill>
              <a:srgbClr val="EA580C"/>
            </a:solidFill>
            <a:prstDash val="solid"/>
          </a:ln>
        </p:spPr>
      </p:sp>
      <p:sp>
        <p:nvSpPr>
          <p:cNvPr id="10" name="Text 7"/>
          <p:cNvSpPr txBox="1"/>
          <p:nvPr/>
        </p:nvSpPr>
        <p:spPr>
          <a:xfrm>
            <a:off x="640080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Legend 2"/>
          <p:cNvSpPr txBox="1"/>
          <p:nvPr/>
        </p:nvSpPr>
        <p:spPr>
          <a:xfrm>
            <a:off x="6931152" y="3127248"/>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Quality assurance built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An activity is published only after a QA Assessor reviews it.</a:t>
            </a:r>
            <a:endParaRPr lang="en-US" sz="1600" dirty="0"/>
          </a:p>
        </p:txBody>
      </p:sp>
      <p:sp>
        <p:nvSpPr>
          <p:cNvPr id="12" name="Callout number 3"/>
          <p:cNvSpPr/>
          <p:nvPr/>
        </p:nvSpPr>
        <p:spPr>
          <a:xfrm>
            <a:off x="6400800" y="3986784"/>
            <a:ext cx="365760" cy="365760"/>
          </a:xfrm>
          <a:prstGeom prst="ellipse">
            <a:avLst/>
          </a:prstGeom>
          <a:solidFill>
            <a:srgbClr val="1B2A8F"/>
          </a:solidFill>
          <a:ln w="25400">
            <a:solidFill>
              <a:srgbClr val="EA580C"/>
            </a:solidFill>
            <a:prstDash val="solid"/>
          </a:ln>
        </p:spPr>
      </p:sp>
      <p:sp>
        <p:nvSpPr>
          <p:cNvPr id="13" name="Text 10"/>
          <p:cNvSpPr txBox="1"/>
          <p:nvPr/>
        </p:nvSpPr>
        <p:spPr>
          <a:xfrm>
            <a:off x="6400800" y="39867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4" name="Legend 3"/>
          <p:cNvSpPr txBox="1"/>
          <p:nvPr/>
        </p:nvSpPr>
        <p:spPr>
          <a:xfrm>
            <a:off x="6931152" y="3968496"/>
            <a:ext cx="46817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Records stay on this computer</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No cloud account. Your administrator backs up the data folder.</a:t>
            </a:r>
            <a:endParaRPr lang="en-US" sz="16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16" name="Text 13"/>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Who does what</a:t>
            </a:r>
            <a:endParaRPr lang="en-US" sz="3400" dirty="0"/>
          </a:p>
        </p:txBody>
      </p:sp>
      <p:sp>
        <p:nvSpPr>
          <p:cNvPr id="3" name="Shape 1"/>
          <p:cNvSpPr/>
          <p:nvPr/>
        </p:nvSpPr>
        <p:spPr>
          <a:xfrm>
            <a:off x="548640" y="1234440"/>
            <a:ext cx="5440680" cy="2057400"/>
          </a:xfrm>
          <a:prstGeom prst="roundRect">
            <a:avLst>
              <a:gd name="adj" fmla="val 2667"/>
            </a:avLst>
          </a:prstGeom>
          <a:solidFill>
            <a:srgbClr val="F5F7FA"/>
          </a:solidFill>
          <a:ln w="12700">
            <a:solidFill>
              <a:srgbClr val="E2E8F0"/>
            </a:solidFill>
            <a:prstDash val="solid"/>
          </a:ln>
        </p:spPr>
      </p:sp>
      <p:sp>
        <p:nvSpPr>
          <p:cNvPr id="4" name="Shape 2"/>
          <p:cNvSpPr/>
          <p:nvPr/>
        </p:nvSpPr>
        <p:spPr>
          <a:xfrm>
            <a:off x="777240" y="1435608"/>
            <a:ext cx="457200" cy="457200"/>
          </a:xfrm>
          <a:prstGeom prst="ellipse">
            <a:avLst/>
          </a:prstGeom>
          <a:solidFill>
            <a:srgbClr val="1B2A8F"/>
          </a:solidFill>
          <a:ln w="12700">
            <a:solidFill>
              <a:srgbClr val="1B2A8F"/>
            </a:solidFill>
            <a:prstDash val="solid"/>
          </a:ln>
        </p:spPr>
      </p:sp>
      <p:sp>
        <p:nvSpPr>
          <p:cNvPr id="5" name="Text 3"/>
          <p:cNvSpPr txBox="1"/>
          <p:nvPr/>
        </p:nvSpPr>
        <p:spPr>
          <a:xfrm>
            <a:off x="77724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A</a:t>
            </a:r>
            <a:endParaRPr lang="en-US" sz="1600" dirty="0"/>
          </a:p>
        </p:txBody>
      </p:sp>
      <p:sp>
        <p:nvSpPr>
          <p:cNvPr id="6" name="Text 4"/>
          <p:cNvSpPr txBox="1"/>
          <p:nvPr/>
        </p:nvSpPr>
        <p:spPr>
          <a:xfrm>
            <a:off x="137160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Administrator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Top management and system administrators</a:t>
            </a:r>
            <a:endParaRPr lang="en-US" sz="1800" dirty="0"/>
          </a:p>
        </p:txBody>
      </p:sp>
      <p:sp>
        <p:nvSpPr>
          <p:cNvPr id="7" name="Text 5"/>
          <p:cNvSpPr txBox="1"/>
          <p:nvPr/>
        </p:nvSpPr>
        <p:spPr>
          <a:xfrm>
            <a:off x="86868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and changes everything</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Publishes reviewed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users and sets roles and divisions</a:t>
            </a:r>
            <a:endParaRPr lang="en-US" sz="1300" dirty="0"/>
          </a:p>
        </p:txBody>
      </p:sp>
      <p:sp>
        <p:nvSpPr>
          <p:cNvPr id="8" name="Shape 6"/>
          <p:cNvSpPr/>
          <p:nvPr/>
        </p:nvSpPr>
        <p:spPr>
          <a:xfrm>
            <a:off x="6172200" y="1234440"/>
            <a:ext cx="5440680" cy="2057400"/>
          </a:xfrm>
          <a:prstGeom prst="roundRect">
            <a:avLst>
              <a:gd name="adj" fmla="val 2667"/>
            </a:avLst>
          </a:prstGeom>
          <a:solidFill>
            <a:srgbClr val="F5F7FA"/>
          </a:solidFill>
          <a:ln w="12700">
            <a:solidFill>
              <a:srgbClr val="E2E8F0"/>
            </a:solidFill>
            <a:prstDash val="solid"/>
          </a:ln>
        </p:spPr>
      </p:sp>
      <p:sp>
        <p:nvSpPr>
          <p:cNvPr id="9" name="Shape 7"/>
          <p:cNvSpPr/>
          <p:nvPr/>
        </p:nvSpPr>
        <p:spPr>
          <a:xfrm>
            <a:off x="6400800" y="1435608"/>
            <a:ext cx="457200" cy="457200"/>
          </a:xfrm>
          <a:prstGeom prst="ellipse">
            <a:avLst/>
          </a:prstGeom>
          <a:solidFill>
            <a:srgbClr val="1B2A8F"/>
          </a:solidFill>
          <a:ln w="12700">
            <a:solidFill>
              <a:srgbClr val="1B2A8F"/>
            </a:solidFill>
            <a:prstDash val="solid"/>
          </a:ln>
        </p:spPr>
      </p:sp>
      <p:sp>
        <p:nvSpPr>
          <p:cNvPr id="10" name="Text 8"/>
          <p:cNvSpPr txBox="1"/>
          <p:nvPr/>
        </p:nvSpPr>
        <p:spPr>
          <a:xfrm>
            <a:off x="6400800" y="1435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a:t>
            </a:r>
            <a:endParaRPr lang="en-US" sz="1600" dirty="0"/>
          </a:p>
        </p:txBody>
      </p:sp>
      <p:sp>
        <p:nvSpPr>
          <p:cNvPr id="11" name="Text 9"/>
          <p:cNvSpPr txBox="1"/>
          <p:nvPr/>
        </p:nvSpPr>
        <p:spPr>
          <a:xfrm>
            <a:off x="6995160" y="138988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Planning Admin</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Division planning staff</a:t>
            </a:r>
            <a:endParaRPr lang="en-US" sz="1800" dirty="0"/>
          </a:p>
        </p:txBody>
      </p:sp>
      <p:sp>
        <p:nvSpPr>
          <p:cNvPr id="12" name="Text 10"/>
          <p:cNvSpPr txBox="1"/>
          <p:nvPr/>
        </p:nvSpPr>
        <p:spPr>
          <a:xfrm>
            <a:off x="6492240" y="210312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Plans objectives, projects and outputs in their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Reads all activities and reports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Does not edit or publish activities</a:t>
            </a:r>
            <a:endParaRPr lang="en-US" sz="1300" dirty="0"/>
          </a:p>
        </p:txBody>
      </p:sp>
      <p:sp>
        <p:nvSpPr>
          <p:cNvPr id="13" name="Shape 11"/>
          <p:cNvSpPr/>
          <p:nvPr/>
        </p:nvSpPr>
        <p:spPr>
          <a:xfrm>
            <a:off x="548640" y="3474720"/>
            <a:ext cx="5440680" cy="2057400"/>
          </a:xfrm>
          <a:prstGeom prst="roundRect">
            <a:avLst>
              <a:gd name="adj" fmla="val 2667"/>
            </a:avLst>
          </a:prstGeom>
          <a:solidFill>
            <a:srgbClr val="F5F7FA"/>
          </a:solidFill>
          <a:ln w="12700">
            <a:solidFill>
              <a:srgbClr val="E2E8F0"/>
            </a:solidFill>
            <a:prstDash val="solid"/>
          </a:ln>
        </p:spPr>
      </p:sp>
      <p:sp>
        <p:nvSpPr>
          <p:cNvPr id="14" name="Shape 12"/>
          <p:cNvSpPr/>
          <p:nvPr/>
        </p:nvSpPr>
        <p:spPr>
          <a:xfrm>
            <a:off x="777240" y="3675888"/>
            <a:ext cx="457200" cy="457200"/>
          </a:xfrm>
          <a:prstGeom prst="ellipse">
            <a:avLst/>
          </a:prstGeom>
          <a:solidFill>
            <a:srgbClr val="1B2A8F"/>
          </a:solidFill>
          <a:ln w="12700">
            <a:solidFill>
              <a:srgbClr val="1B2A8F"/>
            </a:solidFill>
            <a:prstDash val="solid"/>
          </a:ln>
        </p:spPr>
      </p:sp>
      <p:sp>
        <p:nvSpPr>
          <p:cNvPr id="15" name="Text 13"/>
          <p:cNvSpPr txBox="1"/>
          <p:nvPr/>
        </p:nvSpPr>
        <p:spPr>
          <a:xfrm>
            <a:off x="77724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Q</a:t>
            </a:r>
            <a:endParaRPr lang="en-US" sz="1600" dirty="0"/>
          </a:p>
        </p:txBody>
      </p:sp>
      <p:sp>
        <p:nvSpPr>
          <p:cNvPr id="16" name="Text 14"/>
          <p:cNvSpPr txBox="1"/>
          <p:nvPr/>
        </p:nvSpPr>
        <p:spPr>
          <a:xfrm>
            <a:off x="137160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QA Assessor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Quality assurance</a:t>
            </a:r>
            <a:endParaRPr lang="en-US" sz="1800" dirty="0"/>
          </a:p>
        </p:txBody>
      </p:sp>
      <p:sp>
        <p:nvSpPr>
          <p:cNvPr id="17" name="Text 15"/>
          <p:cNvSpPr txBox="1"/>
          <p:nvPr/>
        </p:nvSpPr>
        <p:spPr>
          <a:xfrm>
            <a:off x="86868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Sees every activity</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Starts reviews and records QAME results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Returns work with a note; does not publish</a:t>
            </a:r>
            <a:endParaRPr lang="en-US" sz="1300" dirty="0"/>
          </a:p>
        </p:txBody>
      </p:sp>
      <p:sp>
        <p:nvSpPr>
          <p:cNvPr id="18" name="Shape 16"/>
          <p:cNvSpPr/>
          <p:nvPr/>
        </p:nvSpPr>
        <p:spPr>
          <a:xfrm>
            <a:off x="6172200" y="3474720"/>
            <a:ext cx="5440680" cy="2057400"/>
          </a:xfrm>
          <a:prstGeom prst="roundRect">
            <a:avLst>
              <a:gd name="adj" fmla="val 2667"/>
            </a:avLst>
          </a:prstGeom>
          <a:solidFill>
            <a:srgbClr val="EEF2FF"/>
          </a:solidFill>
          <a:ln w="31750">
            <a:solidFill>
              <a:srgbClr val="F2B705"/>
            </a:solidFill>
            <a:prstDash val="solid"/>
          </a:ln>
        </p:spPr>
      </p:sp>
      <p:sp>
        <p:nvSpPr>
          <p:cNvPr id="19" name="Shape 17"/>
          <p:cNvSpPr/>
          <p:nvPr/>
        </p:nvSpPr>
        <p:spPr>
          <a:xfrm>
            <a:off x="6400800" y="3675888"/>
            <a:ext cx="457200" cy="457200"/>
          </a:xfrm>
          <a:prstGeom prst="ellipse">
            <a:avLst/>
          </a:prstGeom>
          <a:solidFill>
            <a:srgbClr val="1B2A8F"/>
          </a:solidFill>
          <a:ln w="12700">
            <a:solidFill>
              <a:srgbClr val="1B2A8F"/>
            </a:solidFill>
            <a:prstDash val="solid"/>
          </a:ln>
        </p:spPr>
      </p:sp>
      <p:sp>
        <p:nvSpPr>
          <p:cNvPr id="20" name="Text 18"/>
          <p:cNvSpPr txBox="1"/>
          <p:nvPr/>
        </p:nvSpPr>
        <p:spPr>
          <a:xfrm>
            <a:off x="640080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I</a:t>
            </a:r>
            <a:endParaRPr lang="en-US" sz="1600" dirty="0"/>
          </a:p>
        </p:txBody>
      </p:sp>
      <p:sp>
        <p:nvSpPr>
          <p:cNvPr id="21" name="Text 19"/>
          <p:cNvSpPr txBox="1"/>
          <p:nvPr/>
        </p:nvSpPr>
        <p:spPr>
          <a:xfrm>
            <a:off x="6995160" y="3630168"/>
            <a:ext cx="3429000" cy="566928"/>
          </a:xfrm>
          <a:prstGeom prst="rect">
            <a:avLst/>
          </a:prstGeom>
          <a:noFill/>
          <a:ln/>
        </p:spPr>
        <p:txBody>
          <a:bodyPr wrap="square" lIns="0" tIns="0" rIns="0" bIns="0" rtlCol="0" anchor="ctr"/>
          <a:lstStyle/>
          <a:p>
            <a:pPr indent="0" marL="0">
              <a:buNone/>
            </a:pPr>
            <a:r>
              <a:rPr lang="en-US" sz="1800" b="1" dirty="0">
                <a:solidFill>
                  <a:srgbClr val="1E293B"/>
                </a:solidFill>
                <a:latin typeface="Palatino Linotype" pitchFamily="34" charset="0"/>
                <a:ea typeface="Palatino Linotype" pitchFamily="34" charset="-122"/>
                <a:cs typeface="Palatino Linotype" pitchFamily="34" charset="-120"/>
              </a:rPr>
              <a:t>Implementer</a:t>
            </a:r>
            <a:endParaRPr lang="en-US" sz="1800" dirty="0"/>
          </a:p>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Staff who run activities</a:t>
            </a:r>
            <a:endParaRPr lang="en-US" sz="1800" dirty="0"/>
          </a:p>
        </p:txBody>
      </p:sp>
      <p:sp>
        <p:nvSpPr>
          <p:cNvPr id="22" name="Shape 20"/>
          <p:cNvSpPr/>
          <p:nvPr/>
        </p:nvSpPr>
        <p:spPr>
          <a:xfrm>
            <a:off x="10424160" y="3703320"/>
            <a:ext cx="987552" cy="329184"/>
          </a:xfrm>
          <a:prstGeom prst="roundRect">
            <a:avLst>
              <a:gd name="adj" fmla="val 50000"/>
            </a:avLst>
          </a:prstGeom>
          <a:solidFill>
            <a:srgbClr val="F2B705"/>
          </a:solidFill>
          <a:ln w="12700">
            <a:solidFill>
              <a:srgbClr val="F2B705"/>
            </a:solidFill>
            <a:prstDash val="solid"/>
          </a:ln>
        </p:spPr>
      </p:sp>
      <p:sp>
        <p:nvSpPr>
          <p:cNvPr id="23" name="Text 21"/>
          <p:cNvSpPr txBox="1"/>
          <p:nvPr/>
        </p:nvSpPr>
        <p:spPr>
          <a:xfrm>
            <a:off x="10424160" y="3703320"/>
            <a:ext cx="987552" cy="329184"/>
          </a:xfrm>
          <a:prstGeom prst="rect">
            <a:avLst/>
          </a:prstGeom>
          <a:noFill/>
          <a:ln/>
        </p:spPr>
        <p:txBody>
          <a:bodyPr wrap="square" lIns="0" tIns="0" rIns="0" bIns="0" rtlCol="0" anchor="ctr"/>
          <a:lstStyle/>
          <a:p>
            <a:pPr algn="ctr" indent="0" marL="0">
              <a:buNone/>
            </a:pPr>
            <a:r>
              <a:rPr lang="en-US" sz="1100" b="1" dirty="0">
                <a:solidFill>
                  <a:srgbClr val="1E293B"/>
                </a:solidFill>
                <a:latin typeface="Palatino Linotype" pitchFamily="34" charset="0"/>
                <a:ea typeface="Palatino Linotype" pitchFamily="34" charset="-122"/>
                <a:cs typeface="Palatino Linotype" pitchFamily="34" charset="-120"/>
              </a:rPr>
              <a:t>Your role</a:t>
            </a:r>
            <a:endParaRPr lang="en-US" sz="1100" dirty="0"/>
          </a:p>
        </p:txBody>
      </p:sp>
      <p:sp>
        <p:nvSpPr>
          <p:cNvPr id="24" name="Text 22"/>
          <p:cNvSpPr txBox="1"/>
          <p:nvPr/>
        </p:nvSpPr>
        <p:spPr>
          <a:xfrm>
            <a:off x="6492240" y="4343400"/>
            <a:ext cx="489204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Works in their own division</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Creates and submits activities</a:t>
            </a:r>
            <a:endParaRPr lang="en-US" sz="1300" dirty="0"/>
          </a:p>
          <a:p>
            <a:pPr marL="342900" indent="-342900">
              <a:spcAft>
                <a:spcPts val="400"/>
              </a:spcAft>
              <a:buSzPct val="100000"/>
              <a:buChar char="•"/>
            </a:pPr>
            <a:r>
              <a:rPr lang="en-US" sz="1300" dirty="0">
                <a:solidFill>
                  <a:srgbClr val="1E293B"/>
                </a:solidFill>
                <a:latin typeface="Palatino Linotype" pitchFamily="34" charset="0"/>
                <a:ea typeface="Palatino Linotype" pitchFamily="34" charset="-122"/>
                <a:cs typeface="Palatino Linotype" pitchFamily="34" charset="-120"/>
              </a:rPr>
              <a:t>Adds evidence links and client feedback</a:t>
            </a:r>
            <a:endParaRPr lang="en-US" sz="1300" dirty="0"/>
          </a:p>
        </p:txBody>
      </p:sp>
      <p:sp>
        <p:nvSpPr>
          <p:cNvPr id="25" name="Shape 23"/>
          <p:cNvSpPr/>
          <p:nvPr/>
        </p:nvSpPr>
        <p:spPr>
          <a:xfrm>
            <a:off x="548640" y="5715000"/>
            <a:ext cx="11064240" cy="548640"/>
          </a:xfrm>
          <a:prstGeom prst="roundRect">
            <a:avLst>
              <a:gd name="adj" fmla="val 13333"/>
            </a:avLst>
          </a:prstGeom>
          <a:solidFill>
            <a:srgbClr val="EEF2FF"/>
          </a:solidFill>
          <a:ln w="12700">
            <a:solidFill>
              <a:srgbClr val="EEF2FF"/>
            </a:solidFill>
            <a:prstDash val="solid"/>
          </a:ln>
        </p:spPr>
      </p:sp>
      <p:sp>
        <p:nvSpPr>
          <p:cNvPr id="26" name="Text 24"/>
          <p:cNvSpPr txBox="1"/>
          <p:nvPr/>
        </p:nvSpPr>
        <p:spPr>
          <a:xfrm>
            <a:off x="749808" y="5806440"/>
            <a:ext cx="10661904" cy="3657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Checked by the system: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buttons you cannot use do not appear, and a change outside your role or division is refused.</a:t>
            </a:r>
            <a:endParaRPr lang="en-US" sz="1400" dirty="0"/>
          </a:p>
        </p:txBody>
      </p:sp>
      <p:sp>
        <p:nvSpPr>
          <p:cNvPr id="27" name="Text 2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8" name="Text 26"/>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Signing in</a:t>
            </a:r>
            <a:endParaRPr lang="en-US" sz="3400" dirty="0"/>
          </a:p>
        </p:txBody>
      </p:sp>
      <p:sp>
        <p:nvSpPr>
          <p:cNvPr id="3" name="signin frame"/>
          <p:cNvSpPr/>
          <p:nvPr/>
        </p:nvSpPr>
        <p:spPr>
          <a:xfrm>
            <a:off x="704088" y="1252728"/>
            <a:ext cx="4352544" cy="4668012"/>
          </a:xfrm>
          <a:prstGeom prst="roundRect">
            <a:avLst>
              <a:gd name="adj" fmla="val 63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signin" descr="DQAMP sign-in form with Email, Password and Sign in">    </p:cNvPr>
          <p:cNvPicPr>
            <a:picLocks noChangeAspect="1"/>
          </p:cNvPicPr>
          <p:nvPr/>
        </p:nvPicPr>
        <p:blipFill>
          <a:blip r:embed="rId1"/>
          <a:stretch>
            <a:fillRect/>
          </a:stretch>
        </p:blipFill>
        <p:spPr>
          <a:xfrm>
            <a:off x="777240" y="1325880"/>
            <a:ext cx="4206240" cy="4521708"/>
          </a:xfrm>
          <a:prstGeom prst="rect">
            <a:avLst/>
          </a:prstGeom>
        </p:spPr>
      </p:pic>
      <p:sp>
        <p:nvSpPr>
          <p:cNvPr id="5" name="Highlight 1"/>
          <p:cNvSpPr/>
          <p:nvPr/>
        </p:nvSpPr>
        <p:spPr>
          <a:xfrm>
            <a:off x="1017478" y="2713274"/>
            <a:ext cx="3725764" cy="456369"/>
          </a:xfrm>
          <a:prstGeom prst="roundRect">
            <a:avLst>
              <a:gd name="adj" fmla="val 10018"/>
            </a:avLst>
          </a:prstGeom>
          <a:ln w="31750">
            <a:solidFill>
              <a:srgbClr val="EA580C"/>
            </a:solidFill>
            <a:prstDash val="solid"/>
          </a:ln>
        </p:spPr>
      </p:sp>
      <p:sp>
        <p:nvSpPr>
          <p:cNvPr id="6" name="Highlight 2"/>
          <p:cNvSpPr/>
          <p:nvPr/>
        </p:nvSpPr>
        <p:spPr>
          <a:xfrm>
            <a:off x="1017478" y="3535403"/>
            <a:ext cx="3725764" cy="456369"/>
          </a:xfrm>
          <a:prstGeom prst="roundRect">
            <a:avLst>
              <a:gd name="adj" fmla="val 10018"/>
            </a:avLst>
          </a:prstGeom>
          <a:ln w="31750">
            <a:solidFill>
              <a:srgbClr val="EA580C"/>
            </a:solidFill>
            <a:prstDash val="solid"/>
          </a:ln>
        </p:spPr>
      </p:sp>
      <p:sp>
        <p:nvSpPr>
          <p:cNvPr id="7" name="Highlight 3"/>
          <p:cNvSpPr/>
          <p:nvPr/>
        </p:nvSpPr>
        <p:spPr>
          <a:xfrm>
            <a:off x="1017478" y="4128100"/>
            <a:ext cx="3725764" cy="475488"/>
          </a:xfrm>
          <a:prstGeom prst="roundRect">
            <a:avLst>
              <a:gd name="adj" fmla="val 9615"/>
            </a:avLst>
          </a:prstGeom>
          <a:ln w="31750">
            <a:solidFill>
              <a:srgbClr val="EA580C"/>
            </a:solidFill>
            <a:prstDash val="solid"/>
          </a:ln>
        </p:spPr>
      </p:sp>
      <p:sp>
        <p:nvSpPr>
          <p:cNvPr id="8" name="Callout number 1"/>
          <p:cNvSpPr/>
          <p:nvPr/>
        </p:nvSpPr>
        <p:spPr>
          <a:xfrm>
            <a:off x="660862" y="2786011"/>
            <a:ext cx="310896" cy="310896"/>
          </a:xfrm>
          <a:prstGeom prst="ellipse">
            <a:avLst/>
          </a:prstGeom>
          <a:solidFill>
            <a:srgbClr val="1B2A8F"/>
          </a:solidFill>
          <a:ln w="25400">
            <a:solidFill>
              <a:srgbClr val="EA580C"/>
            </a:solidFill>
            <a:prstDash val="solid"/>
          </a:ln>
        </p:spPr>
      </p:sp>
      <p:sp>
        <p:nvSpPr>
          <p:cNvPr id="9" name="Text 6"/>
          <p:cNvSpPr txBox="1"/>
          <p:nvPr/>
        </p:nvSpPr>
        <p:spPr>
          <a:xfrm>
            <a:off x="660862" y="278601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60862" y="3608139"/>
            <a:ext cx="310896" cy="310896"/>
          </a:xfrm>
          <a:prstGeom prst="ellipse">
            <a:avLst/>
          </a:prstGeom>
          <a:solidFill>
            <a:srgbClr val="1B2A8F"/>
          </a:solidFill>
          <a:ln w="25400">
            <a:solidFill>
              <a:srgbClr val="EA580C"/>
            </a:solidFill>
            <a:prstDash val="solid"/>
          </a:ln>
        </p:spPr>
      </p:sp>
      <p:sp>
        <p:nvSpPr>
          <p:cNvPr id="11" name="Text 8"/>
          <p:cNvSpPr txBox="1"/>
          <p:nvPr/>
        </p:nvSpPr>
        <p:spPr>
          <a:xfrm>
            <a:off x="660862" y="360813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60862" y="4210396"/>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60862" y="42103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Callout number 1"/>
          <p:cNvSpPr/>
          <p:nvPr/>
        </p:nvSpPr>
        <p:spPr>
          <a:xfrm>
            <a:off x="5852160" y="1344168"/>
            <a:ext cx="365760" cy="365760"/>
          </a:xfrm>
          <a:prstGeom prst="ellipse">
            <a:avLst/>
          </a:prstGeom>
          <a:solidFill>
            <a:srgbClr val="1B2A8F"/>
          </a:solidFill>
          <a:ln w="25400">
            <a:solidFill>
              <a:srgbClr val="EA580C"/>
            </a:solidFill>
            <a:prstDash val="solid"/>
          </a:ln>
        </p:spPr>
      </p:sp>
      <p:sp>
        <p:nvSpPr>
          <p:cNvPr id="15" name="Text 12"/>
          <p:cNvSpPr txBox="1"/>
          <p:nvPr/>
        </p:nvSpPr>
        <p:spPr>
          <a:xfrm>
            <a:off x="58521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6" name="Legend 1"/>
          <p:cNvSpPr txBox="1"/>
          <p:nvPr/>
        </p:nvSpPr>
        <p:spPr>
          <a:xfrm>
            <a:off x="6382512" y="132588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Email</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address your administrator registered for you.</a:t>
            </a:r>
            <a:endParaRPr lang="en-US" sz="1600" dirty="0"/>
          </a:p>
        </p:txBody>
      </p:sp>
      <p:sp>
        <p:nvSpPr>
          <p:cNvPr id="17" name="Callout number 2"/>
          <p:cNvSpPr/>
          <p:nvPr/>
        </p:nvSpPr>
        <p:spPr>
          <a:xfrm>
            <a:off x="5852160" y="2167128"/>
            <a:ext cx="365760" cy="365760"/>
          </a:xfrm>
          <a:prstGeom prst="ellipse">
            <a:avLst/>
          </a:prstGeom>
          <a:solidFill>
            <a:srgbClr val="1B2A8F"/>
          </a:solidFill>
          <a:ln w="25400">
            <a:solidFill>
              <a:srgbClr val="EA580C"/>
            </a:solidFill>
            <a:prstDash val="solid"/>
          </a:ln>
        </p:spPr>
      </p:sp>
      <p:sp>
        <p:nvSpPr>
          <p:cNvPr id="18" name="Text 15"/>
          <p:cNvSpPr txBox="1"/>
          <p:nvPr/>
        </p:nvSpPr>
        <p:spPr>
          <a:xfrm>
            <a:off x="5852160" y="2167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9" name="Legend 2"/>
          <p:cNvSpPr txBox="1"/>
          <p:nvPr/>
        </p:nvSpPr>
        <p:spPr>
          <a:xfrm>
            <a:off x="6382512" y="214884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Password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The temporary password your administrator gave you.</a:t>
            </a:r>
            <a:endParaRPr lang="en-US" sz="1600" dirty="0"/>
          </a:p>
        </p:txBody>
      </p:sp>
      <p:sp>
        <p:nvSpPr>
          <p:cNvPr id="20" name="Callout number 3"/>
          <p:cNvSpPr/>
          <p:nvPr/>
        </p:nvSpPr>
        <p:spPr>
          <a:xfrm>
            <a:off x="5852160" y="2990088"/>
            <a:ext cx="365760" cy="365760"/>
          </a:xfrm>
          <a:prstGeom prst="ellipse">
            <a:avLst/>
          </a:prstGeom>
          <a:solidFill>
            <a:srgbClr val="1B2A8F"/>
          </a:solidFill>
          <a:ln w="25400">
            <a:solidFill>
              <a:srgbClr val="EA580C"/>
            </a:solidFill>
            <a:prstDash val="solid"/>
          </a:ln>
        </p:spPr>
      </p:sp>
      <p:sp>
        <p:nvSpPr>
          <p:cNvPr id="21" name="Text 18"/>
          <p:cNvSpPr txBox="1"/>
          <p:nvPr/>
        </p:nvSpPr>
        <p:spPr>
          <a:xfrm>
            <a:off x="5852160" y="2990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Legend 3"/>
          <p:cNvSpPr txBox="1"/>
          <p:nvPr/>
        </p:nvSpPr>
        <p:spPr>
          <a:xfrm>
            <a:off x="6382512" y="2971800"/>
            <a:ext cx="5230368" cy="76809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Sign in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Dashboard.</a:t>
            </a:r>
            <a:endParaRPr lang="en-US" sz="1600" dirty="0"/>
          </a:p>
        </p:txBody>
      </p:sp>
      <p:sp>
        <p:nvSpPr>
          <p:cNvPr id="23" name="Shape 20"/>
          <p:cNvSpPr/>
          <p:nvPr/>
        </p:nvSpPr>
        <p:spPr>
          <a:xfrm>
            <a:off x="5852160" y="3977640"/>
            <a:ext cx="5760720" cy="777240"/>
          </a:xfrm>
          <a:prstGeom prst="roundRect">
            <a:avLst>
              <a:gd name="adj" fmla="val 9412"/>
            </a:avLst>
          </a:prstGeom>
          <a:solidFill>
            <a:srgbClr val="EEF2FF"/>
          </a:solidFill>
          <a:ln w="12700">
            <a:solidFill>
              <a:srgbClr val="EEF2FF"/>
            </a:solidFill>
            <a:prstDash val="solid"/>
          </a:ln>
        </p:spPr>
      </p:sp>
      <p:sp>
        <p:nvSpPr>
          <p:cNvPr id="24" name="Text 21"/>
          <p:cNvSpPr txBox="1"/>
          <p:nvPr/>
        </p:nvSpPr>
        <p:spPr>
          <a:xfrm>
            <a:off x="6053328" y="406908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Where: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Open DQAMP on the computer where it runs, at http://127.0.0.1:3002.</a:t>
            </a:r>
            <a:endParaRPr lang="en-US" sz="1400" dirty="0"/>
          </a:p>
        </p:txBody>
      </p:sp>
      <p:sp>
        <p:nvSpPr>
          <p:cNvPr id="25" name="Shape 22"/>
          <p:cNvSpPr/>
          <p:nvPr/>
        </p:nvSpPr>
        <p:spPr>
          <a:xfrm>
            <a:off x="5852160" y="4937760"/>
            <a:ext cx="5760720" cy="777240"/>
          </a:xfrm>
          <a:prstGeom prst="roundRect">
            <a:avLst>
              <a:gd name="adj" fmla="val 9412"/>
            </a:avLst>
          </a:prstGeom>
          <a:solidFill>
            <a:srgbClr val="EEF2FF"/>
          </a:solidFill>
          <a:ln w="12700">
            <a:solidFill>
              <a:srgbClr val="EEF2FF"/>
            </a:solidFill>
            <a:prstDash val="solid"/>
          </a:ln>
        </p:spPr>
      </p:sp>
      <p:sp>
        <p:nvSpPr>
          <p:cNvPr id="26" name="Text 23"/>
          <p:cNvSpPr txBox="1"/>
          <p:nvPr/>
        </p:nvSpPr>
        <p:spPr>
          <a:xfrm>
            <a:off x="6053328" y="5029200"/>
            <a:ext cx="5358384" cy="59436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No account yet?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Your administrator creates it. DQAMP does not send email invitations.</a:t>
            </a:r>
            <a:endParaRPr lang="en-US" sz="1400" dirty="0"/>
          </a:p>
        </p:txBody>
      </p:sp>
      <p:sp>
        <p:nvSpPr>
          <p:cNvPr id="27"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8" name="Text 25"/>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Finding your way</a:t>
            </a:r>
            <a:endParaRPr lang="en-US" sz="3400" dirty="0"/>
          </a:p>
        </p:txBody>
      </p:sp>
      <p:sp>
        <p:nvSpPr>
          <p:cNvPr id="3" name="i-dashboard frame"/>
          <p:cNvSpPr/>
          <p:nvPr/>
        </p:nvSpPr>
        <p:spPr>
          <a:xfrm>
            <a:off x="612648" y="1298448"/>
            <a:ext cx="6912864" cy="4375404"/>
          </a:xfrm>
          <a:prstGeom prst="roundRect">
            <a:avLst>
              <a:gd name="adj" fmla="val 62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i-dashboard" descr="DQAMP dashboard for an Implementer">    </p:cNvPr>
          <p:cNvPicPr>
            <a:picLocks noChangeAspect="1"/>
          </p:cNvPicPr>
          <p:nvPr/>
        </p:nvPicPr>
        <p:blipFill>
          <a:blip r:embed="rId1"/>
          <a:stretch>
            <a:fillRect/>
          </a:stretch>
        </p:blipFill>
        <p:spPr>
          <a:xfrm>
            <a:off x="685800" y="1371600"/>
            <a:ext cx="6766560" cy="4229100"/>
          </a:xfrm>
          <a:prstGeom prst="rect">
            <a:avLst/>
          </a:prstGeom>
        </p:spPr>
      </p:pic>
      <p:sp>
        <p:nvSpPr>
          <p:cNvPr id="5" name="Highlight 1"/>
          <p:cNvSpPr/>
          <p:nvPr/>
        </p:nvSpPr>
        <p:spPr>
          <a:xfrm>
            <a:off x="658368" y="1749604"/>
            <a:ext cx="1253109" cy="3535501"/>
          </a:xfrm>
          <a:prstGeom prst="roundRect">
            <a:avLst>
              <a:gd name="adj" fmla="val 3649"/>
            </a:avLst>
          </a:prstGeom>
          <a:ln w="31750">
            <a:solidFill>
              <a:srgbClr val="EA580C"/>
            </a:solidFill>
            <a:prstDash val="solid"/>
          </a:ln>
        </p:spPr>
      </p:sp>
      <p:sp>
        <p:nvSpPr>
          <p:cNvPr id="6" name="Highlight 2"/>
          <p:cNvSpPr/>
          <p:nvPr/>
        </p:nvSpPr>
        <p:spPr>
          <a:xfrm>
            <a:off x="2011680" y="2312089"/>
            <a:ext cx="5317744" cy="605088"/>
          </a:xfrm>
          <a:prstGeom prst="roundRect">
            <a:avLst>
              <a:gd name="adj" fmla="val 7556"/>
            </a:avLst>
          </a:prstGeom>
          <a:ln w="31750">
            <a:solidFill>
              <a:srgbClr val="EA580C"/>
            </a:solidFill>
            <a:prstDash val="solid"/>
          </a:ln>
        </p:spPr>
      </p:sp>
      <p:sp>
        <p:nvSpPr>
          <p:cNvPr id="7" name="Callout number 1"/>
          <p:cNvSpPr/>
          <p:nvPr/>
        </p:nvSpPr>
        <p:spPr>
          <a:xfrm>
            <a:off x="502920" y="1594156"/>
            <a:ext cx="310896" cy="310896"/>
          </a:xfrm>
          <a:prstGeom prst="ellipse">
            <a:avLst/>
          </a:prstGeom>
          <a:solidFill>
            <a:srgbClr val="1B2A8F"/>
          </a:solidFill>
          <a:ln w="25400">
            <a:solidFill>
              <a:srgbClr val="EA580C"/>
            </a:solidFill>
            <a:prstDash val="solid"/>
          </a:ln>
        </p:spPr>
      </p:sp>
      <p:sp>
        <p:nvSpPr>
          <p:cNvPr id="8" name="Text 5"/>
          <p:cNvSpPr txBox="1"/>
          <p:nvPr/>
        </p:nvSpPr>
        <p:spPr>
          <a:xfrm>
            <a:off x="502920" y="15941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4515104" y="1955473"/>
            <a:ext cx="310896" cy="310896"/>
          </a:xfrm>
          <a:prstGeom prst="ellipse">
            <a:avLst/>
          </a:prstGeom>
          <a:solidFill>
            <a:srgbClr val="1B2A8F"/>
          </a:solidFill>
          <a:ln w="25400">
            <a:solidFill>
              <a:srgbClr val="EA580C"/>
            </a:solidFill>
            <a:prstDash val="solid"/>
          </a:ln>
        </p:spPr>
      </p:sp>
      <p:sp>
        <p:nvSpPr>
          <p:cNvPr id="10" name="Text 7"/>
          <p:cNvSpPr txBox="1"/>
          <p:nvPr/>
        </p:nvSpPr>
        <p:spPr>
          <a:xfrm>
            <a:off x="4515104" y="195547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Callout number 1"/>
          <p:cNvSpPr/>
          <p:nvPr/>
        </p:nvSpPr>
        <p:spPr>
          <a:xfrm>
            <a:off x="7818120" y="1344168"/>
            <a:ext cx="365760" cy="365760"/>
          </a:xfrm>
          <a:prstGeom prst="ellipse">
            <a:avLst/>
          </a:prstGeom>
          <a:solidFill>
            <a:srgbClr val="1B2A8F"/>
          </a:solidFill>
          <a:ln w="25400">
            <a:solidFill>
              <a:srgbClr val="EA580C"/>
            </a:solidFill>
            <a:prstDash val="solid"/>
          </a:ln>
        </p:spPr>
      </p:sp>
      <p:sp>
        <p:nvSpPr>
          <p:cNvPr id="12" name="Text 9"/>
          <p:cNvSpPr txBox="1"/>
          <p:nvPr/>
        </p:nvSpPr>
        <p:spPr>
          <a:xfrm>
            <a:off x="781812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3" name="Legend 1"/>
          <p:cNvSpPr txBox="1"/>
          <p:nvPr/>
        </p:nvSpPr>
        <p:spPr>
          <a:xfrm>
            <a:off x="8348472" y="132588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Menu</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My Work: outputs, projects, activities and calendar.</a:t>
            </a:r>
            <a:endParaRPr lang="en-US" sz="1600" dirty="0"/>
          </a:p>
        </p:txBody>
      </p:sp>
      <p:sp>
        <p:nvSpPr>
          <p:cNvPr id="14" name="Callout number 2"/>
          <p:cNvSpPr/>
          <p:nvPr/>
        </p:nvSpPr>
        <p:spPr>
          <a:xfrm>
            <a:off x="7818120" y="2185416"/>
            <a:ext cx="365760" cy="365760"/>
          </a:xfrm>
          <a:prstGeom prst="ellipse">
            <a:avLst/>
          </a:prstGeom>
          <a:solidFill>
            <a:srgbClr val="1B2A8F"/>
          </a:solidFill>
          <a:ln w="25400">
            <a:solidFill>
              <a:srgbClr val="EA580C"/>
            </a:solidFill>
            <a:prstDash val="solid"/>
          </a:ln>
        </p:spPr>
      </p:sp>
      <p:sp>
        <p:nvSpPr>
          <p:cNvPr id="15" name="Text 12"/>
          <p:cNvSpPr txBox="1"/>
          <p:nvPr/>
        </p:nvSpPr>
        <p:spPr>
          <a:xfrm>
            <a:off x="7818120" y="2185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6" name="Legend 2"/>
          <p:cNvSpPr txBox="1"/>
          <p:nvPr/>
        </p:nvSpPr>
        <p:spPr>
          <a:xfrm>
            <a:off x="8348472" y="216712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Headline figures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Your division's activities, projects, allocation and completion.</a:t>
            </a:r>
            <a:endParaRPr lang="en-US" sz="1600" dirty="0"/>
          </a:p>
        </p:txBody>
      </p:sp>
      <p:sp>
        <p:nvSpPr>
          <p:cNvPr id="17" name="Shape 14"/>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8" name="Text 15"/>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see your own division's activities only.</a:t>
            </a:r>
            <a:endParaRPr lang="en-US" sz="1400" dirty="0"/>
          </a:p>
        </p:txBody>
      </p:sp>
      <p:sp>
        <p:nvSpPr>
          <p:cNvPr id="19"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0"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The workflow at a glance</a:t>
            </a:r>
            <a:endParaRPr lang="en-US" sz="3400" dirty="0"/>
          </a:p>
        </p:txBody>
      </p:sp>
      <p:sp>
        <p:nvSpPr>
          <p:cNvPr id="3" name="Shape 1"/>
          <p:cNvSpPr/>
          <p:nvPr/>
        </p:nvSpPr>
        <p:spPr>
          <a:xfrm>
            <a:off x="1897380" y="2034540"/>
            <a:ext cx="8366760" cy="0"/>
          </a:xfrm>
          <a:prstGeom prst="line">
            <a:avLst/>
          </a:prstGeom>
          <a:noFill/>
          <a:ln w="25400">
            <a:solidFill>
              <a:srgbClr val="1B2A8F"/>
            </a:solidFill>
            <a:prstDash val="solid"/>
          </a:ln>
        </p:spPr>
      </p:sp>
      <p:sp>
        <p:nvSpPr>
          <p:cNvPr id="4" name="Shape 2"/>
          <p:cNvSpPr/>
          <p:nvPr/>
        </p:nvSpPr>
        <p:spPr>
          <a:xfrm>
            <a:off x="1463040" y="1600200"/>
            <a:ext cx="868680" cy="868680"/>
          </a:xfrm>
          <a:prstGeom prst="ellipse">
            <a:avLst/>
          </a:prstGeom>
          <a:solidFill>
            <a:srgbClr val="1B2A8F"/>
          </a:solidFill>
          <a:ln w="31750">
            <a:solidFill>
              <a:srgbClr val="1B2A8F"/>
            </a:solidFill>
            <a:prstDash val="solid"/>
          </a:ln>
        </p:spPr>
      </p:sp>
      <p:sp>
        <p:nvSpPr>
          <p:cNvPr id="5" name="Text 3"/>
          <p:cNvSpPr txBox="1"/>
          <p:nvPr/>
        </p:nvSpPr>
        <p:spPr>
          <a:xfrm>
            <a:off x="1463040" y="160020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1</a:t>
            </a:r>
            <a:endParaRPr lang="en-US" sz="2600" dirty="0"/>
          </a:p>
        </p:txBody>
      </p:sp>
      <p:sp>
        <p:nvSpPr>
          <p:cNvPr id="6" name="Text 4"/>
          <p:cNvSpPr txBox="1"/>
          <p:nvPr/>
        </p:nvSpPr>
        <p:spPr>
          <a:xfrm>
            <a:off x="73152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Draft</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writes it</a:t>
            </a:r>
            <a:endParaRPr lang="en-US" sz="1600" dirty="0"/>
          </a:p>
        </p:txBody>
      </p:sp>
      <p:sp>
        <p:nvSpPr>
          <p:cNvPr id="7" name="Shape 5"/>
          <p:cNvSpPr/>
          <p:nvPr/>
        </p:nvSpPr>
        <p:spPr>
          <a:xfrm>
            <a:off x="4251960" y="1600200"/>
            <a:ext cx="868680" cy="868680"/>
          </a:xfrm>
          <a:prstGeom prst="ellipse">
            <a:avLst/>
          </a:prstGeom>
          <a:solidFill>
            <a:srgbClr val="1B2A8F"/>
          </a:solidFill>
          <a:ln w="31750">
            <a:solidFill>
              <a:srgbClr val="1B2A8F"/>
            </a:solidFill>
            <a:prstDash val="solid"/>
          </a:ln>
        </p:spPr>
      </p:sp>
      <p:sp>
        <p:nvSpPr>
          <p:cNvPr id="8" name="Text 6"/>
          <p:cNvSpPr txBox="1"/>
          <p:nvPr/>
        </p:nvSpPr>
        <p:spPr>
          <a:xfrm>
            <a:off x="4251960" y="160020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2</a:t>
            </a:r>
            <a:endParaRPr lang="en-US" sz="2600" dirty="0"/>
          </a:p>
        </p:txBody>
      </p:sp>
      <p:sp>
        <p:nvSpPr>
          <p:cNvPr id="9" name="Text 7"/>
          <p:cNvSpPr txBox="1"/>
          <p:nvPr/>
        </p:nvSpPr>
        <p:spPr>
          <a:xfrm>
            <a:off x="352044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Submitted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Implementer submits</a:t>
            </a:r>
            <a:endParaRPr lang="en-US" sz="1600" dirty="0"/>
          </a:p>
        </p:txBody>
      </p:sp>
      <p:sp>
        <p:nvSpPr>
          <p:cNvPr id="10" name="Shape 8"/>
          <p:cNvSpPr/>
          <p:nvPr/>
        </p:nvSpPr>
        <p:spPr>
          <a:xfrm>
            <a:off x="7040880" y="1600200"/>
            <a:ext cx="868680" cy="868680"/>
          </a:xfrm>
          <a:prstGeom prst="ellipse">
            <a:avLst/>
          </a:prstGeom>
          <a:solidFill>
            <a:srgbClr val="FFFFFF"/>
          </a:solidFill>
          <a:ln w="31750">
            <a:solidFill>
              <a:srgbClr val="1B2A8F"/>
            </a:solidFill>
            <a:prstDash val="solid"/>
          </a:ln>
        </p:spPr>
      </p:sp>
      <p:sp>
        <p:nvSpPr>
          <p:cNvPr id="11" name="Text 9"/>
          <p:cNvSpPr txBox="1"/>
          <p:nvPr/>
        </p:nvSpPr>
        <p:spPr>
          <a:xfrm>
            <a:off x="704088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3</a:t>
            </a:r>
            <a:endParaRPr lang="en-US" sz="2600" dirty="0"/>
          </a:p>
        </p:txBody>
      </p:sp>
      <p:sp>
        <p:nvSpPr>
          <p:cNvPr id="12" name="Text 10"/>
          <p:cNvSpPr txBox="1"/>
          <p:nvPr/>
        </p:nvSpPr>
        <p:spPr>
          <a:xfrm>
            <a:off x="630936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Under Review</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QA Assessor reviews</a:t>
            </a:r>
            <a:endParaRPr lang="en-US" sz="1600" dirty="0"/>
          </a:p>
        </p:txBody>
      </p:sp>
      <p:sp>
        <p:nvSpPr>
          <p:cNvPr id="13" name="Shape 11"/>
          <p:cNvSpPr/>
          <p:nvPr/>
        </p:nvSpPr>
        <p:spPr>
          <a:xfrm>
            <a:off x="9829800" y="1600200"/>
            <a:ext cx="868680" cy="868680"/>
          </a:xfrm>
          <a:prstGeom prst="ellipse">
            <a:avLst/>
          </a:prstGeom>
          <a:solidFill>
            <a:srgbClr val="FFFFFF"/>
          </a:solidFill>
          <a:ln w="31750">
            <a:solidFill>
              <a:srgbClr val="1B2A8F"/>
            </a:solidFill>
            <a:prstDash val="solid"/>
          </a:ln>
        </p:spPr>
      </p:sp>
      <p:sp>
        <p:nvSpPr>
          <p:cNvPr id="14" name="Text 12"/>
          <p:cNvSpPr txBox="1"/>
          <p:nvPr/>
        </p:nvSpPr>
        <p:spPr>
          <a:xfrm>
            <a:off x="9829800" y="1600200"/>
            <a:ext cx="868680" cy="868680"/>
          </a:xfrm>
          <a:prstGeom prst="rect">
            <a:avLst/>
          </a:prstGeom>
          <a:noFill/>
          <a:ln/>
        </p:spPr>
        <p:txBody>
          <a:bodyPr wrap="square" lIns="0" tIns="0" rIns="0" bIns="0" rtlCol="0" anchor="ctr"/>
          <a:lstStyle/>
          <a:p>
            <a:pPr algn="ctr" indent="0" marL="0">
              <a:buNone/>
            </a:pPr>
            <a:r>
              <a:rPr lang="en-US" sz="2600" b="1" dirty="0">
                <a:solidFill>
                  <a:srgbClr val="1B2A8F"/>
                </a:solidFill>
                <a:latin typeface="Century Gothic" pitchFamily="34" charset="0"/>
                <a:ea typeface="Century Gothic" pitchFamily="34" charset="-122"/>
                <a:cs typeface="Century Gothic" pitchFamily="34" charset="-120"/>
              </a:rPr>
              <a:t>4</a:t>
            </a:r>
            <a:endParaRPr lang="en-US" sz="2600" dirty="0"/>
          </a:p>
        </p:txBody>
      </p:sp>
      <p:sp>
        <p:nvSpPr>
          <p:cNvPr id="15" name="Text 13"/>
          <p:cNvSpPr txBox="1"/>
          <p:nvPr/>
        </p:nvSpPr>
        <p:spPr>
          <a:xfrm>
            <a:off x="9098280" y="2606040"/>
            <a:ext cx="2331720" cy="731520"/>
          </a:xfrm>
          <a:prstGeom prst="rect">
            <a:avLst/>
          </a:prstGeom>
          <a:noFill/>
          <a:ln/>
        </p:spPr>
        <p:txBody>
          <a:bodyPr wrap="square" lIns="0" tIns="0" rIns="0" bIns="0" rtlCol="0" anchor="t"/>
          <a:lstStyle/>
          <a:p>
            <a:pPr algn="ctr" indent="0" marL="0">
              <a:buNone/>
            </a:pPr>
            <a:r>
              <a:rPr lang="en-US" sz="1600" b="1" dirty="0">
                <a:solidFill>
                  <a:srgbClr val="1E293B"/>
                </a:solidFill>
                <a:latin typeface="Palatino Linotype" pitchFamily="34" charset="0"/>
                <a:ea typeface="Palatino Linotype" pitchFamily="34" charset="-122"/>
                <a:cs typeface="Palatino Linotype" pitchFamily="34" charset="-120"/>
              </a:rPr>
              <a:t>Published</a:t>
            </a:r>
            <a:endParaRPr lang="en-US" sz="1600" dirty="0"/>
          </a:p>
          <a:p>
            <a:pPr algn="ctr" indent="0" marL="0">
              <a:buNone/>
            </a:pPr>
            <a:r>
              <a:rPr lang="en-US" sz="1300" dirty="0">
                <a:solidFill>
                  <a:srgbClr val="536379"/>
                </a:solidFill>
                <a:latin typeface="Palatino Linotype" pitchFamily="34" charset="0"/>
                <a:ea typeface="Palatino Linotype" pitchFamily="34" charset="-122"/>
                <a:cs typeface="Palatino Linotype" pitchFamily="34" charset="-120"/>
              </a:rPr>
              <a:t>Administrator publishes</a:t>
            </a:r>
            <a:endParaRPr lang="en-US" sz="1600" dirty="0"/>
          </a:p>
        </p:txBody>
      </p:sp>
      <p:sp>
        <p:nvSpPr>
          <p:cNvPr id="16" name="Text 14"/>
          <p:cNvSpPr txBox="1"/>
          <p:nvPr/>
        </p:nvSpPr>
        <p:spPr>
          <a:xfrm>
            <a:off x="548640" y="3520440"/>
            <a:ext cx="11064240" cy="365760"/>
          </a:xfrm>
          <a:prstGeom prst="rect">
            <a:avLst/>
          </a:prstGeom>
          <a:noFill/>
          <a:ln/>
        </p:spPr>
        <p:txBody>
          <a:bodyPr wrap="square" lIns="0" tIns="0" rIns="0" bIns="0" rtlCol="0" anchor="ctr"/>
          <a:lstStyle/>
          <a:p>
            <a:pPr indent="0" marL="0">
              <a:buNone/>
            </a:pPr>
            <a:r>
              <a:rPr lang="en-US" sz="1300" dirty="0">
                <a:solidFill>
                  <a:srgbClr val="536379"/>
                </a:solidFill>
                <a:latin typeface="Palatino Linotype" pitchFamily="34" charset="0"/>
                <a:ea typeface="Palatino Linotype" pitchFamily="34" charset="-122"/>
                <a:cs typeface="Palatino Linotype" pitchFamily="34" charset="-120"/>
              </a:rPr>
              <a:t>You act at steps 1 and 2: write the activity, then submit it for review.</a:t>
            </a:r>
            <a:endParaRPr lang="en-US" sz="1300" dirty="0"/>
          </a:p>
        </p:txBody>
      </p:sp>
      <p:sp>
        <p:nvSpPr>
          <p:cNvPr id="17" name="Shape 15"/>
          <p:cNvSpPr/>
          <p:nvPr/>
        </p:nvSpPr>
        <p:spPr>
          <a:xfrm>
            <a:off x="548640" y="4069080"/>
            <a:ext cx="11064240" cy="868680"/>
          </a:xfrm>
          <a:prstGeom prst="roundRect">
            <a:avLst>
              <a:gd name="adj" fmla="val 8421"/>
            </a:avLst>
          </a:prstGeom>
          <a:solidFill>
            <a:srgbClr val="FFF4ED"/>
          </a:solidFill>
          <a:ln w="12700">
            <a:solidFill>
              <a:srgbClr val="FFF4ED"/>
            </a:solidFill>
            <a:prstDash val="solid"/>
          </a:ln>
        </p:spPr>
      </p:sp>
      <p:sp>
        <p:nvSpPr>
          <p:cNvPr id="18" name="Text 16"/>
          <p:cNvSpPr txBox="1"/>
          <p:nvPr/>
        </p:nvSpPr>
        <p:spPr>
          <a:xfrm>
            <a:off x="749808" y="4160520"/>
            <a:ext cx="10661904" cy="685800"/>
          </a:xfrm>
          <a:prstGeom prst="rect">
            <a:avLst/>
          </a:prstGeom>
          <a:noFill/>
          <a:ln/>
        </p:spPr>
        <p:txBody>
          <a:bodyPr wrap="square" lIns="0" tIns="0" rIns="0" bIns="0" rtlCol="0" anchor="ctr"/>
          <a:lstStyle/>
          <a:p>
            <a:pPr indent="0" marL="0">
              <a:buNone/>
            </a:pPr>
            <a:r>
              <a:rPr lang="en-US" sz="1400" b="1" dirty="0">
                <a:solidFill>
                  <a:srgbClr val="EA580C"/>
                </a:solidFill>
                <a:latin typeface="Palatino Linotype" pitchFamily="34" charset="0"/>
                <a:ea typeface="Palatino Linotype" pitchFamily="34" charset="-122"/>
                <a:cs typeface="Palatino Linotype" pitchFamily="34" charset="-120"/>
              </a:rPr>
              <a:t>Returned for Revision: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QA Assessor sends an activity back with a note saying what to fix. The Implementer fixes it and submits again, so it returns to Submitted.</a:t>
            </a:r>
            <a:endParaRPr lang="en-US" sz="1400" dirty="0"/>
          </a:p>
        </p:txBody>
      </p:sp>
      <p:sp>
        <p:nvSpPr>
          <p:cNvPr id="19" name="Shape 17"/>
          <p:cNvSpPr/>
          <p:nvPr/>
        </p:nvSpPr>
        <p:spPr>
          <a:xfrm>
            <a:off x="548640" y="5120640"/>
            <a:ext cx="11064240" cy="685800"/>
          </a:xfrm>
          <a:prstGeom prst="roundRect">
            <a:avLst>
              <a:gd name="adj" fmla="val 10667"/>
            </a:avLst>
          </a:prstGeom>
          <a:solidFill>
            <a:srgbClr val="EEF2FF"/>
          </a:solidFill>
          <a:ln w="12700">
            <a:solidFill>
              <a:srgbClr val="EEF2FF"/>
            </a:solidFill>
            <a:prstDash val="solid"/>
          </a:ln>
        </p:spPr>
      </p:sp>
      <p:sp>
        <p:nvSpPr>
          <p:cNvPr id="20" name="Text 18"/>
          <p:cNvSpPr txBox="1"/>
          <p:nvPr/>
        </p:nvSpPr>
        <p:spPr>
          <a:xfrm>
            <a:off x="749808" y="5212080"/>
            <a:ext cx="10661904" cy="50292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Locked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an activity is Under Review or Published, only its reviewer or an administrator can change it.</a:t>
            </a:r>
            <a:endParaRPr lang="en-US" sz="1400" dirty="0"/>
          </a:p>
        </p:txBody>
      </p:sp>
      <p:sp>
        <p:nvSpPr>
          <p:cNvPr id="21"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2" name="Text 2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Create an activity</a:t>
            </a:r>
            <a:endParaRPr lang="en-US" sz="3400" dirty="0"/>
          </a:p>
        </p:txBody>
      </p:sp>
      <p:sp>
        <p:nvSpPr>
          <p:cNvPr id="3" name="i-new frame"/>
          <p:cNvSpPr/>
          <p:nvPr/>
        </p:nvSpPr>
        <p:spPr>
          <a:xfrm>
            <a:off x="6858852" y="1298448"/>
            <a:ext cx="4616015" cy="4855464"/>
          </a:xfrm>
          <a:prstGeom prst="roundRect">
            <a:avLst>
              <a:gd name="adj" fmla="val 594"/>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i-new" descr="New Activity form">    </p:cNvPr>
          <p:cNvPicPr>
            <a:picLocks noChangeAspect="1"/>
          </p:cNvPicPr>
          <p:nvPr/>
        </p:nvPicPr>
        <p:blipFill>
          <a:blip r:embed="rId1"/>
          <a:stretch>
            <a:fillRect/>
          </a:stretch>
        </p:blipFill>
        <p:spPr>
          <a:xfrm>
            <a:off x="6932004" y="1371600"/>
            <a:ext cx="4469711" cy="4709160"/>
          </a:xfrm>
          <a:prstGeom prst="rect">
            <a:avLst/>
          </a:prstGeom>
        </p:spPr>
      </p:pic>
      <p:sp>
        <p:nvSpPr>
          <p:cNvPr id="5" name="Highlight 1"/>
          <p:cNvSpPr/>
          <p:nvPr/>
        </p:nvSpPr>
        <p:spPr>
          <a:xfrm>
            <a:off x="7092711" y="1862974"/>
            <a:ext cx="4148298" cy="260106"/>
          </a:xfrm>
          <a:prstGeom prst="roundRect">
            <a:avLst>
              <a:gd name="adj" fmla="val 17577"/>
            </a:avLst>
          </a:prstGeom>
          <a:ln w="31750">
            <a:solidFill>
              <a:srgbClr val="EA580C"/>
            </a:solidFill>
            <a:prstDash val="solid"/>
          </a:ln>
        </p:spPr>
      </p:sp>
      <p:sp>
        <p:nvSpPr>
          <p:cNvPr id="6" name="Highlight 2"/>
          <p:cNvSpPr/>
          <p:nvPr/>
        </p:nvSpPr>
        <p:spPr>
          <a:xfrm>
            <a:off x="7092711" y="2968999"/>
            <a:ext cx="2055972" cy="260106"/>
          </a:xfrm>
          <a:prstGeom prst="roundRect">
            <a:avLst>
              <a:gd name="adj" fmla="val 17577"/>
            </a:avLst>
          </a:prstGeom>
          <a:ln w="31750">
            <a:solidFill>
              <a:srgbClr val="EA580C"/>
            </a:solidFill>
            <a:prstDash val="solid"/>
          </a:ln>
        </p:spPr>
      </p:sp>
      <p:sp>
        <p:nvSpPr>
          <p:cNvPr id="7" name="Highlight 3"/>
          <p:cNvSpPr/>
          <p:nvPr/>
        </p:nvSpPr>
        <p:spPr>
          <a:xfrm>
            <a:off x="7092711" y="5249464"/>
            <a:ext cx="3588159" cy="260106"/>
          </a:xfrm>
          <a:prstGeom prst="roundRect">
            <a:avLst>
              <a:gd name="adj" fmla="val 17577"/>
            </a:avLst>
          </a:prstGeom>
          <a:ln w="31750">
            <a:solidFill>
              <a:srgbClr val="EA580C"/>
            </a:solidFill>
            <a:prstDash val="solid"/>
          </a:ln>
        </p:spPr>
      </p:sp>
      <p:sp>
        <p:nvSpPr>
          <p:cNvPr id="8" name="Callout number 1"/>
          <p:cNvSpPr/>
          <p:nvPr/>
        </p:nvSpPr>
        <p:spPr>
          <a:xfrm>
            <a:off x="6736095" y="1837579"/>
            <a:ext cx="310896" cy="310896"/>
          </a:xfrm>
          <a:prstGeom prst="ellipse">
            <a:avLst/>
          </a:prstGeom>
          <a:solidFill>
            <a:srgbClr val="1B2A8F"/>
          </a:solidFill>
          <a:ln w="25400">
            <a:solidFill>
              <a:srgbClr val="EA580C"/>
            </a:solidFill>
            <a:prstDash val="solid"/>
          </a:ln>
        </p:spPr>
      </p:sp>
      <p:sp>
        <p:nvSpPr>
          <p:cNvPr id="9" name="Text 6"/>
          <p:cNvSpPr txBox="1"/>
          <p:nvPr/>
        </p:nvSpPr>
        <p:spPr>
          <a:xfrm>
            <a:off x="6736095" y="183757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6736095" y="2943604"/>
            <a:ext cx="310896" cy="310896"/>
          </a:xfrm>
          <a:prstGeom prst="ellipse">
            <a:avLst/>
          </a:prstGeom>
          <a:solidFill>
            <a:srgbClr val="1B2A8F"/>
          </a:solidFill>
          <a:ln w="25400">
            <a:solidFill>
              <a:srgbClr val="EA580C"/>
            </a:solidFill>
            <a:prstDash val="solid"/>
          </a:ln>
        </p:spPr>
      </p:sp>
      <p:sp>
        <p:nvSpPr>
          <p:cNvPr id="11" name="Text 8"/>
          <p:cNvSpPr txBox="1"/>
          <p:nvPr/>
        </p:nvSpPr>
        <p:spPr>
          <a:xfrm>
            <a:off x="6736095" y="29436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736095" y="5224069"/>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736095" y="522406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Where to open"/>
          <p:cNvSpPr txBox="1"/>
          <p:nvPr/>
        </p:nvSpPr>
        <p:spPr>
          <a:xfrm>
            <a:off x="685800" y="1325880"/>
            <a:ext cx="56692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My Activities → New Activity</a:t>
            </a:r>
            <a:endParaRPr lang="en-US" sz="1600" dirty="0"/>
          </a:p>
        </p:txBody>
      </p:sp>
      <p:sp>
        <p:nvSpPr>
          <p:cNvPr id="15" name="Callout number 1"/>
          <p:cNvSpPr/>
          <p:nvPr/>
        </p:nvSpPr>
        <p:spPr>
          <a:xfrm>
            <a:off x="685800" y="1892808"/>
            <a:ext cx="365760" cy="365760"/>
          </a:xfrm>
          <a:prstGeom prst="ellipse">
            <a:avLst/>
          </a:prstGeom>
          <a:solidFill>
            <a:srgbClr val="1B2A8F"/>
          </a:solidFill>
          <a:ln w="25400">
            <a:solidFill>
              <a:srgbClr val="EA580C"/>
            </a:solidFill>
            <a:prstDash val="solid"/>
          </a:ln>
        </p:spPr>
      </p:sp>
      <p:sp>
        <p:nvSpPr>
          <p:cNvPr id="16" name="Text 13"/>
          <p:cNvSpPr txBox="1"/>
          <p:nvPr/>
        </p:nvSpPr>
        <p:spPr>
          <a:xfrm>
            <a:off x="685800"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7" name="Legend 1"/>
          <p:cNvSpPr txBox="1"/>
          <p:nvPr/>
        </p:nvSpPr>
        <p:spPr>
          <a:xfrm>
            <a:off x="1216152" y="1874520"/>
            <a:ext cx="504748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Activity Title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Required. Use the full name of the activity.</a:t>
            </a:r>
            <a:endParaRPr lang="en-US" sz="1600" dirty="0"/>
          </a:p>
        </p:txBody>
      </p:sp>
      <p:sp>
        <p:nvSpPr>
          <p:cNvPr id="18" name="Callout number 2"/>
          <p:cNvSpPr/>
          <p:nvPr/>
        </p:nvSpPr>
        <p:spPr>
          <a:xfrm>
            <a:off x="685800" y="2734056"/>
            <a:ext cx="365760" cy="365760"/>
          </a:xfrm>
          <a:prstGeom prst="ellipse">
            <a:avLst/>
          </a:prstGeom>
          <a:solidFill>
            <a:srgbClr val="1B2A8F"/>
          </a:solidFill>
          <a:ln w="25400">
            <a:solidFill>
              <a:srgbClr val="EA580C"/>
            </a:solidFill>
            <a:prstDash val="solid"/>
          </a:ln>
        </p:spPr>
      </p:sp>
      <p:sp>
        <p:nvSpPr>
          <p:cNvPr id="19" name="Text 16"/>
          <p:cNvSpPr txBox="1"/>
          <p:nvPr/>
        </p:nvSpPr>
        <p:spPr>
          <a:xfrm>
            <a:off x="685800" y="27340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0" name="Legend 2"/>
          <p:cNvSpPr txBox="1"/>
          <p:nvPr/>
        </p:nvSpPr>
        <p:spPr>
          <a:xfrm>
            <a:off x="1216152" y="2715768"/>
            <a:ext cx="504748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Functional Division</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Required. Choose your own division.</a:t>
            </a:r>
            <a:endParaRPr lang="en-US" sz="1600" dirty="0"/>
          </a:p>
        </p:txBody>
      </p:sp>
      <p:sp>
        <p:nvSpPr>
          <p:cNvPr id="21" name="Callout number 3"/>
          <p:cNvSpPr/>
          <p:nvPr/>
        </p:nvSpPr>
        <p:spPr>
          <a:xfrm>
            <a:off x="685800" y="3575304"/>
            <a:ext cx="365760" cy="365760"/>
          </a:xfrm>
          <a:prstGeom prst="ellipse">
            <a:avLst/>
          </a:prstGeom>
          <a:solidFill>
            <a:srgbClr val="1B2A8F"/>
          </a:solidFill>
          <a:ln w="25400">
            <a:solidFill>
              <a:srgbClr val="EA580C"/>
            </a:solidFill>
            <a:prstDash val="solid"/>
          </a:ln>
        </p:spPr>
      </p:sp>
      <p:sp>
        <p:nvSpPr>
          <p:cNvPr id="22" name="Text 19"/>
          <p:cNvSpPr txBox="1"/>
          <p:nvPr/>
        </p:nvSpPr>
        <p:spPr>
          <a:xfrm>
            <a:off x="685800" y="35753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3" name="Legend 3"/>
          <p:cNvSpPr txBox="1"/>
          <p:nvPr/>
        </p:nvSpPr>
        <p:spPr>
          <a:xfrm>
            <a:off x="1216152" y="3557016"/>
            <a:ext cx="504748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Evidence / MOV link</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Paste a OneDrive share link, then select Add link.</a:t>
            </a:r>
            <a:endParaRPr lang="en-US" sz="1600" dirty="0"/>
          </a:p>
        </p:txBody>
      </p:sp>
      <p:sp>
        <p:nvSpPr>
          <p:cNvPr id="24" name="Shape 21"/>
          <p:cNvSpPr/>
          <p:nvPr/>
        </p:nvSpPr>
        <p:spPr>
          <a:xfrm>
            <a:off x="685800" y="4983480"/>
            <a:ext cx="5577840" cy="868680"/>
          </a:xfrm>
          <a:prstGeom prst="roundRect">
            <a:avLst>
              <a:gd name="adj" fmla="val 8421"/>
            </a:avLst>
          </a:prstGeom>
          <a:solidFill>
            <a:srgbClr val="EEF2FF"/>
          </a:solidFill>
          <a:ln w="12700">
            <a:solidFill>
              <a:srgbClr val="EEF2FF"/>
            </a:solidFill>
            <a:prstDash val="solid"/>
          </a:ln>
        </p:spPr>
      </p:sp>
      <p:sp>
        <p:nvSpPr>
          <p:cNvPr id="25" name="Text 22"/>
          <p:cNvSpPr txBox="1"/>
          <p:nvPr/>
        </p:nvSpPr>
        <p:spPr>
          <a:xfrm>
            <a:off x="886968" y="5074920"/>
            <a:ext cx="5175504" cy="6858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scroll down and select Create Activity. It saves as a Draft.</a:t>
            </a:r>
            <a:endParaRPr lang="en-US" sz="1400" dirty="0"/>
          </a:p>
        </p:txBody>
      </p:sp>
      <p:sp>
        <p:nvSpPr>
          <p:cNvPr id="26"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7"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Submit for review</a:t>
            </a:r>
            <a:endParaRPr lang="en-US" sz="3400" dirty="0"/>
          </a:p>
        </p:txBody>
      </p:sp>
      <p:sp>
        <p:nvSpPr>
          <p:cNvPr id="3" name="i-activities frame"/>
          <p:cNvSpPr/>
          <p:nvPr/>
        </p:nvSpPr>
        <p:spPr>
          <a:xfrm>
            <a:off x="612648" y="1298448"/>
            <a:ext cx="6912864" cy="3630668"/>
          </a:xfrm>
          <a:prstGeom prst="roundRect">
            <a:avLst>
              <a:gd name="adj" fmla="val 756"/>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i-activities" descr="Activities list with Submit for review and Resubmit for review">    </p:cNvPr>
          <p:cNvPicPr>
            <a:picLocks noChangeAspect="1"/>
          </p:cNvPicPr>
          <p:nvPr/>
        </p:nvPicPr>
        <p:blipFill>
          <a:blip r:embed="rId1"/>
          <a:stretch>
            <a:fillRect/>
          </a:stretch>
        </p:blipFill>
        <p:spPr>
          <a:xfrm>
            <a:off x="685800" y="1371600"/>
            <a:ext cx="6766560" cy="3484364"/>
          </a:xfrm>
          <a:prstGeom prst="rect">
            <a:avLst/>
          </a:prstGeom>
        </p:spPr>
      </p:pic>
      <p:sp>
        <p:nvSpPr>
          <p:cNvPr id="5" name="Highlight 1"/>
          <p:cNvSpPr/>
          <p:nvPr/>
        </p:nvSpPr>
        <p:spPr>
          <a:xfrm>
            <a:off x="6400157" y="1888165"/>
            <a:ext cx="896755" cy="283464"/>
          </a:xfrm>
          <a:prstGeom prst="roundRect">
            <a:avLst>
              <a:gd name="adj" fmla="val 16129"/>
            </a:avLst>
          </a:prstGeom>
          <a:ln w="31750">
            <a:solidFill>
              <a:srgbClr val="EA580C"/>
            </a:solidFill>
            <a:prstDash val="solid"/>
          </a:ln>
        </p:spPr>
      </p:sp>
      <p:sp>
        <p:nvSpPr>
          <p:cNvPr id="6" name="Highlight 2"/>
          <p:cNvSpPr/>
          <p:nvPr/>
        </p:nvSpPr>
        <p:spPr>
          <a:xfrm>
            <a:off x="6070830" y="3199757"/>
            <a:ext cx="946047" cy="237744"/>
          </a:xfrm>
          <a:prstGeom prst="roundRect">
            <a:avLst>
              <a:gd name="adj" fmla="val 19231"/>
            </a:avLst>
          </a:prstGeom>
          <a:ln w="31750">
            <a:solidFill>
              <a:srgbClr val="EA580C"/>
            </a:solidFill>
            <a:prstDash val="solid"/>
          </a:ln>
        </p:spPr>
      </p:sp>
      <p:sp>
        <p:nvSpPr>
          <p:cNvPr id="7" name="Highlight 3"/>
          <p:cNvSpPr/>
          <p:nvPr/>
        </p:nvSpPr>
        <p:spPr>
          <a:xfrm>
            <a:off x="5997071" y="3851267"/>
            <a:ext cx="1019806" cy="237744"/>
          </a:xfrm>
          <a:prstGeom prst="roundRect">
            <a:avLst>
              <a:gd name="adj" fmla="val 19231"/>
            </a:avLst>
          </a:prstGeom>
          <a:ln w="31750">
            <a:solidFill>
              <a:srgbClr val="EA580C"/>
            </a:solidFill>
            <a:prstDash val="solid"/>
          </a:ln>
        </p:spPr>
      </p:sp>
      <p:sp>
        <p:nvSpPr>
          <p:cNvPr id="8" name="Highlight 4"/>
          <p:cNvSpPr/>
          <p:nvPr/>
        </p:nvSpPr>
        <p:spPr>
          <a:xfrm>
            <a:off x="6984873" y="3188327"/>
            <a:ext cx="260604" cy="260604"/>
          </a:xfrm>
          <a:prstGeom prst="roundRect">
            <a:avLst>
              <a:gd name="adj" fmla="val 17544"/>
            </a:avLst>
          </a:prstGeom>
          <a:ln w="31750">
            <a:solidFill>
              <a:srgbClr val="EA580C"/>
            </a:solidFill>
            <a:prstDash val="solid"/>
          </a:ln>
        </p:spPr>
      </p:sp>
      <p:sp>
        <p:nvSpPr>
          <p:cNvPr id="9" name="Callout number 1"/>
          <p:cNvSpPr/>
          <p:nvPr/>
        </p:nvSpPr>
        <p:spPr>
          <a:xfrm>
            <a:off x="6693087" y="1531549"/>
            <a:ext cx="310896" cy="310896"/>
          </a:xfrm>
          <a:prstGeom prst="ellipse">
            <a:avLst/>
          </a:prstGeom>
          <a:solidFill>
            <a:srgbClr val="1B2A8F"/>
          </a:solidFill>
          <a:ln w="25400">
            <a:solidFill>
              <a:srgbClr val="EA580C"/>
            </a:solidFill>
            <a:prstDash val="solid"/>
          </a:ln>
        </p:spPr>
      </p:sp>
      <p:sp>
        <p:nvSpPr>
          <p:cNvPr id="10" name="Text 7"/>
          <p:cNvSpPr txBox="1"/>
          <p:nvPr/>
        </p:nvSpPr>
        <p:spPr>
          <a:xfrm>
            <a:off x="6693087" y="153154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1" name="Callout number 2"/>
          <p:cNvSpPr/>
          <p:nvPr/>
        </p:nvSpPr>
        <p:spPr>
          <a:xfrm>
            <a:off x="6388406" y="2843141"/>
            <a:ext cx="310896" cy="310896"/>
          </a:xfrm>
          <a:prstGeom prst="ellipse">
            <a:avLst/>
          </a:prstGeom>
          <a:solidFill>
            <a:srgbClr val="1B2A8F"/>
          </a:solidFill>
          <a:ln w="25400">
            <a:solidFill>
              <a:srgbClr val="EA580C"/>
            </a:solidFill>
            <a:prstDash val="solid"/>
          </a:ln>
        </p:spPr>
      </p:sp>
      <p:sp>
        <p:nvSpPr>
          <p:cNvPr id="12" name="Text 9"/>
          <p:cNvSpPr txBox="1"/>
          <p:nvPr/>
        </p:nvSpPr>
        <p:spPr>
          <a:xfrm>
            <a:off x="6388406" y="284314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3" name="Callout number 3"/>
          <p:cNvSpPr/>
          <p:nvPr/>
        </p:nvSpPr>
        <p:spPr>
          <a:xfrm>
            <a:off x="6351526" y="3494651"/>
            <a:ext cx="310896" cy="310896"/>
          </a:xfrm>
          <a:prstGeom prst="ellipse">
            <a:avLst/>
          </a:prstGeom>
          <a:solidFill>
            <a:srgbClr val="1B2A8F"/>
          </a:solidFill>
          <a:ln w="25400">
            <a:solidFill>
              <a:srgbClr val="EA580C"/>
            </a:solidFill>
            <a:prstDash val="solid"/>
          </a:ln>
        </p:spPr>
      </p:sp>
      <p:sp>
        <p:nvSpPr>
          <p:cNvPr id="14" name="Text 11"/>
          <p:cNvSpPr txBox="1"/>
          <p:nvPr/>
        </p:nvSpPr>
        <p:spPr>
          <a:xfrm>
            <a:off x="6351526" y="349465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5" name="Callout number 4"/>
          <p:cNvSpPr/>
          <p:nvPr/>
        </p:nvSpPr>
        <p:spPr>
          <a:xfrm>
            <a:off x="6959727" y="2831711"/>
            <a:ext cx="310896" cy="310896"/>
          </a:xfrm>
          <a:prstGeom prst="ellipse">
            <a:avLst/>
          </a:prstGeom>
          <a:solidFill>
            <a:srgbClr val="1B2A8F"/>
          </a:solidFill>
          <a:ln w="25400">
            <a:solidFill>
              <a:srgbClr val="EA580C"/>
            </a:solidFill>
            <a:prstDash val="solid"/>
          </a:ln>
        </p:spPr>
      </p:sp>
      <p:sp>
        <p:nvSpPr>
          <p:cNvPr id="16" name="Text 13"/>
          <p:cNvSpPr txBox="1"/>
          <p:nvPr/>
        </p:nvSpPr>
        <p:spPr>
          <a:xfrm>
            <a:off x="6959727" y="283171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4</a:t>
            </a:r>
            <a:endParaRPr lang="en-US" sz="1200" dirty="0"/>
          </a:p>
        </p:txBody>
      </p:sp>
      <p:sp>
        <p:nvSpPr>
          <p:cNvPr id="17"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My Activities</a:t>
            </a:r>
            <a:endParaRPr lang="en-US" sz="1600" dirty="0"/>
          </a:p>
        </p:txBody>
      </p:sp>
      <p:sp>
        <p:nvSpPr>
          <p:cNvPr id="18"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20" name="Legend 1"/>
          <p:cNvSpPr txBox="1"/>
          <p:nvPr/>
        </p:nvSpPr>
        <p:spPr>
          <a:xfrm>
            <a:off x="8348472" y="182880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Starts a new Draft.</a:t>
            </a:r>
            <a:endParaRPr lang="en-US" sz="1600" dirty="0"/>
          </a:p>
        </p:txBody>
      </p:sp>
      <p:sp>
        <p:nvSpPr>
          <p:cNvPr id="21" name="Callout number 2"/>
          <p:cNvSpPr/>
          <p:nvPr/>
        </p:nvSpPr>
        <p:spPr>
          <a:xfrm>
            <a:off x="7818120" y="2612898"/>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261289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3" name="Legend 2"/>
          <p:cNvSpPr txBox="1"/>
          <p:nvPr/>
        </p:nvSpPr>
        <p:spPr>
          <a:xfrm>
            <a:off x="8348472" y="259461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 for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Sends a Draft to QA. It becomes Submitted.</a:t>
            </a:r>
            <a:endParaRPr lang="en-US" sz="1600" dirty="0"/>
          </a:p>
        </p:txBody>
      </p:sp>
      <p:sp>
        <p:nvSpPr>
          <p:cNvPr id="24" name="Callout number 3"/>
          <p:cNvSpPr/>
          <p:nvPr/>
        </p:nvSpPr>
        <p:spPr>
          <a:xfrm>
            <a:off x="7818120" y="3378708"/>
            <a:ext cx="365760" cy="365760"/>
          </a:xfrm>
          <a:prstGeom prst="ellipse">
            <a:avLst/>
          </a:prstGeom>
          <a:solidFill>
            <a:srgbClr val="1B2A8F"/>
          </a:solidFill>
          <a:ln w="25400">
            <a:solidFill>
              <a:srgbClr val="EA580C"/>
            </a:solidFill>
            <a:prstDash val="solid"/>
          </a:ln>
        </p:spPr>
      </p:sp>
      <p:sp>
        <p:nvSpPr>
          <p:cNvPr id="25" name="Text 22"/>
          <p:cNvSpPr txBox="1"/>
          <p:nvPr/>
        </p:nvSpPr>
        <p:spPr>
          <a:xfrm>
            <a:off x="7818120" y="33787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6" name="Legend 3"/>
          <p:cNvSpPr txBox="1"/>
          <p:nvPr/>
        </p:nvSpPr>
        <p:spPr>
          <a:xfrm>
            <a:off x="8348472" y="336042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Resubmit for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Sends a returned activity back after you fix it.</a:t>
            </a:r>
            <a:endParaRPr lang="en-US" sz="1600" dirty="0"/>
          </a:p>
        </p:txBody>
      </p:sp>
      <p:sp>
        <p:nvSpPr>
          <p:cNvPr id="27" name="Callout number 4"/>
          <p:cNvSpPr/>
          <p:nvPr/>
        </p:nvSpPr>
        <p:spPr>
          <a:xfrm>
            <a:off x="7818120" y="4144518"/>
            <a:ext cx="365760" cy="365760"/>
          </a:xfrm>
          <a:prstGeom prst="ellipse">
            <a:avLst/>
          </a:prstGeom>
          <a:solidFill>
            <a:srgbClr val="1B2A8F"/>
          </a:solidFill>
          <a:ln w="25400">
            <a:solidFill>
              <a:srgbClr val="EA580C"/>
            </a:solidFill>
            <a:prstDash val="solid"/>
          </a:ln>
        </p:spPr>
      </p:sp>
      <p:sp>
        <p:nvSpPr>
          <p:cNvPr id="28" name="Text 25"/>
          <p:cNvSpPr txBox="1"/>
          <p:nvPr/>
        </p:nvSpPr>
        <p:spPr>
          <a:xfrm>
            <a:off x="7818120" y="414451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9" name="Legend 4"/>
          <p:cNvSpPr txBox="1"/>
          <p:nvPr/>
        </p:nvSpPr>
        <p:spPr>
          <a:xfrm>
            <a:off x="8348472" y="4126230"/>
            <a:ext cx="3310128" cy="71094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More actions</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View details, download the report or edit.</a:t>
            </a:r>
            <a:endParaRPr lang="en-US" sz="1600" dirty="0"/>
          </a:p>
        </p:txBody>
      </p:sp>
      <p:sp>
        <p:nvSpPr>
          <p:cNvPr id="30" name="Shape 27"/>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31" name="Text 28"/>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can edit while Draft, Submitted or Returned. Under review, it is locked.</a:t>
            </a:r>
            <a:endParaRPr lang="en-US" sz="1400" dirty="0"/>
          </a:p>
        </p:txBody>
      </p:sp>
      <p:sp>
        <p:nvSpPr>
          <p:cNvPr id="32" name="Text 2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33" name="Text 30"/>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Fix a returned activity</a:t>
            </a:r>
            <a:endParaRPr lang="en-US" sz="3400" dirty="0"/>
          </a:p>
        </p:txBody>
      </p:sp>
      <p:sp>
        <p:nvSpPr>
          <p:cNvPr id="3" name="i-returned frame"/>
          <p:cNvSpPr/>
          <p:nvPr/>
        </p:nvSpPr>
        <p:spPr>
          <a:xfrm>
            <a:off x="868274" y="1298448"/>
            <a:ext cx="6401613" cy="4901184"/>
          </a:xfrm>
          <a:prstGeom prst="roundRect">
            <a:avLst>
              <a:gd name="adj" fmla="val 560"/>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i-returned" descr="Returned activity with the reviewer note">    </p:cNvPr>
          <p:cNvPicPr>
            <a:picLocks noChangeAspect="1"/>
          </p:cNvPicPr>
          <p:nvPr/>
        </p:nvPicPr>
        <p:blipFill>
          <a:blip r:embed="rId1"/>
          <a:stretch>
            <a:fillRect/>
          </a:stretch>
        </p:blipFill>
        <p:spPr>
          <a:xfrm>
            <a:off x="941426" y="1371600"/>
            <a:ext cx="6255309" cy="4754880"/>
          </a:xfrm>
          <a:prstGeom prst="rect">
            <a:avLst/>
          </a:prstGeom>
        </p:spPr>
      </p:pic>
      <p:sp>
        <p:nvSpPr>
          <p:cNvPr id="5" name="Highlight 1"/>
          <p:cNvSpPr/>
          <p:nvPr/>
        </p:nvSpPr>
        <p:spPr>
          <a:xfrm>
            <a:off x="1083056" y="2227453"/>
            <a:ext cx="5972048" cy="297891"/>
          </a:xfrm>
          <a:prstGeom prst="roundRect">
            <a:avLst>
              <a:gd name="adj" fmla="val 15348"/>
            </a:avLst>
          </a:prstGeom>
          <a:ln w="31750">
            <a:solidFill>
              <a:srgbClr val="EA580C"/>
            </a:solidFill>
            <a:prstDash val="solid"/>
          </a:ln>
        </p:spPr>
      </p:sp>
      <p:sp>
        <p:nvSpPr>
          <p:cNvPr id="6" name="Highlight 2"/>
          <p:cNvSpPr/>
          <p:nvPr/>
        </p:nvSpPr>
        <p:spPr>
          <a:xfrm>
            <a:off x="5632387" y="1841779"/>
            <a:ext cx="554209" cy="266192"/>
          </a:xfrm>
          <a:prstGeom prst="roundRect">
            <a:avLst>
              <a:gd name="adj" fmla="val 17176"/>
            </a:avLst>
          </a:prstGeom>
          <a:ln w="31750">
            <a:solidFill>
              <a:srgbClr val="EA580C"/>
            </a:solidFill>
            <a:prstDash val="solid"/>
          </a:ln>
        </p:spPr>
      </p:sp>
      <p:sp>
        <p:nvSpPr>
          <p:cNvPr id="7" name="Highlight 3"/>
          <p:cNvSpPr/>
          <p:nvPr/>
        </p:nvSpPr>
        <p:spPr>
          <a:xfrm>
            <a:off x="6173997" y="1841779"/>
            <a:ext cx="881107" cy="266192"/>
          </a:xfrm>
          <a:prstGeom prst="roundRect">
            <a:avLst>
              <a:gd name="adj" fmla="val 17176"/>
            </a:avLst>
          </a:prstGeom>
          <a:ln w="31750">
            <a:solidFill>
              <a:srgbClr val="EA580C"/>
            </a:solidFill>
            <a:prstDash val="solid"/>
          </a:ln>
        </p:spPr>
      </p:sp>
      <p:sp>
        <p:nvSpPr>
          <p:cNvPr id="8" name="Callout number 1"/>
          <p:cNvSpPr/>
          <p:nvPr/>
        </p:nvSpPr>
        <p:spPr>
          <a:xfrm>
            <a:off x="726440" y="2220951"/>
            <a:ext cx="310896" cy="310896"/>
          </a:xfrm>
          <a:prstGeom prst="ellipse">
            <a:avLst/>
          </a:prstGeom>
          <a:solidFill>
            <a:srgbClr val="1B2A8F"/>
          </a:solidFill>
          <a:ln w="25400">
            <a:solidFill>
              <a:srgbClr val="EA580C"/>
            </a:solidFill>
            <a:prstDash val="solid"/>
          </a:ln>
        </p:spPr>
      </p:sp>
      <p:sp>
        <p:nvSpPr>
          <p:cNvPr id="9" name="Text 6"/>
          <p:cNvSpPr txBox="1"/>
          <p:nvPr/>
        </p:nvSpPr>
        <p:spPr>
          <a:xfrm>
            <a:off x="726440" y="2220951"/>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10" name="Callout number 2"/>
          <p:cNvSpPr/>
          <p:nvPr/>
        </p:nvSpPr>
        <p:spPr>
          <a:xfrm>
            <a:off x="5754043" y="1485163"/>
            <a:ext cx="310896" cy="310896"/>
          </a:xfrm>
          <a:prstGeom prst="ellipse">
            <a:avLst/>
          </a:prstGeom>
          <a:solidFill>
            <a:srgbClr val="1B2A8F"/>
          </a:solidFill>
          <a:ln w="25400">
            <a:solidFill>
              <a:srgbClr val="EA580C"/>
            </a:solidFill>
            <a:prstDash val="solid"/>
          </a:ln>
        </p:spPr>
      </p:sp>
      <p:sp>
        <p:nvSpPr>
          <p:cNvPr id="11" name="Text 8"/>
          <p:cNvSpPr txBox="1"/>
          <p:nvPr/>
        </p:nvSpPr>
        <p:spPr>
          <a:xfrm>
            <a:off x="5754043" y="148516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2" name="Callout number 3"/>
          <p:cNvSpPr/>
          <p:nvPr/>
        </p:nvSpPr>
        <p:spPr>
          <a:xfrm>
            <a:off x="6459103" y="1485163"/>
            <a:ext cx="310896" cy="310896"/>
          </a:xfrm>
          <a:prstGeom prst="ellipse">
            <a:avLst/>
          </a:prstGeom>
          <a:solidFill>
            <a:srgbClr val="1B2A8F"/>
          </a:solidFill>
          <a:ln w="25400">
            <a:solidFill>
              <a:srgbClr val="EA580C"/>
            </a:solidFill>
            <a:prstDash val="solid"/>
          </a:ln>
        </p:spPr>
      </p:sp>
      <p:sp>
        <p:nvSpPr>
          <p:cNvPr id="13" name="Text 10"/>
          <p:cNvSpPr txBox="1"/>
          <p:nvPr/>
        </p:nvSpPr>
        <p:spPr>
          <a:xfrm>
            <a:off x="6459103" y="148516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a:t>
            </a:r>
            <a:endParaRPr lang="en-US" sz="1200" dirty="0"/>
          </a:p>
        </p:txBody>
      </p:sp>
      <p:sp>
        <p:nvSpPr>
          <p:cNvPr id="14"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My Activities → View details → View Full Details</a:t>
            </a:r>
            <a:endParaRPr lang="en-US" sz="1600" dirty="0"/>
          </a:p>
        </p:txBody>
      </p:sp>
      <p:sp>
        <p:nvSpPr>
          <p:cNvPr id="15"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7"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Reviewer's note</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Says exactly what needs to change.</a:t>
            </a:r>
            <a:endParaRPr lang="en-US" sz="1600" dirty="0"/>
          </a:p>
        </p:txBody>
      </p:sp>
      <p:sp>
        <p:nvSpPr>
          <p:cNvPr id="18"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9" name="Text 16"/>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0"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Edit</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Opens the form so you can fix it.</a:t>
            </a:r>
            <a:endParaRPr lang="en-US" sz="1600" dirty="0"/>
          </a:p>
        </p:txBody>
      </p:sp>
      <p:sp>
        <p:nvSpPr>
          <p:cNvPr id="21" name="Callout number 3"/>
          <p:cNvSpPr/>
          <p:nvPr/>
        </p:nvSpPr>
        <p:spPr>
          <a:xfrm>
            <a:off x="7818120" y="3529584"/>
            <a:ext cx="365760" cy="365760"/>
          </a:xfrm>
          <a:prstGeom prst="ellipse">
            <a:avLst/>
          </a:prstGeom>
          <a:solidFill>
            <a:srgbClr val="1B2A8F"/>
          </a:solidFill>
          <a:ln w="25400">
            <a:solidFill>
              <a:srgbClr val="EA580C"/>
            </a:solidFill>
            <a:prstDash val="solid"/>
          </a:ln>
        </p:spPr>
      </p:sp>
      <p:sp>
        <p:nvSpPr>
          <p:cNvPr id="22" name="Text 19"/>
          <p:cNvSpPr txBox="1"/>
          <p:nvPr/>
        </p:nvSpPr>
        <p:spPr>
          <a:xfrm>
            <a:off x="7818120" y="35295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3" name="Legend 3"/>
          <p:cNvSpPr txBox="1"/>
          <p:nvPr/>
        </p:nvSpPr>
        <p:spPr>
          <a:xfrm>
            <a:off x="8348472" y="3511296"/>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Move to Submitted</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Resubmits it for review.</a:t>
            </a:r>
            <a:endParaRPr lang="en-US" sz="1600" dirty="0"/>
          </a:p>
        </p:txBody>
      </p:sp>
      <p:sp>
        <p:nvSpPr>
          <p:cNvPr id="24" name="Shape 21"/>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25" name="Text 22"/>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fix everything in the note before resubmitting.</a:t>
            </a:r>
            <a:endParaRPr lang="en-US" sz="1400" dirty="0"/>
          </a:p>
        </p:txBody>
      </p:sp>
      <p:sp>
        <p:nvSpPr>
          <p:cNvPr id="26"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7"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Record client feedback</a:t>
            </a:r>
            <a:endParaRPr lang="en-US" sz="3400" dirty="0"/>
          </a:p>
        </p:txBody>
      </p:sp>
      <p:sp>
        <p:nvSpPr>
          <p:cNvPr id="3" name="i-arta frame"/>
          <p:cNvSpPr/>
          <p:nvPr/>
        </p:nvSpPr>
        <p:spPr>
          <a:xfrm>
            <a:off x="612648" y="1298448"/>
            <a:ext cx="6912864" cy="3024878"/>
          </a:xfrm>
          <a:prstGeom prst="roundRect">
            <a:avLst>
              <a:gd name="adj" fmla="val 907"/>
            </a:avLst>
          </a:prstGeom>
          <a:solidFill>
            <a:srgbClr val="FFFFFF"/>
          </a:solidFill>
          <a:ln w="12700">
            <a:solidFill>
              <a:srgbClr val="E2E8F0"/>
            </a:solidFill>
            <a:prstDash val="solid"/>
          </a:ln>
          <a:effectLst>
            <a:outerShdw sx="100000" sy="100000" kx="0" ky="0" algn="bl" rotWithShape="0" blurRad="101600" dist="25400" dir="5400000">
              <a:srgbClr val="1E293B">
                <a:alpha val="16000"/>
              </a:srgbClr>
            </a:outerShdw>
          </a:effectLst>
        </p:spPr>
      </p:sp>
      <p:pic>
        <p:nvPicPr>
          <p:cNvPr id="4" name="i-arta" descr="ARTA Feedback page with New Feedback">    </p:cNvPr>
          <p:cNvPicPr>
            <a:picLocks noChangeAspect="1"/>
          </p:cNvPicPr>
          <p:nvPr/>
        </p:nvPicPr>
        <p:blipFill>
          <a:blip r:embed="rId1"/>
          <a:stretch>
            <a:fillRect/>
          </a:stretch>
        </p:blipFill>
        <p:spPr>
          <a:xfrm>
            <a:off x="685800" y="1371600"/>
            <a:ext cx="6766560" cy="2878574"/>
          </a:xfrm>
          <a:prstGeom prst="rect">
            <a:avLst/>
          </a:prstGeom>
        </p:spPr>
      </p:pic>
      <p:sp>
        <p:nvSpPr>
          <p:cNvPr id="5" name="Highlight 1"/>
          <p:cNvSpPr/>
          <p:nvPr/>
        </p:nvSpPr>
        <p:spPr>
          <a:xfrm>
            <a:off x="6366492" y="1876735"/>
            <a:ext cx="930420" cy="283464"/>
          </a:xfrm>
          <a:prstGeom prst="roundRect">
            <a:avLst>
              <a:gd name="adj" fmla="val 16129"/>
            </a:avLst>
          </a:prstGeom>
          <a:ln w="31750">
            <a:solidFill>
              <a:srgbClr val="EA580C"/>
            </a:solidFill>
            <a:prstDash val="solid"/>
          </a:ln>
        </p:spPr>
      </p:sp>
      <p:sp>
        <p:nvSpPr>
          <p:cNvPr id="6" name="Highlight 2"/>
          <p:cNvSpPr/>
          <p:nvPr/>
        </p:nvSpPr>
        <p:spPr>
          <a:xfrm>
            <a:off x="938403" y="2899720"/>
            <a:ext cx="1769364" cy="260604"/>
          </a:xfrm>
          <a:prstGeom prst="roundRect">
            <a:avLst>
              <a:gd name="adj" fmla="val 17544"/>
            </a:avLst>
          </a:prstGeom>
          <a:ln w="31750">
            <a:solidFill>
              <a:srgbClr val="EA580C"/>
            </a:solidFill>
            <a:prstDash val="solid"/>
          </a:ln>
        </p:spPr>
      </p:sp>
      <p:sp>
        <p:nvSpPr>
          <p:cNvPr id="7" name="Callout number 1"/>
          <p:cNvSpPr/>
          <p:nvPr/>
        </p:nvSpPr>
        <p:spPr>
          <a:xfrm>
            <a:off x="6676254" y="1520119"/>
            <a:ext cx="310896" cy="310896"/>
          </a:xfrm>
          <a:prstGeom prst="ellipse">
            <a:avLst/>
          </a:prstGeom>
          <a:solidFill>
            <a:srgbClr val="1B2A8F"/>
          </a:solidFill>
          <a:ln w="25400">
            <a:solidFill>
              <a:srgbClr val="EA580C"/>
            </a:solidFill>
            <a:prstDash val="solid"/>
          </a:ln>
        </p:spPr>
      </p:sp>
      <p:sp>
        <p:nvSpPr>
          <p:cNvPr id="8" name="Text 5"/>
          <p:cNvSpPr txBox="1"/>
          <p:nvPr/>
        </p:nvSpPr>
        <p:spPr>
          <a:xfrm>
            <a:off x="6676254" y="1520119"/>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1</a:t>
            </a:r>
            <a:endParaRPr lang="en-US" sz="1200" dirty="0"/>
          </a:p>
        </p:txBody>
      </p:sp>
      <p:sp>
        <p:nvSpPr>
          <p:cNvPr id="9" name="Callout number 2"/>
          <p:cNvSpPr/>
          <p:nvPr/>
        </p:nvSpPr>
        <p:spPr>
          <a:xfrm>
            <a:off x="1667637" y="2543104"/>
            <a:ext cx="310896" cy="310896"/>
          </a:xfrm>
          <a:prstGeom prst="ellipse">
            <a:avLst/>
          </a:prstGeom>
          <a:solidFill>
            <a:srgbClr val="1B2A8F"/>
          </a:solidFill>
          <a:ln w="25400">
            <a:solidFill>
              <a:srgbClr val="EA580C"/>
            </a:solidFill>
            <a:prstDash val="solid"/>
          </a:ln>
        </p:spPr>
      </p:sp>
      <p:sp>
        <p:nvSpPr>
          <p:cNvPr id="10" name="Text 7"/>
          <p:cNvSpPr txBox="1"/>
          <p:nvPr/>
        </p:nvSpPr>
        <p:spPr>
          <a:xfrm>
            <a:off x="1667637" y="2543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a:t>
            </a:r>
            <a:endParaRPr lang="en-US" sz="1200" dirty="0"/>
          </a:p>
        </p:txBody>
      </p:sp>
      <p:sp>
        <p:nvSpPr>
          <p:cNvPr id="11" name="Where to open"/>
          <p:cNvSpPr txBox="1"/>
          <p:nvPr/>
        </p:nvSpPr>
        <p:spPr>
          <a:xfrm>
            <a:off x="7818120" y="1325880"/>
            <a:ext cx="3840480" cy="365760"/>
          </a:xfrm>
          <a:prstGeom prst="rect">
            <a:avLst/>
          </a:prstGeom>
          <a:noFill/>
          <a:ln/>
        </p:spPr>
        <p:txBody>
          <a:bodyPr wrap="square" lIns="0" tIns="0" rIns="0" bIns="0" rtlCol="0" anchor="ctr"/>
          <a:lstStyle/>
          <a:p>
            <a:pPr indent="0" marL="0">
              <a:buNone/>
            </a:pPr>
            <a:r>
              <a:rPr lang="en-US" sz="1600" b="1" dirty="0">
                <a:solidFill>
                  <a:srgbClr val="1B2A8F"/>
                </a:solidFill>
                <a:latin typeface="Palatino Linotype" pitchFamily="34" charset="0"/>
                <a:ea typeface="Palatino Linotype" pitchFamily="34" charset="-122"/>
                <a:cs typeface="Palatino Linotype" pitchFamily="34" charset="-120"/>
              </a:rPr>
              <a:t>Open: </a:t>
            </a:r>
            <a:pPr indent="0" marL="0">
              <a:buNone/>
            </a:pPr>
            <a:r>
              <a:rPr lang="en-US" sz="1600" dirty="0">
                <a:solidFill>
                  <a:srgbClr val="1E293B"/>
                </a:solidFill>
                <a:latin typeface="Palatino Linotype" pitchFamily="34" charset="0"/>
                <a:ea typeface="Palatino Linotype" pitchFamily="34" charset="-122"/>
                <a:cs typeface="Palatino Linotype" pitchFamily="34" charset="-120"/>
              </a:rPr>
              <a:t>Client Feedback</a:t>
            </a:r>
            <a:endParaRPr lang="en-US" sz="1600" dirty="0"/>
          </a:p>
        </p:txBody>
      </p:sp>
      <p:sp>
        <p:nvSpPr>
          <p:cNvPr id="12" name="Callout number 1"/>
          <p:cNvSpPr/>
          <p:nvPr/>
        </p:nvSpPr>
        <p:spPr>
          <a:xfrm>
            <a:off x="7818120" y="1847088"/>
            <a:ext cx="365760" cy="365760"/>
          </a:xfrm>
          <a:prstGeom prst="ellipse">
            <a:avLst/>
          </a:prstGeom>
          <a:solidFill>
            <a:srgbClr val="1B2A8F"/>
          </a:solidFill>
          <a:ln w="25400">
            <a:solidFill>
              <a:srgbClr val="EA580C"/>
            </a:solidFill>
            <a:prstDash val="solid"/>
          </a:ln>
        </p:spPr>
      </p:sp>
      <p:sp>
        <p:nvSpPr>
          <p:cNvPr id="13" name="Text 10"/>
          <p:cNvSpPr txBox="1"/>
          <p:nvPr/>
        </p:nvSpPr>
        <p:spPr>
          <a:xfrm>
            <a:off x="781812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4" name="Legend 1"/>
          <p:cNvSpPr txBox="1"/>
          <p:nvPr/>
        </p:nvSpPr>
        <p:spPr>
          <a:xfrm>
            <a:off x="8348472" y="1828800"/>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Feedback</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Record the client satisfaction survey for your activity.</a:t>
            </a:r>
            <a:endParaRPr lang="en-US" sz="1600" dirty="0"/>
          </a:p>
        </p:txBody>
      </p:sp>
      <p:sp>
        <p:nvSpPr>
          <p:cNvPr id="15" name="Callout number 2"/>
          <p:cNvSpPr/>
          <p:nvPr/>
        </p:nvSpPr>
        <p:spPr>
          <a:xfrm>
            <a:off x="7818120" y="2688336"/>
            <a:ext cx="365760" cy="365760"/>
          </a:xfrm>
          <a:prstGeom prst="ellipse">
            <a:avLst/>
          </a:prstGeom>
          <a:solidFill>
            <a:srgbClr val="1B2A8F"/>
          </a:solidFill>
          <a:ln w="25400">
            <a:solidFill>
              <a:srgbClr val="EA580C"/>
            </a:solidFill>
            <a:prstDash val="solid"/>
          </a:ln>
        </p:spPr>
      </p:sp>
      <p:sp>
        <p:nvSpPr>
          <p:cNvPr id="16" name="Text 13"/>
          <p:cNvSpPr txBox="1"/>
          <p:nvPr/>
        </p:nvSpPr>
        <p:spPr>
          <a:xfrm>
            <a:off x="7818120"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7" name="Legend 2"/>
          <p:cNvSpPr txBox="1"/>
          <p:nvPr/>
        </p:nvSpPr>
        <p:spPr>
          <a:xfrm>
            <a:off x="8348472" y="2670048"/>
            <a:ext cx="3310128" cy="786384"/>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Filter by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See feedback for one activity.</a:t>
            </a:r>
            <a:endParaRPr lang="en-US" sz="1600" dirty="0"/>
          </a:p>
        </p:txBody>
      </p:sp>
      <p:sp>
        <p:nvSpPr>
          <p:cNvPr id="18" name="Shape 15"/>
          <p:cNvSpPr/>
          <p:nvPr/>
        </p:nvSpPr>
        <p:spPr>
          <a:xfrm>
            <a:off x="7818120" y="5029200"/>
            <a:ext cx="3840480" cy="1097280"/>
          </a:xfrm>
          <a:prstGeom prst="roundRect">
            <a:avLst>
              <a:gd name="adj" fmla="val 6667"/>
            </a:avLst>
          </a:prstGeom>
          <a:solidFill>
            <a:srgbClr val="EEF2FF"/>
          </a:solidFill>
          <a:ln w="12700">
            <a:solidFill>
              <a:srgbClr val="EEF2FF"/>
            </a:solidFill>
            <a:prstDash val="solid"/>
          </a:ln>
        </p:spPr>
      </p:sp>
      <p:sp>
        <p:nvSpPr>
          <p:cNvPr id="19" name="Text 16"/>
          <p:cNvSpPr txBox="1"/>
          <p:nvPr/>
        </p:nvSpPr>
        <p:spPr>
          <a:xfrm>
            <a:off x="8019288" y="5120640"/>
            <a:ext cx="3438144" cy="91440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Tip: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feedback unlocks the QAME report download for that activity.</a:t>
            </a:r>
            <a:endParaRPr lang="en-US" sz="1400" dirty="0"/>
          </a:p>
        </p:txBody>
      </p:sp>
      <p:sp>
        <p:nvSpPr>
          <p:cNvPr id="20"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1" name="Text 18"/>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Fixing mistakes</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Typo in a Draft</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More actions → Edit, correct it and save.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Submitted too early</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You can still edit while Submitted. If QA has started, ask them to return it.</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Wrong division</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You can only choose your own division. Ask an administrator.</a:t>
            </a:r>
            <a:endParaRPr lang="en-US" sz="1400" dirty="0"/>
          </a:p>
        </p:txBody>
      </p:sp>
      <p:sp>
        <p:nvSpPr>
          <p:cNvPr id="18" name="Shape 16"/>
          <p:cNvSpPr/>
          <p:nvPr/>
        </p:nvSpPr>
        <p:spPr>
          <a:xfrm>
            <a:off x="548640" y="4800600"/>
            <a:ext cx="11064240" cy="822960"/>
          </a:xfrm>
          <a:prstGeom prst="roundRect">
            <a:avLst>
              <a:gd name="adj" fmla="val 8889"/>
            </a:avLst>
          </a:prstGeom>
          <a:solidFill>
            <a:srgbClr val="EEF2FF"/>
          </a:solidFill>
          <a:ln w="12700">
            <a:solidFill>
              <a:srgbClr val="EEF2FF"/>
            </a:solidFill>
            <a:prstDash val="solid"/>
          </a:ln>
        </p:spPr>
      </p:sp>
      <p:sp>
        <p:nvSpPr>
          <p:cNvPr id="19" name="Text 17"/>
          <p:cNvSpPr txBox="1"/>
          <p:nvPr/>
        </p:nvSpPr>
        <p:spPr>
          <a:xfrm>
            <a:off x="749808" y="4892040"/>
            <a:ext cx="10661904" cy="64008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Rules: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change activities in your own division only, and only before review. You cannot delete activities or record QAME results.</a:t>
            </a:r>
            <a:endParaRPr lang="en-US" sz="14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1" name="Text 19"/>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Common problems and fixes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7040880"/>
              </a:tblGrid>
              <a:tr h="566928">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Problem</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What to do</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8F"/>
                    </a:solidFill>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Create Activity does nothing</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A required field is empty: Activity Title or Functional Division.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I cannot see another division's activity</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You see your own division only.</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There is no Edit option</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The activity is under review or published.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 QAME report is locked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Record ARTA feedback for that activity first.</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1E293B"/>
                          </a:solidFill>
                          <a:latin typeface="Palatino Linotype" pitchFamily="34" charset="0"/>
                          <a:ea typeface="Palatino Linotype" pitchFamily="34" charset="-122"/>
                          <a:cs typeface="Palatino Linotype" pitchFamily="34" charset="-120"/>
                        </a:rPr>
                        <a:t>The OneDrive link will not add</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1E293B"/>
                          </a:solidFill>
                          <a:latin typeface="Palatino Linotype" pitchFamily="34" charset="0"/>
                          <a:ea typeface="Palatino Linotype" pitchFamily="34" charset="-122"/>
                          <a:cs typeface="Palatino Linotype" pitchFamily="34" charset="-120"/>
                        </a:rPr>
                        <a:t>Paste the full https:// share link.</a:t>
                      </a:r>
                      <a:endParaRPr lang="en-US" sz="1400" dirty="0">
                        <a:latin typeface="Palatino Linotype" charset="0"/>
                        <a:ea typeface="Palatino Linotype" charset="0"/>
                        <a:cs typeface="Palatino Linotype" charset="0"/>
                      </a:endParaRPr>
                    </a:p>
                  </a:txBody>
                  <a:tcPr marL="109728" marR="109728" marT="54864" marB="54864"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5" name="Text 2"/>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Practice: one activity, start to finish</a:t>
            </a:r>
            <a:endParaRPr lang="en-US" sz="3400" dirty="0"/>
          </a:p>
        </p:txBody>
      </p:sp>
      <p:sp>
        <p:nvSpPr>
          <p:cNvPr id="3" name="Shape 1"/>
          <p:cNvSpPr/>
          <p:nvPr/>
        </p:nvSpPr>
        <p:spPr>
          <a:xfrm>
            <a:off x="548640" y="1325880"/>
            <a:ext cx="4206240" cy="4480560"/>
          </a:xfrm>
          <a:prstGeom prst="roundRect">
            <a:avLst>
              <a:gd name="adj" fmla="val 1304"/>
            </a:avLst>
          </a:prstGeom>
          <a:solidFill>
            <a:srgbClr val="1B2A8F"/>
          </a:solidFill>
          <a:ln w="12700">
            <a:solidFill>
              <a:srgbClr val="1B2A8F"/>
            </a:solidFill>
            <a:prstDash val="solid"/>
          </a:ln>
        </p:spPr>
      </p:sp>
      <p:sp>
        <p:nvSpPr>
          <p:cNvPr id="4" name="Text 2"/>
          <p:cNvSpPr txBox="1"/>
          <p:nvPr/>
        </p:nvSpPr>
        <p:spPr>
          <a:xfrm>
            <a:off x="822960" y="1554480"/>
            <a:ext cx="3657600" cy="411480"/>
          </a:xfrm>
          <a:prstGeom prst="rect">
            <a:avLst/>
          </a:prstGeom>
          <a:noFill/>
          <a:ln/>
        </p:spPr>
        <p:txBody>
          <a:bodyPr wrap="square" lIns="0" tIns="0" rIns="0" bIns="0" rtlCol="0" anchor="ctr"/>
          <a:lstStyle/>
          <a:p>
            <a:pPr indent="0" marL="0">
              <a:buNone/>
            </a:pPr>
            <a:r>
              <a:rPr lang="en-US" sz="1800" b="1" dirty="0">
                <a:solidFill>
                  <a:srgbClr val="F2B705"/>
                </a:solidFill>
                <a:latin typeface="Palatino Linotype" pitchFamily="34" charset="0"/>
                <a:ea typeface="Palatino Linotype" pitchFamily="34" charset="-122"/>
                <a:cs typeface="Palatino Linotype" pitchFamily="34" charset="-120"/>
              </a:rPr>
              <a:t>Scenario (fictional)</a:t>
            </a:r>
            <a:endParaRPr lang="en-US" sz="1800" dirty="0"/>
          </a:p>
        </p:txBody>
      </p:sp>
      <p:sp>
        <p:nvSpPr>
          <p:cNvPr id="5" name="Text 3"/>
          <p:cNvSpPr txBox="1"/>
          <p:nvPr/>
        </p:nvSpPr>
        <p:spPr>
          <a:xfrm>
            <a:off x="822960" y="2057400"/>
            <a:ext cx="3657600" cy="23774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You ran a reading coaching session for Grade 2 teachers. Record it, then fix an activity that QA sent back.</a:t>
            </a:r>
            <a:endParaRPr lang="en-US" sz="1500" dirty="0"/>
          </a:p>
          <a:p>
            <a:pPr indent="0" marL="0">
              <a:buNone/>
            </a:pP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Use the practice account and sample OneDrive link your facilitator gives you.</a:t>
            </a:r>
            <a:endParaRPr lang="en-US" sz="1500" dirty="0"/>
          </a:p>
        </p:txBody>
      </p:sp>
      <p:sp>
        <p:nvSpPr>
          <p:cNvPr id="6" name="Shape 4"/>
          <p:cNvSpPr/>
          <p:nvPr/>
        </p:nvSpPr>
        <p:spPr>
          <a:xfrm>
            <a:off x="777240" y="4800600"/>
            <a:ext cx="3749040" cy="777240"/>
          </a:xfrm>
          <a:prstGeom prst="roundRect">
            <a:avLst>
              <a:gd name="adj" fmla="val 7059"/>
            </a:avLst>
          </a:prstGeom>
          <a:solidFill>
            <a:srgbClr val="15338A"/>
          </a:solidFill>
          <a:ln w="12700">
            <a:solidFill>
              <a:srgbClr val="15338A"/>
            </a:solidFill>
            <a:prstDash val="solid"/>
          </a:ln>
        </p:spPr>
      </p:sp>
      <p:sp>
        <p:nvSpPr>
          <p:cNvPr id="7" name="Text 5"/>
          <p:cNvSpPr txBox="1"/>
          <p:nvPr/>
        </p:nvSpPr>
        <p:spPr>
          <a:xfrm>
            <a:off x="960120" y="4846320"/>
            <a:ext cx="3474720" cy="68580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About 10 minutes</a:t>
            </a:r>
            <a:endParaRPr lang="en-US" sz="1500" dirty="0"/>
          </a:p>
          <a:p>
            <a:pPr indent="0" marL="0">
              <a:buNone/>
            </a:pPr>
            <a:r>
              <a:rPr lang="en-US" sz="1200" dirty="0">
                <a:solidFill>
                  <a:srgbClr val="CADCFC"/>
                </a:solidFill>
                <a:latin typeface="Palatino Linotype" pitchFamily="34" charset="0"/>
                <a:ea typeface="Palatino Linotype" pitchFamily="34" charset="-122"/>
                <a:cs typeface="Palatino Linotype" pitchFamily="34" charset="-120"/>
              </a:rPr>
              <a:t>Work in pairs if computers are limited</a:t>
            </a:r>
            <a:endParaRPr lang="en-US" sz="1500" dirty="0"/>
          </a:p>
        </p:txBody>
      </p:sp>
      <p:sp>
        <p:nvSpPr>
          <p:cNvPr id="8" name="Callout number 1"/>
          <p:cNvSpPr/>
          <p:nvPr/>
        </p:nvSpPr>
        <p:spPr>
          <a:xfrm>
            <a:off x="5166360" y="1344168"/>
            <a:ext cx="365760" cy="365760"/>
          </a:xfrm>
          <a:prstGeom prst="ellipse">
            <a:avLst/>
          </a:prstGeom>
          <a:solidFill>
            <a:srgbClr val="1B2A8F"/>
          </a:solidFill>
          <a:ln w="25400">
            <a:solidFill>
              <a:srgbClr val="EA580C"/>
            </a:solidFill>
            <a:prstDash val="solid"/>
          </a:ln>
        </p:spPr>
      </p:sp>
      <p:sp>
        <p:nvSpPr>
          <p:cNvPr id="9" name="Text 7"/>
          <p:cNvSpPr txBox="1"/>
          <p:nvPr/>
        </p:nvSpPr>
        <p:spPr>
          <a:xfrm>
            <a:off x="5166360" y="1344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Legend 1"/>
          <p:cNvSpPr txBox="1"/>
          <p:nvPr/>
        </p:nvSpPr>
        <p:spPr>
          <a:xfrm>
            <a:off x="5696712" y="132588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New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Title and your division.</a:t>
            </a:r>
            <a:endParaRPr lang="en-US" sz="1600" dirty="0"/>
          </a:p>
        </p:txBody>
      </p:sp>
      <p:sp>
        <p:nvSpPr>
          <p:cNvPr id="11" name="Callout number 2"/>
          <p:cNvSpPr/>
          <p:nvPr/>
        </p:nvSpPr>
        <p:spPr>
          <a:xfrm>
            <a:off x="5166360" y="2075688"/>
            <a:ext cx="365760" cy="365760"/>
          </a:xfrm>
          <a:prstGeom prst="ellipse">
            <a:avLst/>
          </a:prstGeom>
          <a:solidFill>
            <a:srgbClr val="1B2A8F"/>
          </a:solidFill>
          <a:ln w="25400">
            <a:solidFill>
              <a:srgbClr val="EA580C"/>
            </a:solidFill>
            <a:prstDash val="solid"/>
          </a:ln>
        </p:spPr>
      </p:sp>
      <p:sp>
        <p:nvSpPr>
          <p:cNvPr id="12" name="Text 10"/>
          <p:cNvSpPr txBox="1"/>
          <p:nvPr/>
        </p:nvSpPr>
        <p:spPr>
          <a:xfrm>
            <a:off x="5166360" y="2075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Legend 2"/>
          <p:cNvSpPr txBox="1"/>
          <p:nvPr/>
        </p:nvSpPr>
        <p:spPr>
          <a:xfrm>
            <a:off x="5696712" y="205740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Add the OneDrive link</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Paste it under Evidence / MOV, then Add link.</a:t>
            </a:r>
            <a:endParaRPr lang="en-US" sz="1600" dirty="0"/>
          </a:p>
        </p:txBody>
      </p:sp>
      <p:sp>
        <p:nvSpPr>
          <p:cNvPr id="14" name="Callout number 3"/>
          <p:cNvSpPr/>
          <p:nvPr/>
        </p:nvSpPr>
        <p:spPr>
          <a:xfrm>
            <a:off x="5166360" y="2807208"/>
            <a:ext cx="365760" cy="365760"/>
          </a:xfrm>
          <a:prstGeom prst="ellipse">
            <a:avLst/>
          </a:prstGeom>
          <a:solidFill>
            <a:srgbClr val="1B2A8F"/>
          </a:solidFill>
          <a:ln w="25400">
            <a:solidFill>
              <a:srgbClr val="EA580C"/>
            </a:solidFill>
            <a:prstDash val="solid"/>
          </a:ln>
        </p:spPr>
      </p:sp>
      <p:sp>
        <p:nvSpPr>
          <p:cNvPr id="15" name="Text 13"/>
          <p:cNvSpPr txBox="1"/>
          <p:nvPr/>
        </p:nvSpPr>
        <p:spPr>
          <a:xfrm>
            <a:off x="5166360" y="2807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Legend 3"/>
          <p:cNvSpPr txBox="1"/>
          <p:nvPr/>
        </p:nvSpPr>
        <p:spPr>
          <a:xfrm>
            <a:off x="5696712" y="278892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Create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It saves as a Draft.</a:t>
            </a:r>
            <a:endParaRPr lang="en-US" sz="1600" dirty="0"/>
          </a:p>
        </p:txBody>
      </p:sp>
      <p:sp>
        <p:nvSpPr>
          <p:cNvPr id="17" name="Callout number 4"/>
          <p:cNvSpPr/>
          <p:nvPr/>
        </p:nvSpPr>
        <p:spPr>
          <a:xfrm>
            <a:off x="5166360" y="3538728"/>
            <a:ext cx="365760" cy="365760"/>
          </a:xfrm>
          <a:prstGeom prst="ellipse">
            <a:avLst/>
          </a:prstGeom>
          <a:solidFill>
            <a:srgbClr val="1B2A8F"/>
          </a:solidFill>
          <a:ln w="25400">
            <a:solidFill>
              <a:srgbClr val="EA580C"/>
            </a:solidFill>
            <a:prstDash val="solid"/>
          </a:ln>
        </p:spPr>
      </p:sp>
      <p:sp>
        <p:nvSpPr>
          <p:cNvPr id="18" name="Text 16"/>
          <p:cNvSpPr txBox="1"/>
          <p:nvPr/>
        </p:nvSpPr>
        <p:spPr>
          <a:xfrm>
            <a:off x="5166360" y="3538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Legend 4"/>
          <p:cNvSpPr txBox="1"/>
          <p:nvPr/>
        </p:nvSpPr>
        <p:spPr>
          <a:xfrm>
            <a:off x="5696712" y="352044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Submit for review</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From My Activities.</a:t>
            </a:r>
            <a:endParaRPr lang="en-US" sz="1600" dirty="0"/>
          </a:p>
        </p:txBody>
      </p:sp>
      <p:sp>
        <p:nvSpPr>
          <p:cNvPr id="20" name="Callout number 5"/>
          <p:cNvSpPr/>
          <p:nvPr/>
        </p:nvSpPr>
        <p:spPr>
          <a:xfrm>
            <a:off x="5166360" y="4270248"/>
            <a:ext cx="365760" cy="365760"/>
          </a:xfrm>
          <a:prstGeom prst="ellipse">
            <a:avLst/>
          </a:prstGeom>
          <a:solidFill>
            <a:srgbClr val="1B2A8F"/>
          </a:solidFill>
          <a:ln w="25400">
            <a:solidFill>
              <a:srgbClr val="EA580C"/>
            </a:solidFill>
            <a:prstDash val="solid"/>
          </a:ln>
        </p:spPr>
      </p:sp>
      <p:sp>
        <p:nvSpPr>
          <p:cNvPr id="21" name="Text 19"/>
          <p:cNvSpPr txBox="1"/>
          <p:nvPr/>
        </p:nvSpPr>
        <p:spPr>
          <a:xfrm>
            <a:off x="5166360"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2" name="Legend 5"/>
          <p:cNvSpPr txBox="1"/>
          <p:nvPr/>
        </p:nvSpPr>
        <p:spPr>
          <a:xfrm>
            <a:off x="5696712" y="4251960"/>
            <a:ext cx="5916168" cy="676656"/>
          </a:xfrm>
          <a:prstGeom prst="rect">
            <a:avLst/>
          </a:prstGeom>
          <a:noFill/>
          <a:ln/>
        </p:spPr>
        <p:txBody>
          <a:bodyPr wrap="square" lIns="0" tIns="0" rIns="0" bIns="0" rtlCol="0" anchor="t"/>
          <a:lstStyle/>
          <a:p>
            <a:pPr indent="0" marL="0">
              <a:buNone/>
            </a:pPr>
            <a:r>
              <a:rPr lang="en-US" sz="1600" b="1" dirty="0">
                <a:solidFill>
                  <a:srgbClr val="1E293B"/>
                </a:solidFill>
                <a:latin typeface="Palatino Linotype" pitchFamily="34" charset="0"/>
                <a:ea typeface="Palatino Linotype" pitchFamily="34" charset="-122"/>
                <a:cs typeface="Palatino Linotype" pitchFamily="34" charset="-120"/>
              </a:rPr>
              <a:t>Fix the returned activity</a:t>
            </a:r>
            <a:endParaRPr lang="en-US" sz="16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Numeracy Camp Planning Workshop: read the note, then resubmit.</a:t>
            </a:r>
            <a:endParaRPr lang="en-US" sz="1600" dirty="0"/>
          </a:p>
        </p:txBody>
      </p:sp>
      <p:sp>
        <p:nvSpPr>
          <p:cNvPr id="23" name="Shape 21"/>
          <p:cNvSpPr/>
          <p:nvPr/>
        </p:nvSpPr>
        <p:spPr>
          <a:xfrm>
            <a:off x="5166360" y="5074920"/>
            <a:ext cx="6446520" cy="731520"/>
          </a:xfrm>
          <a:prstGeom prst="roundRect">
            <a:avLst>
              <a:gd name="adj" fmla="val 10000"/>
            </a:avLst>
          </a:prstGeom>
          <a:solidFill>
            <a:srgbClr val="EEF2FF"/>
          </a:solidFill>
          <a:ln w="12700">
            <a:solidFill>
              <a:srgbClr val="EEF2FF"/>
            </a:solidFill>
            <a:prstDash val="solid"/>
          </a:ln>
        </p:spPr>
      </p:sp>
      <p:sp>
        <p:nvSpPr>
          <p:cNvPr id="24" name="Text 22"/>
          <p:cNvSpPr txBox="1"/>
          <p:nvPr/>
        </p:nvSpPr>
        <p:spPr>
          <a:xfrm>
            <a:off x="5367528" y="5166360"/>
            <a:ext cx="6044184" cy="548640"/>
          </a:xfrm>
          <a:prstGeom prst="rect">
            <a:avLst/>
          </a:prstGeom>
          <a:noFill/>
          <a:ln/>
        </p:spPr>
        <p:txBody>
          <a:bodyPr wrap="square" lIns="0" tIns="0" rIns="0" bIns="0" rtlCol="0" anchor="ctr"/>
          <a:lstStyle/>
          <a:p>
            <a:pPr indent="0" marL="0">
              <a:buNone/>
            </a:pPr>
            <a:r>
              <a:rPr lang="en-US" sz="1400" b="1" dirty="0">
                <a:solidFill>
                  <a:srgbClr val="1B2A8F"/>
                </a:solidFill>
                <a:latin typeface="Palatino Linotype" pitchFamily="34" charset="0"/>
                <a:ea typeface="Palatino Linotype" pitchFamily="34" charset="-122"/>
                <a:cs typeface="Palatino Linotype" pitchFamily="34" charset="-120"/>
              </a:rPr>
              <a:t>Done when: </a:t>
            </a:r>
            <a:pPr indent="0" marL="0">
              <a:buNone/>
            </a:pPr>
            <a:r>
              <a:rPr lang="en-US" sz="1400" dirty="0">
                <a:solidFill>
                  <a:srgbClr val="1E293B"/>
                </a:solidFill>
                <a:latin typeface="Palatino Linotype" pitchFamily="34" charset="0"/>
                <a:ea typeface="Palatino Linotype" pitchFamily="34" charset="-122"/>
                <a:cs typeface="Palatino Linotype" pitchFamily="34" charset="-120"/>
              </a:rPr>
              <a:t>Both activities show Submitted.</a:t>
            </a:r>
            <a:endParaRPr lang="en-US" sz="14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6"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Where to get help</a:t>
            </a:r>
            <a:endParaRPr lang="en-US" sz="3400" dirty="0"/>
          </a:p>
        </p:txBody>
      </p:sp>
      <p:sp>
        <p:nvSpPr>
          <p:cNvPr id="3" name="Shape 1"/>
          <p:cNvSpPr/>
          <p:nvPr/>
        </p:nvSpPr>
        <p:spPr>
          <a:xfrm>
            <a:off x="548640" y="1371600"/>
            <a:ext cx="3566160" cy="3108960"/>
          </a:xfrm>
          <a:prstGeom prst="roundRect">
            <a:avLst>
              <a:gd name="adj" fmla="val 1765"/>
            </a:avLst>
          </a:prstGeom>
          <a:solidFill>
            <a:srgbClr val="F5F7FA"/>
          </a:solidFill>
          <a:ln w="12700">
            <a:solidFill>
              <a:srgbClr val="E2E8F0"/>
            </a:solidFill>
            <a:prstDash val="solid"/>
          </a:ln>
        </p:spPr>
      </p:sp>
      <p:sp>
        <p:nvSpPr>
          <p:cNvPr id="4" name="Callout number 1"/>
          <p:cNvSpPr/>
          <p:nvPr/>
        </p:nvSpPr>
        <p:spPr>
          <a:xfrm>
            <a:off x="822960" y="1627632"/>
            <a:ext cx="457200" cy="457200"/>
          </a:xfrm>
          <a:prstGeom prst="ellipse">
            <a:avLst/>
          </a:prstGeom>
          <a:solidFill>
            <a:srgbClr val="1B2A8F"/>
          </a:solidFill>
          <a:ln w="25400">
            <a:solidFill>
              <a:srgbClr val="EA580C"/>
            </a:solidFill>
            <a:prstDash val="solid"/>
          </a:ln>
        </p:spPr>
      </p:sp>
      <p:sp>
        <p:nvSpPr>
          <p:cNvPr id="5" name="Text 3"/>
          <p:cNvSpPr txBox="1"/>
          <p:nvPr/>
        </p:nvSpPr>
        <p:spPr>
          <a:xfrm>
            <a:off x="8229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6" name="Text 4"/>
          <p:cNvSpPr txBox="1"/>
          <p:nvPr/>
        </p:nvSpPr>
        <p:spPr>
          <a:xfrm>
            <a:off x="82296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administrator</a:t>
            </a:r>
            <a:endParaRPr lang="en-US" sz="1700" dirty="0"/>
          </a:p>
        </p:txBody>
      </p:sp>
      <p:sp>
        <p:nvSpPr>
          <p:cNvPr id="7" name="Text 5"/>
          <p:cNvSpPr txBox="1"/>
          <p:nvPr/>
        </p:nvSpPr>
        <p:spPr>
          <a:xfrm>
            <a:off x="82296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Accounts, passwords, roles, divisions, and anything DQAMP will not let you change.</a:t>
            </a:r>
            <a:endParaRPr lang="en-US" sz="1400" dirty="0"/>
          </a:p>
        </p:txBody>
      </p:sp>
      <p:sp>
        <p:nvSpPr>
          <p:cNvPr id="8" name="Shape 6"/>
          <p:cNvSpPr/>
          <p:nvPr/>
        </p:nvSpPr>
        <p:spPr>
          <a:xfrm>
            <a:off x="4297680" y="1371600"/>
            <a:ext cx="3566160" cy="3108960"/>
          </a:xfrm>
          <a:prstGeom prst="roundRect">
            <a:avLst>
              <a:gd name="adj" fmla="val 1765"/>
            </a:avLst>
          </a:prstGeom>
          <a:solidFill>
            <a:srgbClr val="F5F7FA"/>
          </a:solidFill>
          <a:ln w="12700">
            <a:solidFill>
              <a:srgbClr val="E2E8F0"/>
            </a:solidFill>
            <a:prstDash val="solid"/>
          </a:ln>
        </p:spPr>
      </p:sp>
      <p:sp>
        <p:nvSpPr>
          <p:cNvPr id="9" name="Callout number 2"/>
          <p:cNvSpPr/>
          <p:nvPr/>
        </p:nvSpPr>
        <p:spPr>
          <a:xfrm>
            <a:off x="4572000" y="1627632"/>
            <a:ext cx="457200" cy="457200"/>
          </a:xfrm>
          <a:prstGeom prst="ellipse">
            <a:avLst/>
          </a:prstGeom>
          <a:solidFill>
            <a:srgbClr val="1B2A8F"/>
          </a:solidFill>
          <a:ln w="25400">
            <a:solidFill>
              <a:srgbClr val="EA580C"/>
            </a:solidFill>
            <a:prstDash val="solid"/>
          </a:ln>
        </p:spPr>
      </p:sp>
      <p:sp>
        <p:nvSpPr>
          <p:cNvPr id="10" name="Text 8"/>
          <p:cNvSpPr txBox="1"/>
          <p:nvPr/>
        </p:nvSpPr>
        <p:spPr>
          <a:xfrm>
            <a:off x="45720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2</a:t>
            </a:r>
            <a:endParaRPr lang="en-US" sz="1600" dirty="0"/>
          </a:p>
        </p:txBody>
      </p:sp>
      <p:sp>
        <p:nvSpPr>
          <p:cNvPr id="11" name="Text 9"/>
          <p:cNvSpPr txBox="1"/>
          <p:nvPr/>
        </p:nvSpPr>
        <p:spPr>
          <a:xfrm>
            <a:off x="457200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This guide</a:t>
            </a:r>
            <a:endParaRPr lang="en-US" sz="1700" dirty="0"/>
          </a:p>
        </p:txBody>
      </p:sp>
      <p:sp>
        <p:nvSpPr>
          <p:cNvPr id="12" name="Text 10"/>
          <p:cNvSpPr txBox="1"/>
          <p:nvPr/>
        </p:nvSpPr>
        <p:spPr>
          <a:xfrm>
            <a:off x="457200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Keep the checklist on the last slide beside you. Print it if that helps.</a:t>
            </a:r>
            <a:endParaRPr lang="en-US" sz="1400" dirty="0"/>
          </a:p>
        </p:txBody>
      </p:sp>
      <p:sp>
        <p:nvSpPr>
          <p:cNvPr id="13" name="Shape 11"/>
          <p:cNvSpPr/>
          <p:nvPr/>
        </p:nvSpPr>
        <p:spPr>
          <a:xfrm>
            <a:off x="8046720" y="1371600"/>
            <a:ext cx="3566160" cy="3108960"/>
          </a:xfrm>
          <a:prstGeom prst="roundRect">
            <a:avLst>
              <a:gd name="adj" fmla="val 1765"/>
            </a:avLst>
          </a:prstGeom>
          <a:solidFill>
            <a:srgbClr val="F5F7FA"/>
          </a:solidFill>
          <a:ln w="12700">
            <a:solidFill>
              <a:srgbClr val="E2E8F0"/>
            </a:solidFill>
            <a:prstDash val="solid"/>
          </a:ln>
        </p:spPr>
      </p:sp>
      <p:sp>
        <p:nvSpPr>
          <p:cNvPr id="14" name="Callout number 3"/>
          <p:cNvSpPr/>
          <p:nvPr/>
        </p:nvSpPr>
        <p:spPr>
          <a:xfrm>
            <a:off x="8321040" y="1627632"/>
            <a:ext cx="457200" cy="457200"/>
          </a:xfrm>
          <a:prstGeom prst="ellipse">
            <a:avLst/>
          </a:prstGeom>
          <a:solidFill>
            <a:srgbClr val="1B2A8F"/>
          </a:solidFill>
          <a:ln w="25400">
            <a:solidFill>
              <a:srgbClr val="EA580C"/>
            </a:solidFill>
            <a:prstDash val="solid"/>
          </a:ln>
        </p:spPr>
      </p:sp>
      <p:sp>
        <p:nvSpPr>
          <p:cNvPr id="15" name="Text 13"/>
          <p:cNvSpPr txBox="1"/>
          <p:nvPr/>
        </p:nvSpPr>
        <p:spPr>
          <a:xfrm>
            <a:off x="83210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3</a:t>
            </a:r>
            <a:endParaRPr lang="en-US" sz="1600" dirty="0"/>
          </a:p>
        </p:txBody>
      </p:sp>
      <p:sp>
        <p:nvSpPr>
          <p:cNvPr id="16" name="Text 14"/>
          <p:cNvSpPr txBox="1"/>
          <p:nvPr/>
        </p:nvSpPr>
        <p:spPr>
          <a:xfrm>
            <a:off x="8321040" y="2240280"/>
            <a:ext cx="3017520" cy="685800"/>
          </a:xfrm>
          <a:prstGeom prst="rect">
            <a:avLst/>
          </a:prstGeom>
          <a:noFill/>
          <a:ln/>
        </p:spPr>
        <p:txBody>
          <a:bodyPr wrap="square" lIns="0" tIns="0" rIns="0" bIns="0" rtlCol="0" anchor="t"/>
          <a:lstStyle/>
          <a:p>
            <a:pPr indent="0" marL="0">
              <a:buNone/>
            </a:pPr>
            <a:r>
              <a:rPr lang="en-US" sz="1700" b="1" dirty="0">
                <a:solidFill>
                  <a:srgbClr val="1E293B"/>
                </a:solidFill>
                <a:latin typeface="Palatino Linotype" pitchFamily="34" charset="0"/>
                <a:ea typeface="Palatino Linotype" pitchFamily="34" charset="-122"/>
                <a:cs typeface="Palatino Linotype" pitchFamily="34" charset="-120"/>
              </a:rPr>
              <a:t>Your DQAMP support contact</a:t>
            </a:r>
            <a:endParaRPr lang="en-US" sz="1700" dirty="0"/>
          </a:p>
        </p:txBody>
      </p:sp>
      <p:sp>
        <p:nvSpPr>
          <p:cNvPr id="17" name="Text 15"/>
          <p:cNvSpPr txBox="1"/>
          <p:nvPr/>
        </p:nvSpPr>
        <p:spPr>
          <a:xfrm>
            <a:off x="8321040" y="2926080"/>
            <a:ext cx="3017520" cy="1463040"/>
          </a:xfrm>
          <a:prstGeom prst="rect">
            <a:avLst/>
          </a:prstGeom>
          <a:noFill/>
          <a:ln/>
        </p:spPr>
        <p:txBody>
          <a:bodyPr wrap="square" lIns="0" tIns="0" rIns="0" bIns="0" rtlCol="0" anchor="t"/>
          <a:lstStyle/>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Name: ____________________</a:t>
            </a:r>
            <a:endParaRPr lang="en-US" sz="1400" dirty="0"/>
          </a:p>
          <a:p>
            <a:pPr indent="0" marL="0">
              <a:buNone/>
            </a:pPr>
            <a:r>
              <a:rPr lang="en-US" sz="1400" dirty="0">
                <a:solidFill>
                  <a:srgbClr val="536379"/>
                </a:solidFill>
                <a:latin typeface="Palatino Linotype" pitchFamily="34" charset="0"/>
                <a:ea typeface="Palatino Linotype" pitchFamily="34" charset="-122"/>
                <a:cs typeface="Palatino Linotype" pitchFamily="34" charset="-120"/>
              </a:rPr>
              <a:t>Contact: __________________</a:t>
            </a:r>
            <a:endParaRPr lang="en-US" sz="14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19" name="Text 17"/>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400" b="1" dirty="0">
                <a:solidFill>
                  <a:srgbClr val="1B2A8F"/>
                </a:solidFill>
                <a:latin typeface="Century Gothic" pitchFamily="34" charset="0"/>
                <a:ea typeface="Century Gothic" pitchFamily="34" charset="-122"/>
                <a:cs typeface="Century Gothic" pitchFamily="34" charset="-120"/>
              </a:rPr>
              <a:t>Quick-start checklist</a:t>
            </a:r>
            <a:endParaRPr lang="en-US" sz="3400" dirty="0"/>
          </a:p>
        </p:txBody>
      </p:sp>
      <p:sp>
        <p:nvSpPr>
          <p:cNvPr id="3" name="Text 1"/>
          <p:cNvSpPr txBox="1"/>
          <p:nvPr/>
        </p:nvSpPr>
        <p:spPr>
          <a:xfrm>
            <a:off x="54864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Before you start</a:t>
            </a:r>
            <a:endParaRPr lang="en-US" sz="1700" dirty="0"/>
          </a:p>
        </p:txBody>
      </p:sp>
      <p:sp>
        <p:nvSpPr>
          <p:cNvPr id="4" name="Shape 2"/>
          <p:cNvSpPr/>
          <p:nvPr/>
        </p:nvSpPr>
        <p:spPr>
          <a:xfrm>
            <a:off x="548640" y="1828800"/>
            <a:ext cx="201168" cy="201168"/>
          </a:xfrm>
          <a:prstGeom prst="rect">
            <a:avLst/>
          </a:prstGeom>
          <a:solidFill>
            <a:srgbClr val="FFFFFF"/>
          </a:solidFill>
          <a:ln w="12700">
            <a:solidFill>
              <a:srgbClr val="536379"/>
            </a:solidFill>
            <a:prstDash val="solid"/>
          </a:ln>
        </p:spPr>
      </p:sp>
      <p:sp>
        <p:nvSpPr>
          <p:cNvPr id="5" name="Text 3"/>
          <p:cNvSpPr txBox="1"/>
          <p:nvPr/>
        </p:nvSpPr>
        <p:spPr>
          <a:xfrm>
            <a:off x="89611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open DQAMP at http://127.0.0.1:3002</a:t>
            </a:r>
            <a:endParaRPr lang="en-US" sz="1350" dirty="0"/>
          </a:p>
        </p:txBody>
      </p:sp>
      <p:sp>
        <p:nvSpPr>
          <p:cNvPr id="6" name="Shape 4"/>
          <p:cNvSpPr/>
          <p:nvPr/>
        </p:nvSpPr>
        <p:spPr>
          <a:xfrm>
            <a:off x="548640" y="2331720"/>
            <a:ext cx="201168" cy="201168"/>
          </a:xfrm>
          <a:prstGeom prst="rect">
            <a:avLst/>
          </a:prstGeom>
          <a:solidFill>
            <a:srgbClr val="FFFFFF"/>
          </a:solidFill>
          <a:ln w="12700">
            <a:solidFill>
              <a:srgbClr val="536379"/>
            </a:solidFill>
            <a:prstDash val="solid"/>
          </a:ln>
        </p:spPr>
      </p:sp>
      <p:sp>
        <p:nvSpPr>
          <p:cNvPr id="7" name="Text 5"/>
          <p:cNvSpPr txBox="1"/>
          <p:nvPr/>
        </p:nvSpPr>
        <p:spPr>
          <a:xfrm>
            <a:off x="89611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My division is set (ask your administrator)</a:t>
            </a:r>
            <a:endParaRPr lang="en-US" sz="1350" dirty="0"/>
          </a:p>
        </p:txBody>
      </p:sp>
      <p:sp>
        <p:nvSpPr>
          <p:cNvPr id="8" name="Shape 6"/>
          <p:cNvSpPr/>
          <p:nvPr/>
        </p:nvSpPr>
        <p:spPr>
          <a:xfrm>
            <a:off x="548640" y="2834640"/>
            <a:ext cx="201168" cy="201168"/>
          </a:xfrm>
          <a:prstGeom prst="rect">
            <a:avLst/>
          </a:prstGeom>
          <a:solidFill>
            <a:srgbClr val="FFFFFF"/>
          </a:solidFill>
          <a:ln w="12700">
            <a:solidFill>
              <a:srgbClr val="536379"/>
            </a:solidFill>
            <a:prstDash val="solid"/>
          </a:ln>
        </p:spPr>
      </p:sp>
      <p:sp>
        <p:nvSpPr>
          <p:cNvPr id="9" name="Text 7"/>
          <p:cNvSpPr txBox="1"/>
          <p:nvPr/>
        </p:nvSpPr>
        <p:spPr>
          <a:xfrm>
            <a:off x="89611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I can upload to the OneDrive evidence folder</a:t>
            </a:r>
            <a:endParaRPr lang="en-US" sz="1350" dirty="0"/>
          </a:p>
        </p:txBody>
      </p:sp>
      <p:sp>
        <p:nvSpPr>
          <p:cNvPr id="10" name="Text 8"/>
          <p:cNvSpPr txBox="1"/>
          <p:nvPr/>
        </p:nvSpPr>
        <p:spPr>
          <a:xfrm>
            <a:off x="548640" y="352044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Every week</a:t>
            </a:r>
            <a:endParaRPr lang="en-US" sz="1700" dirty="0"/>
          </a:p>
        </p:txBody>
      </p:sp>
      <p:sp>
        <p:nvSpPr>
          <p:cNvPr id="11" name="Shape 9"/>
          <p:cNvSpPr/>
          <p:nvPr/>
        </p:nvSpPr>
        <p:spPr>
          <a:xfrm>
            <a:off x="548640" y="4023360"/>
            <a:ext cx="201168" cy="201168"/>
          </a:xfrm>
          <a:prstGeom prst="rect">
            <a:avLst/>
          </a:prstGeom>
          <a:solidFill>
            <a:srgbClr val="FFFFFF"/>
          </a:solidFill>
          <a:ln w="12700">
            <a:solidFill>
              <a:srgbClr val="536379"/>
            </a:solidFill>
            <a:prstDash val="solid"/>
          </a:ln>
        </p:spPr>
      </p:sp>
      <p:sp>
        <p:nvSpPr>
          <p:cNvPr id="12" name="Text 10"/>
          <p:cNvSpPr txBox="1"/>
          <p:nvPr/>
        </p:nvSpPr>
        <p:spPr>
          <a:xfrm>
            <a:off x="896112" y="39776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Check for Returned for Revision activities</a:t>
            </a:r>
            <a:endParaRPr lang="en-US" sz="1350" dirty="0"/>
          </a:p>
        </p:txBody>
      </p:sp>
      <p:sp>
        <p:nvSpPr>
          <p:cNvPr id="13" name="Shape 11"/>
          <p:cNvSpPr/>
          <p:nvPr/>
        </p:nvSpPr>
        <p:spPr>
          <a:xfrm>
            <a:off x="548640" y="4526280"/>
            <a:ext cx="201168" cy="201168"/>
          </a:xfrm>
          <a:prstGeom prst="rect">
            <a:avLst/>
          </a:prstGeom>
          <a:solidFill>
            <a:srgbClr val="FFFFFF"/>
          </a:solidFill>
          <a:ln w="12700">
            <a:solidFill>
              <a:srgbClr val="536379"/>
            </a:solidFill>
            <a:prstDash val="solid"/>
          </a:ln>
        </p:spPr>
      </p:sp>
      <p:sp>
        <p:nvSpPr>
          <p:cNvPr id="14" name="Text 12"/>
          <p:cNvSpPr txBox="1"/>
          <p:nvPr/>
        </p:nvSpPr>
        <p:spPr>
          <a:xfrm>
            <a:off x="896112" y="448056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Fix them and resubmit</a:t>
            </a:r>
            <a:endParaRPr lang="en-US" sz="1350" dirty="0"/>
          </a:p>
        </p:txBody>
      </p:sp>
      <p:sp>
        <p:nvSpPr>
          <p:cNvPr id="15" name="Text 13"/>
          <p:cNvSpPr txBox="1"/>
          <p:nvPr/>
        </p:nvSpPr>
        <p:spPr>
          <a:xfrm>
            <a:off x="6309360" y="1325880"/>
            <a:ext cx="5303520" cy="365760"/>
          </a:xfrm>
          <a:prstGeom prst="rect">
            <a:avLst/>
          </a:prstGeom>
          <a:noFill/>
          <a:ln/>
        </p:spPr>
        <p:txBody>
          <a:bodyPr wrap="square" lIns="0" tIns="0" rIns="0" bIns="0" rtlCol="0" anchor="ctr"/>
          <a:lstStyle/>
          <a:p>
            <a:pPr indent="0" marL="0">
              <a:buNone/>
            </a:pPr>
            <a:r>
              <a:rPr lang="en-US" sz="1700" b="1" dirty="0">
                <a:solidFill>
                  <a:srgbClr val="1B2A8F"/>
                </a:solidFill>
                <a:latin typeface="Palatino Linotype" pitchFamily="34" charset="0"/>
                <a:ea typeface="Palatino Linotype" pitchFamily="34" charset="-122"/>
                <a:cs typeface="Palatino Linotype" pitchFamily="34" charset="-120"/>
              </a:rPr>
              <a:t>For each activity</a:t>
            </a:r>
            <a:endParaRPr lang="en-US" sz="1700" dirty="0"/>
          </a:p>
        </p:txBody>
      </p:sp>
      <p:sp>
        <p:nvSpPr>
          <p:cNvPr id="16" name="Shape 14"/>
          <p:cNvSpPr/>
          <p:nvPr/>
        </p:nvSpPr>
        <p:spPr>
          <a:xfrm>
            <a:off x="6309360" y="1828800"/>
            <a:ext cx="201168" cy="201168"/>
          </a:xfrm>
          <a:prstGeom prst="rect">
            <a:avLst/>
          </a:prstGeom>
          <a:solidFill>
            <a:srgbClr val="FFFFFF"/>
          </a:solidFill>
          <a:ln w="12700">
            <a:solidFill>
              <a:srgbClr val="536379"/>
            </a:solidFill>
            <a:prstDash val="solid"/>
          </a:ln>
        </p:spPr>
      </p:sp>
      <p:sp>
        <p:nvSpPr>
          <p:cNvPr id="17" name="Text 15"/>
          <p:cNvSpPr txBox="1"/>
          <p:nvPr/>
        </p:nvSpPr>
        <p:spPr>
          <a:xfrm>
            <a:off x="6656832" y="178308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My Activities → New Activity → title and division → Create</a:t>
            </a:r>
            <a:endParaRPr lang="en-US" sz="1350" dirty="0"/>
          </a:p>
        </p:txBody>
      </p:sp>
      <p:sp>
        <p:nvSpPr>
          <p:cNvPr id="18" name="Shape 16"/>
          <p:cNvSpPr/>
          <p:nvPr/>
        </p:nvSpPr>
        <p:spPr>
          <a:xfrm>
            <a:off x="6309360" y="2331720"/>
            <a:ext cx="201168" cy="201168"/>
          </a:xfrm>
          <a:prstGeom prst="rect">
            <a:avLst/>
          </a:prstGeom>
          <a:solidFill>
            <a:srgbClr val="FFFFFF"/>
          </a:solidFill>
          <a:ln w="12700">
            <a:solidFill>
              <a:srgbClr val="536379"/>
            </a:solidFill>
            <a:prstDash val="solid"/>
          </a:ln>
        </p:spPr>
      </p:sp>
      <p:sp>
        <p:nvSpPr>
          <p:cNvPr id="19" name="Text 17"/>
          <p:cNvSpPr txBox="1"/>
          <p:nvPr/>
        </p:nvSpPr>
        <p:spPr>
          <a:xfrm>
            <a:off x="6656832" y="228600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Add the OneDrive evidence link</a:t>
            </a:r>
            <a:endParaRPr lang="en-US" sz="1350" dirty="0"/>
          </a:p>
        </p:txBody>
      </p:sp>
      <p:sp>
        <p:nvSpPr>
          <p:cNvPr id="20" name="Shape 18"/>
          <p:cNvSpPr/>
          <p:nvPr/>
        </p:nvSpPr>
        <p:spPr>
          <a:xfrm>
            <a:off x="6309360" y="2834640"/>
            <a:ext cx="201168" cy="201168"/>
          </a:xfrm>
          <a:prstGeom prst="rect">
            <a:avLst/>
          </a:prstGeom>
          <a:solidFill>
            <a:srgbClr val="FFFFFF"/>
          </a:solidFill>
          <a:ln w="12700">
            <a:solidFill>
              <a:srgbClr val="536379"/>
            </a:solidFill>
            <a:prstDash val="solid"/>
          </a:ln>
        </p:spPr>
      </p:sp>
      <p:sp>
        <p:nvSpPr>
          <p:cNvPr id="21" name="Text 19"/>
          <p:cNvSpPr txBox="1"/>
          <p:nvPr/>
        </p:nvSpPr>
        <p:spPr>
          <a:xfrm>
            <a:off x="6656832" y="278892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Submit for review</a:t>
            </a:r>
            <a:endParaRPr lang="en-US" sz="1350" dirty="0"/>
          </a:p>
        </p:txBody>
      </p:sp>
      <p:sp>
        <p:nvSpPr>
          <p:cNvPr id="22" name="Shape 20"/>
          <p:cNvSpPr/>
          <p:nvPr/>
        </p:nvSpPr>
        <p:spPr>
          <a:xfrm>
            <a:off x="6309360" y="3337560"/>
            <a:ext cx="201168" cy="201168"/>
          </a:xfrm>
          <a:prstGeom prst="rect">
            <a:avLst/>
          </a:prstGeom>
          <a:solidFill>
            <a:srgbClr val="FFFFFF"/>
          </a:solidFill>
          <a:ln w="12700">
            <a:solidFill>
              <a:srgbClr val="536379"/>
            </a:solidFill>
            <a:prstDash val="solid"/>
          </a:ln>
        </p:spPr>
      </p:sp>
      <p:sp>
        <p:nvSpPr>
          <p:cNvPr id="23" name="Text 21"/>
          <p:cNvSpPr txBox="1"/>
          <p:nvPr/>
        </p:nvSpPr>
        <p:spPr>
          <a:xfrm>
            <a:off x="6656832" y="3291840"/>
            <a:ext cx="4937760" cy="457200"/>
          </a:xfrm>
          <a:prstGeom prst="rect">
            <a:avLst/>
          </a:prstGeom>
          <a:noFill/>
          <a:ln/>
        </p:spPr>
        <p:txBody>
          <a:bodyPr wrap="square" lIns="0" tIns="0" rIns="0" bIns="0" rtlCol="0" anchor="t"/>
          <a:lstStyle/>
          <a:p>
            <a:pPr indent="0" marL="0">
              <a:buNone/>
            </a:pPr>
            <a:r>
              <a:rPr lang="en-US" sz="1350" dirty="0">
                <a:solidFill>
                  <a:srgbClr val="1E293B"/>
                </a:solidFill>
                <a:latin typeface="Palatino Linotype" pitchFamily="34" charset="0"/>
                <a:ea typeface="Palatino Linotype" pitchFamily="34" charset="-122"/>
                <a:cs typeface="Palatino Linotype" pitchFamily="34" charset="-120"/>
              </a:rPr>
              <a:t>After the activity: record ARTA feedback</a:t>
            </a:r>
            <a:endParaRPr lang="en-US" sz="1350" dirty="0"/>
          </a:p>
        </p:txBody>
      </p:sp>
      <p:sp>
        <p:nvSpPr>
          <p:cNvPr id="24" name="Text 2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200" dirty="0">
                <a:solidFill>
                  <a:srgbClr val="536379"/>
                </a:solidFill>
                <a:latin typeface="Palatino Linotype" pitchFamily="34" charset="0"/>
                <a:ea typeface="Palatino Linotype" pitchFamily="34" charset="-122"/>
                <a:cs typeface="Palatino Linotype" pitchFamily="34" charset="-120"/>
              </a:rPr>
              <a:t>Help: your DQAMP administrator · README.md beside the launcher · http://127.0.0.1:3002</a:t>
            </a:r>
            <a:endParaRPr lang="en-US" sz="1200" dirty="0"/>
          </a:p>
        </p:txBody>
      </p:sp>
      <p:sp>
        <p:nvSpPr>
          <p:cNvPr id="25"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36379"/>
                </a:solidFill>
                <a:latin typeface="Palatino Linotype" pitchFamily="34" charset="0"/>
                <a:ea typeface="Palatino Linotype" pitchFamily="34" charset="-122"/>
                <a:cs typeface="Palatino Linotype" pitchFamily="34" charset="-120"/>
              </a:rPr>
              <a:t>DQAMP 2026 · Onboarding for Implementers</a:t>
            </a:r>
            <a:endParaRPr lang="en-US" sz="1000" dirty="0"/>
          </a:p>
        </p:txBody>
      </p:sp>
      <p:sp>
        <p:nvSpPr>
          <p:cNvPr id="26" name="Text 24"/>
          <p:cNvSpPr txBox="1"/>
          <p:nvPr/>
        </p:nvSpPr>
        <p:spPr>
          <a:xfrm>
            <a:off x="11155680" y="6400800"/>
            <a:ext cx="457200" cy="274320"/>
          </a:xfrm>
          <a:prstGeom prst="rect">
            <a:avLst/>
          </a:prstGeom>
          <a:noFill/>
          <a:ln/>
        </p:spPr>
        <p:txBody>
          <a:bodyPr wrap="square" lIns="0" tIns="0" rIns="0" bIns="0" rtlCol="0" anchor="ctr"/>
          <a:lstStyle/>
          <a:p>
            <a:pPr algn="r" indent="0" marL="0">
              <a:buNone/>
            </a:pPr>
            <a:r>
              <a:rPr lang="en-US" sz="1000" dirty="0">
                <a:solidFill>
                  <a:srgbClr val="536379"/>
                </a:solidFill>
                <a:latin typeface="Palatino Linotype" pitchFamily="34" charset="0"/>
                <a:ea typeface="Palatino Linotype" pitchFamily="34" charset="-122"/>
                <a:cs typeface="Palatino Linotype" pitchFamily="34" charset="-120"/>
              </a:rPr>
              <a:t>15</a:t>
            </a:r>
            <a:endParaRPr lang="en-US" sz="1000" dirty="0"/>
          </a:p>
        </p:txBody>
      </p:sp>
    </p:spTree>
  </p:cSld>
  <p:clrMapOvr>
    <a:masterClrMapping/>
  </p:clrMapOvr>
</p:sld>
</file>

<file path=ppt/theme/theme1.xml><?xml version="1.0" encoding="utf-8"?>
<a:theme xmlns:a="http://schemas.openxmlformats.org/drawingml/2006/main" name="DQAMP">
  <a:themeElements>
    <a:clrScheme name="DQAMP">
      <a:dk1>
        <a:srgbClr val="1E293B"/>
      </a:dk1>
      <a:lt1>
        <a:srgbClr val="FFFFFF"/>
      </a:lt1>
      <a:dk2>
        <a:srgbClr val="1B2A8F"/>
      </a:dk2>
      <a:lt2>
        <a:srgbClr val="F5F7FA"/>
      </a:lt2>
      <a:accent1>
        <a:srgbClr val="1B2A8F"/>
      </a:accent1>
      <a:accent2>
        <a:srgbClr val="EA580C"/>
      </a:accent2>
      <a:accent3>
        <a:srgbClr val="F2B705"/>
      </a:accent3>
      <a:accent4>
        <a:srgbClr val="B91C1C"/>
      </a:accent4>
      <a:accent5>
        <a:srgbClr val="536379"/>
      </a:accent5>
      <a:accent6>
        <a:srgbClr val="15338A"/>
      </a:accent6>
      <a:hlink>
        <a:srgbClr val="1B2A8F"/>
      </a:hlink>
      <a:folHlink>
        <a:srgbClr val="536379"/>
      </a:folHlink>
    </a:clrScheme>
    <a:fontScheme name="DQAMP">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SDO Lucena 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DQAMP onboarding: Implementers</dc:title>
  <dc:subject>PptxGenJS Presentation</dc:subject>
  <dc:creator>DQAMP 2026</dc:creator>
  <cp:lastModifiedBy>DQAMP 2026</cp:lastModifiedBy>
  <cp:revision>1</cp:revision>
  <dcterms:created xsi:type="dcterms:W3CDTF">2026-10-26T13:51:55Z</dcterms:created>
  <dcterms:modified xsi:type="dcterms:W3CDTF">2026-10-26T13:51:55Z</dcterms:modified>
</cp:coreProperties>
</file>