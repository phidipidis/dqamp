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In the next 20 minutes you will learn how to use DQAMP as an administrator.
Read the three objectives aloud. Tell participants they will practise at the end.
[DEMO CUE] Have DQAMP open on the host computer at the sign-in page.
[CHECK BEFORE PRESENTING] All names and figures in this deck are fictional sample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DQAMP is the Division Quality Assurance and Monitoring Portal.
1. Goals, objectives, projects, outputs and activities link together, so results are traceable from the top down.
2. Every activity goes through QA review before it is published.
3. Everything is stored on the computer where DQAMP runs. There is no cloud account. The administrator backs up the data folder, so nobody else should copy or delete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DQAMP has four roles. Point to the highlighted card: that is the role this session covers.
The rules are enforced by the system, not just by the menus. If you cannot use a button, it does not appear; if a change is outside your role or division, DQAMP refuses it.
[CHECK BEFORE PRESENTING] Name your office's administrator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DQAMP runs on one computer, and you sign in there in a web browser.
1. Type the email your administrator registered.
2. Type the temporary password your administrator gave you.
3. Click Sign in.
There is no email invitation and no password-reset screen. The administrator handles both.
[DEMO CUE] Sign in with a training account. Do not show a real password on screen.
[CHECK BEFORE PRESENTING] Confirm the address your office uses (the default is http://127.0.0.1:3002).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signing in you land on the Dashboard.
1. The menu on the left.
2. The filters narrow every figure on the page.
3. The headline figures. Completion counts published activities only.
4. Division performance compares divisions.
5. Your account, where you sign out.
[DEMO CUE] Select SGOD in the division filter and show the figures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activity follows these four steps. The filled circles are the steps this role performs.
Returned for Revision is the loop: the QA Assessor sends it back with a note, the Implementer fixes it and submits again.
Once an activity is Under Review or Published, it is locked for everyone except the reviewer and administrators.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User Management and click Invite User.
1. Type the email.
2. Choose the role.
3. For Implementers and Planning Admins, choose the division.
4. Click Create Account.
[DEMO CUE] Create the account grace.lim@sdo-lucena.test as an SGOD Implementer.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temporary password appears once. If you close the dialog without copying it, set a new one with npm run set-password -- email "new password" on the DQAMP computer.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Implementer or Planning Admin without a division sees no records, so check this column after every import or invite.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publishing, open the activity and check the QAME evaluation and the evidence link.
[DEMO CUE] Publish Division Orientation on Learner Support.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Revert is for corrections, such as publishing too early.
[DEMO CUE] Revert the activity you just published.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common corrections for administrators. Users cannot be deleted in this version, so plan for staff changes by changing roles.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table. These are the problems new users meet most often.
[CHECK BEFORE PRESENTING] Add your administrator's name and contact details.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participants about 10 minutes, in pairs if computers are limited.
Practice records go into the same database as real work. Use a training copy of DQAMP, or agree with your administrator which practice records to delete afterwards.
[CHECK BEFORE PRESENTING] Name the practice accounts and the sample OneDrive link to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you are stuck, start with your administrator.
[CHECK BEFORE PRESENTING] Fill in the support contact on this slide.
Close by thanking participants and asking for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Hand out this checklist. It summarises the session on one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8F"/>
        </a:solidFill>
      </p:bgPr>
    </p:bg>
    <p:spTree>
      <p:nvGrpSpPr>
        <p:cNvPr id="1" name=""/>
        <p:cNvGrpSpPr/>
        <p:nvPr/>
      </p:nvGrpSpPr>
      <p:grpSpPr>
        <a:xfrm>
          <a:off x="0" y="0"/>
          <a:ext cx="0" cy="0"/>
          <a:chOff x="0" y="0"/>
          <a:chExt cx="0" cy="0"/>
        </a:xfrm>
      </p:grpSpPr>
      <p:pic>
        <p:nvPicPr>
          <p:cNvPr id="2" name="Image 0" descr="Schools Division Office of Lucena City seal">    </p:cNvPr>
          <p:cNvPicPr>
            <a:picLocks noChangeAspect="1"/>
          </p:cNvPicPr>
          <p:nvPr/>
        </p:nvPicPr>
        <p:blipFill>
          <a:blip r:embed="rId1"/>
          <a:stretch>
            <a:fillRect/>
          </a:stretch>
        </p:blipFill>
        <p:spPr>
          <a:xfrm>
            <a:off x="548640" y="411480"/>
            <a:ext cx="777240" cy="777240"/>
          </a:xfrm>
          <a:prstGeom prst="rect">
            <a:avLst/>
          </a:prstGeom>
        </p:spPr>
      </p:pic>
      <p:sp>
        <p:nvSpPr>
          <p:cNvPr id="3" name="Text 0"/>
          <p:cNvSpPr txBox="1"/>
          <p:nvPr/>
        </p:nvSpPr>
        <p:spPr>
          <a:xfrm>
            <a:off x="1463040" y="457200"/>
            <a:ext cx="4572000" cy="685800"/>
          </a:xfrm>
          <a:prstGeom prst="rect">
            <a:avLst/>
          </a:prstGeom>
          <a:noFill/>
          <a:ln/>
        </p:spPr>
        <p:txBody>
          <a:bodyPr wrap="square" lIns="0" tIns="0" rIns="0" bIns="0" rtlCol="0" anchor="ctr"/>
          <a:lstStyle/>
          <a:p>
            <a:pPr indent="0" marL="0">
              <a:buNone/>
            </a:pPr>
            <a:r>
              <a:rPr lang="en-US" sz="1400" b="1" dirty="0">
                <a:solidFill>
                  <a:srgbClr val="FFFFFF"/>
                </a:solidFill>
                <a:latin typeface="Palatino Linotype" pitchFamily="34" charset="0"/>
                <a:ea typeface="Palatino Linotype" pitchFamily="34" charset="-122"/>
                <a:cs typeface="Palatino Linotype" pitchFamily="34" charset="-120"/>
              </a:rPr>
              <a:t>DQAMP 2026</a:t>
            </a:r>
            <a:endParaRPr lang="en-US" sz="1400" dirty="0"/>
          </a:p>
          <a:p>
            <a:pPr indent="0" marL="0">
              <a:buNone/>
            </a:pPr>
            <a:r>
              <a:rPr lang="en-US" sz="1100" dirty="0">
                <a:solidFill>
                  <a:srgbClr val="CADCFC"/>
                </a:solidFill>
                <a:latin typeface="Palatino Linotype" pitchFamily="34" charset="0"/>
                <a:ea typeface="Palatino Linotype" pitchFamily="34" charset="-122"/>
                <a:cs typeface="Palatino Linotype" pitchFamily="34" charset="-120"/>
              </a:rPr>
              <a:t>Schools Division Office of Lucena City</a:t>
            </a:r>
            <a:endParaRPr lang="en-US" sz="1400" dirty="0"/>
          </a:p>
        </p:txBody>
      </p:sp>
      <p:sp>
        <p:nvSpPr>
          <p:cNvPr id="4" name="Text 1"/>
          <p:cNvSpPr txBox="1"/>
          <p:nvPr/>
        </p:nvSpPr>
        <p:spPr>
          <a:xfrm>
            <a:off x="548640" y="1828800"/>
            <a:ext cx="5394960" cy="1188720"/>
          </a:xfrm>
          <a:prstGeom prst="rect">
            <a:avLst/>
          </a:prstGeom>
          <a:noFill/>
          <a:ln/>
        </p:spPr>
        <p:txBody>
          <a:bodyPr wrap="square" lIns="0" tIns="0" rIns="0" bIns="0" rtlCol="0" anchor="t"/>
          <a:lstStyle/>
          <a:p>
            <a:pPr indent="0" marL="0">
              <a:buNone/>
            </a:pPr>
            <a:r>
              <a:rPr lang="en-US" sz="4000" b="1" dirty="0">
                <a:solidFill>
                  <a:srgbClr val="FFFFFF"/>
                </a:solidFill>
                <a:latin typeface="Century Gothic" pitchFamily="34" charset="0"/>
                <a:ea typeface="Century Gothic" pitchFamily="34" charset="-122"/>
                <a:cs typeface="Century Gothic" pitchFamily="34" charset="-120"/>
              </a:rPr>
              <a:t>Welcome to DQAMP</a:t>
            </a:r>
            <a:endParaRPr lang="en-US" sz="4000" dirty="0"/>
          </a:p>
        </p:txBody>
      </p:sp>
      <p:sp>
        <p:nvSpPr>
          <p:cNvPr id="5" name="Text 2"/>
          <p:cNvSpPr txBox="1"/>
          <p:nvPr/>
        </p:nvSpPr>
        <p:spPr>
          <a:xfrm>
            <a:off x="548640" y="3154680"/>
            <a:ext cx="5394960" cy="457200"/>
          </a:xfrm>
          <a:prstGeom prst="rect">
            <a:avLst/>
          </a:prstGeom>
          <a:noFill/>
          <a:ln/>
        </p:spPr>
        <p:txBody>
          <a:bodyPr wrap="square" lIns="0" tIns="0" rIns="0" bIns="0" rtlCol="0" anchor="ctr"/>
          <a:lstStyle/>
          <a:p>
            <a:pPr indent="0" marL="0">
              <a:buNone/>
            </a:pPr>
            <a:r>
              <a:rPr lang="en-US" sz="2000" dirty="0">
                <a:solidFill>
                  <a:srgbClr val="F2B705"/>
                </a:solidFill>
                <a:latin typeface="Palatino Linotype" pitchFamily="34" charset="0"/>
                <a:ea typeface="Palatino Linotype" pitchFamily="34" charset="-122"/>
                <a:cs typeface="Palatino Linotype" pitchFamily="34" charset="-120"/>
              </a:rPr>
              <a:t>Onboarding for Administrators</a:t>
            </a:r>
            <a:endParaRPr lang="en-US" sz="2000" dirty="0"/>
          </a:p>
        </p:txBody>
      </p:sp>
      <p:sp>
        <p:nvSpPr>
          <p:cNvPr id="6" name="Text 3"/>
          <p:cNvSpPr txBox="1"/>
          <p:nvPr/>
        </p:nvSpPr>
        <p:spPr>
          <a:xfrm>
            <a:off x="548640" y="3611880"/>
            <a:ext cx="5394960" cy="365760"/>
          </a:xfrm>
          <a:prstGeom prst="rect">
            <a:avLst/>
          </a:prstGeom>
          <a:noFill/>
          <a:ln/>
        </p:spPr>
        <p:txBody>
          <a:bodyPr wrap="square" lIns="0" tIns="0" rIns="0" bIns="0" rtlCol="0" anchor="ctr"/>
          <a:lstStyle/>
          <a:p>
            <a:pPr indent="0" marL="0">
              <a:buNone/>
            </a:pPr>
            <a:r>
              <a:rPr lang="en-US" sz="1400" dirty="0">
                <a:solidFill>
                  <a:srgbClr val="CADCFC"/>
                </a:solidFill>
                <a:latin typeface="Palatino Linotype" pitchFamily="34" charset="0"/>
                <a:ea typeface="Palatino Linotype" pitchFamily="34" charset="-122"/>
                <a:cs typeface="Palatino Linotype" pitchFamily="34" charset="-120"/>
              </a:rPr>
              <a:t>About 20 minutes, plus practice</a:t>
            </a:r>
            <a:endParaRPr lang="en-US" sz="1400" dirty="0"/>
          </a:p>
        </p:txBody>
      </p:sp>
      <p:sp>
        <p:nvSpPr>
          <p:cNvPr id="7" name="Text 4"/>
          <p:cNvSpPr txBox="1"/>
          <p:nvPr/>
        </p:nvSpPr>
        <p:spPr>
          <a:xfrm>
            <a:off x="548640" y="5989320"/>
            <a:ext cx="5486400" cy="365760"/>
          </a:xfrm>
          <a:prstGeom prst="rect">
            <a:avLst/>
          </a:prstGeom>
          <a:noFill/>
          <a:ln/>
        </p:spPr>
        <p:txBody>
          <a:bodyPr wrap="square" lIns="0" tIns="0" rIns="0" bIns="0" rtlCol="0" anchor="ctr"/>
          <a:lstStyle/>
          <a:p>
            <a:pPr indent="0" marL="0">
              <a:buNone/>
            </a:pPr>
            <a:r>
              <a:rPr lang="en-US" sz="1400" b="1" dirty="0">
                <a:solidFill>
                  <a:srgbClr val="F2B705"/>
                </a:solidFill>
                <a:latin typeface="Century Gothic" pitchFamily="34" charset="0"/>
                <a:ea typeface="Century Gothic" pitchFamily="34" charset="-122"/>
                <a:cs typeface="Century Gothic" pitchFamily="34" charset="-120"/>
              </a:rPr>
              <a:t>Plan it. Track it. Prove it.</a:t>
            </a:r>
            <a:endParaRPr lang="en-US" sz="1400" dirty="0"/>
          </a:p>
        </p:txBody>
      </p:sp>
      <p:sp>
        <p:nvSpPr>
          <p:cNvPr id="8" name="Text 5"/>
          <p:cNvSpPr txBox="1"/>
          <p:nvPr/>
        </p:nvSpPr>
        <p:spPr>
          <a:xfrm>
            <a:off x="6400800" y="1463040"/>
            <a:ext cx="5212080" cy="411480"/>
          </a:xfrm>
          <a:prstGeom prst="rect">
            <a:avLst/>
          </a:prstGeom>
          <a:noFill/>
          <a:ln/>
        </p:spPr>
        <p:txBody>
          <a:bodyPr wrap="square" lIns="0" tIns="0" rIns="0" bIns="0" rtlCol="0" anchor="ctr"/>
          <a:lstStyle/>
          <a:p>
            <a:pPr indent="0" marL="0">
              <a:buNone/>
            </a:pPr>
            <a:r>
              <a:rPr lang="en-US" sz="1600" b="1" dirty="0">
                <a:solidFill>
                  <a:srgbClr val="FFFFFF"/>
                </a:solidFill>
                <a:latin typeface="Palatino Linotype" pitchFamily="34" charset="0"/>
                <a:ea typeface="Palatino Linotype" pitchFamily="34" charset="-122"/>
                <a:cs typeface="Palatino Linotype" pitchFamily="34" charset="-120"/>
              </a:rPr>
              <a:t>By the end of this session you can:</a:t>
            </a:r>
            <a:endParaRPr lang="en-US" sz="1600" dirty="0"/>
          </a:p>
        </p:txBody>
      </p:sp>
      <p:sp>
        <p:nvSpPr>
          <p:cNvPr id="9" name="Shape 6"/>
          <p:cNvSpPr/>
          <p:nvPr/>
        </p:nvSpPr>
        <p:spPr>
          <a:xfrm>
            <a:off x="6400800" y="2011680"/>
            <a:ext cx="5212080" cy="777240"/>
          </a:xfrm>
          <a:prstGeom prst="roundRect">
            <a:avLst>
              <a:gd name="adj" fmla="val 7059"/>
            </a:avLst>
          </a:prstGeom>
          <a:solidFill>
            <a:srgbClr val="15338A"/>
          </a:solidFill>
          <a:ln w="12700">
            <a:solidFill>
              <a:srgbClr val="15338A"/>
            </a:solidFill>
            <a:prstDash val="solid"/>
          </a:ln>
        </p:spPr>
      </p:sp>
      <p:sp>
        <p:nvSpPr>
          <p:cNvPr id="10" name="Shape 7"/>
          <p:cNvSpPr/>
          <p:nvPr/>
        </p:nvSpPr>
        <p:spPr>
          <a:xfrm>
            <a:off x="6601968" y="2203704"/>
            <a:ext cx="393192" cy="393192"/>
          </a:xfrm>
          <a:prstGeom prst="ellipse">
            <a:avLst/>
          </a:prstGeom>
          <a:solidFill>
            <a:srgbClr val="F2B705"/>
          </a:solidFill>
          <a:ln w="12700">
            <a:solidFill>
              <a:srgbClr val="F2B705"/>
            </a:solidFill>
            <a:prstDash val="solid"/>
          </a:ln>
        </p:spPr>
      </p:sp>
      <p:sp>
        <p:nvSpPr>
          <p:cNvPr id="11" name="Text 8"/>
          <p:cNvSpPr txBox="1"/>
          <p:nvPr/>
        </p:nvSpPr>
        <p:spPr>
          <a:xfrm>
            <a:off x="6601968" y="2203704"/>
            <a:ext cx="393192" cy="393192"/>
          </a:xfrm>
          <a:prstGeom prst="rect">
            <a:avLst/>
          </a:prstGeom>
          <a:noFill/>
          <a:ln/>
        </p:spPr>
        <p:txBody>
          <a:bodyPr wrap="square" lIns="0" tIns="0" rIns="0" bIns="0" rtlCol="0" anchor="ctr"/>
          <a:lstStyle/>
          <a:p>
            <a:pPr algn="ctr" indent="0" marL="0">
              <a:buNone/>
            </a:pPr>
            <a:r>
              <a:rPr lang="en-US" sz="1400" b="1" dirty="0">
                <a:solidFill>
                  <a:srgbClr val="1E293B"/>
                </a:solidFill>
                <a:latin typeface="Palatino Linotype" pitchFamily="34" charset="0"/>
                <a:ea typeface="Palatino Linotype" pitchFamily="34" charset="-122"/>
                <a:cs typeface="Palatino Linotype" pitchFamily="34" charset="-120"/>
              </a:rPr>
              <a:t>1</a:t>
            </a:r>
            <a:endParaRPr lang="en-US" sz="1400" dirty="0"/>
          </a:p>
        </p:txBody>
      </p:sp>
      <p:sp>
        <p:nvSpPr>
          <p:cNvPr id="12" name="Text 9"/>
          <p:cNvSpPr txBox="1"/>
          <p:nvPr/>
        </p:nvSpPr>
        <p:spPr>
          <a:xfrm>
            <a:off x="7178040" y="2084832"/>
            <a:ext cx="4297680" cy="640080"/>
          </a:xfrm>
          <a:prstGeom prst="rect">
            <a:avLst/>
          </a:prstGeom>
          <a:noFill/>
          <a:ln/>
        </p:spPr>
        <p:txBody>
          <a:bodyPr wrap="square" lIns="0" tIns="0" rIns="0" bIns="0" rtlCol="0" anchor="ctr"/>
          <a:lstStyle/>
          <a:p>
            <a:pPr indent="0" marL="0">
              <a:buNone/>
            </a:pPr>
            <a:r>
              <a:rPr lang="en-US" sz="1500" dirty="0">
                <a:solidFill>
                  <a:srgbClr val="FFFFFF"/>
                </a:solidFill>
                <a:latin typeface="Palatino Linotype" pitchFamily="34" charset="0"/>
                <a:ea typeface="Palatino Linotype" pitchFamily="34" charset="-122"/>
                <a:cs typeface="Palatino Linotype" pitchFamily="34" charset="-120"/>
              </a:rPr>
              <a:t>Sign in and read the division at a glance</a:t>
            </a:r>
            <a:endParaRPr lang="en-US" sz="1500" dirty="0"/>
          </a:p>
        </p:txBody>
      </p:sp>
      <p:sp>
        <p:nvSpPr>
          <p:cNvPr id="13" name="Shape 10"/>
          <p:cNvSpPr/>
          <p:nvPr/>
        </p:nvSpPr>
        <p:spPr>
          <a:xfrm>
            <a:off x="6400800" y="2971800"/>
            <a:ext cx="5212080" cy="777240"/>
          </a:xfrm>
          <a:prstGeom prst="roundRect">
            <a:avLst>
              <a:gd name="adj" fmla="val 7059"/>
            </a:avLst>
          </a:prstGeom>
          <a:solidFill>
            <a:srgbClr val="15338A"/>
          </a:solidFill>
          <a:ln w="12700">
            <a:solidFill>
              <a:srgbClr val="15338A"/>
            </a:solidFill>
            <a:prstDash val="solid"/>
          </a:ln>
        </p:spPr>
      </p:sp>
      <p:sp>
        <p:nvSpPr>
          <p:cNvPr id="14" name="Shape 11"/>
          <p:cNvSpPr/>
          <p:nvPr/>
        </p:nvSpPr>
        <p:spPr>
          <a:xfrm>
            <a:off x="6601968" y="3163824"/>
            <a:ext cx="393192" cy="393192"/>
          </a:xfrm>
          <a:prstGeom prst="ellipse">
            <a:avLst/>
          </a:prstGeom>
          <a:solidFill>
            <a:srgbClr val="F2B705"/>
          </a:solidFill>
          <a:ln w="12700">
            <a:solidFill>
              <a:srgbClr val="F2B705"/>
            </a:solidFill>
            <a:prstDash val="solid"/>
          </a:ln>
        </p:spPr>
      </p:sp>
      <p:sp>
        <p:nvSpPr>
          <p:cNvPr id="15" name="Text 12"/>
          <p:cNvSpPr txBox="1"/>
          <p:nvPr/>
        </p:nvSpPr>
        <p:spPr>
          <a:xfrm>
            <a:off x="6601968" y="3163824"/>
            <a:ext cx="393192" cy="393192"/>
          </a:xfrm>
          <a:prstGeom prst="rect">
            <a:avLst/>
          </a:prstGeom>
          <a:noFill/>
          <a:ln/>
        </p:spPr>
        <p:txBody>
          <a:bodyPr wrap="square" lIns="0" tIns="0" rIns="0" bIns="0" rtlCol="0" anchor="ctr"/>
          <a:lstStyle/>
          <a:p>
            <a:pPr algn="ctr" indent="0" marL="0">
              <a:buNone/>
            </a:pPr>
            <a:r>
              <a:rPr lang="en-US" sz="1400" b="1" dirty="0">
                <a:solidFill>
                  <a:srgbClr val="1E293B"/>
                </a:solidFill>
                <a:latin typeface="Palatino Linotype" pitchFamily="34" charset="0"/>
                <a:ea typeface="Palatino Linotype" pitchFamily="34" charset="-122"/>
                <a:cs typeface="Palatino Linotype" pitchFamily="34" charset="-120"/>
              </a:rPr>
              <a:t>2</a:t>
            </a:r>
            <a:endParaRPr lang="en-US" sz="1400" dirty="0"/>
          </a:p>
        </p:txBody>
      </p:sp>
      <p:sp>
        <p:nvSpPr>
          <p:cNvPr id="16" name="Text 13"/>
          <p:cNvSpPr txBox="1"/>
          <p:nvPr/>
        </p:nvSpPr>
        <p:spPr>
          <a:xfrm>
            <a:off x="7178040" y="3044952"/>
            <a:ext cx="4297680" cy="640080"/>
          </a:xfrm>
          <a:prstGeom prst="rect">
            <a:avLst/>
          </a:prstGeom>
          <a:noFill/>
          <a:ln/>
        </p:spPr>
        <p:txBody>
          <a:bodyPr wrap="square" lIns="0" tIns="0" rIns="0" bIns="0" rtlCol="0" anchor="ctr"/>
          <a:lstStyle/>
          <a:p>
            <a:pPr indent="0" marL="0">
              <a:buNone/>
            </a:pPr>
            <a:r>
              <a:rPr lang="en-US" sz="1500" dirty="0">
                <a:solidFill>
                  <a:srgbClr val="FFFFFF"/>
                </a:solidFill>
                <a:latin typeface="Palatino Linotype" pitchFamily="34" charset="0"/>
                <a:ea typeface="Palatino Linotype" pitchFamily="34" charset="-122"/>
                <a:cs typeface="Palatino Linotype" pitchFamily="34" charset="-120"/>
              </a:rPr>
              <a:t>Add users and set their role and division</a:t>
            </a:r>
            <a:endParaRPr lang="en-US" sz="1500" dirty="0"/>
          </a:p>
        </p:txBody>
      </p:sp>
      <p:sp>
        <p:nvSpPr>
          <p:cNvPr id="17" name="Shape 14"/>
          <p:cNvSpPr/>
          <p:nvPr/>
        </p:nvSpPr>
        <p:spPr>
          <a:xfrm>
            <a:off x="6400800" y="3931920"/>
            <a:ext cx="5212080" cy="777240"/>
          </a:xfrm>
          <a:prstGeom prst="roundRect">
            <a:avLst>
              <a:gd name="adj" fmla="val 7059"/>
            </a:avLst>
          </a:prstGeom>
          <a:solidFill>
            <a:srgbClr val="15338A"/>
          </a:solidFill>
          <a:ln w="12700">
            <a:solidFill>
              <a:srgbClr val="15338A"/>
            </a:solidFill>
            <a:prstDash val="solid"/>
          </a:ln>
        </p:spPr>
      </p:sp>
      <p:sp>
        <p:nvSpPr>
          <p:cNvPr id="18" name="Shape 15"/>
          <p:cNvSpPr/>
          <p:nvPr/>
        </p:nvSpPr>
        <p:spPr>
          <a:xfrm>
            <a:off x="6601968" y="4123944"/>
            <a:ext cx="393192" cy="393192"/>
          </a:xfrm>
          <a:prstGeom prst="ellipse">
            <a:avLst/>
          </a:prstGeom>
          <a:solidFill>
            <a:srgbClr val="F2B705"/>
          </a:solidFill>
          <a:ln w="12700">
            <a:solidFill>
              <a:srgbClr val="F2B705"/>
            </a:solidFill>
            <a:prstDash val="solid"/>
          </a:ln>
        </p:spPr>
      </p:sp>
      <p:sp>
        <p:nvSpPr>
          <p:cNvPr id="19" name="Text 16"/>
          <p:cNvSpPr txBox="1"/>
          <p:nvPr/>
        </p:nvSpPr>
        <p:spPr>
          <a:xfrm>
            <a:off x="6601968" y="4123944"/>
            <a:ext cx="393192" cy="393192"/>
          </a:xfrm>
          <a:prstGeom prst="rect">
            <a:avLst/>
          </a:prstGeom>
          <a:noFill/>
          <a:ln/>
        </p:spPr>
        <p:txBody>
          <a:bodyPr wrap="square" lIns="0" tIns="0" rIns="0" bIns="0" rtlCol="0" anchor="ctr"/>
          <a:lstStyle/>
          <a:p>
            <a:pPr algn="ctr" indent="0" marL="0">
              <a:buNone/>
            </a:pPr>
            <a:r>
              <a:rPr lang="en-US" sz="1400" b="1" dirty="0">
                <a:solidFill>
                  <a:srgbClr val="1E293B"/>
                </a:solidFill>
                <a:latin typeface="Palatino Linotype" pitchFamily="34" charset="0"/>
                <a:ea typeface="Palatino Linotype" pitchFamily="34" charset="-122"/>
                <a:cs typeface="Palatino Linotype" pitchFamily="34" charset="-120"/>
              </a:rPr>
              <a:t>3</a:t>
            </a:r>
            <a:endParaRPr lang="en-US" sz="1400" dirty="0"/>
          </a:p>
        </p:txBody>
      </p:sp>
      <p:sp>
        <p:nvSpPr>
          <p:cNvPr id="20" name="Text 17"/>
          <p:cNvSpPr txBox="1"/>
          <p:nvPr/>
        </p:nvSpPr>
        <p:spPr>
          <a:xfrm>
            <a:off x="7178040" y="4005072"/>
            <a:ext cx="4297680" cy="640080"/>
          </a:xfrm>
          <a:prstGeom prst="rect">
            <a:avLst/>
          </a:prstGeom>
          <a:noFill/>
          <a:ln/>
        </p:spPr>
        <p:txBody>
          <a:bodyPr wrap="square" lIns="0" tIns="0" rIns="0" bIns="0" rtlCol="0" anchor="ctr"/>
          <a:lstStyle/>
          <a:p>
            <a:pPr indent="0" marL="0">
              <a:buNone/>
            </a:pPr>
            <a:r>
              <a:rPr lang="en-US" sz="1500" dirty="0">
                <a:solidFill>
                  <a:srgbClr val="FFFFFF"/>
                </a:solidFill>
                <a:latin typeface="Palatino Linotype" pitchFamily="34" charset="0"/>
                <a:ea typeface="Palatino Linotype" pitchFamily="34" charset="-122"/>
                <a:cs typeface="Palatino Linotype" pitchFamily="34" charset="-120"/>
              </a:rPr>
              <a:t>Publish reviewed activities and correct mistakes</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indent="0" marL="0">
              <a:buNone/>
            </a:pPr>
            <a:r>
              <a:rPr lang="en-US" sz="3400" b="1" dirty="0">
                <a:solidFill>
                  <a:srgbClr val="1B2A8F"/>
                </a:solidFill>
                <a:latin typeface="Century Gothic" pitchFamily="34" charset="0"/>
                <a:ea typeface="Century Gothic" pitchFamily="34" charset="-122"/>
                <a:cs typeface="Century Gothic" pitchFamily="34" charset="-120"/>
              </a:rPr>
              <a:t>What DQAMP does</a:t>
            </a:r>
            <a:endParaRPr lang="en-US" sz="3400" dirty="0"/>
          </a:p>
        </p:txBody>
      </p:sp>
      <p:sp>
        <p:nvSpPr>
          <p:cNvPr id="3" name="brand frame"/>
          <p:cNvSpPr/>
          <p:nvPr/>
        </p:nvSpPr>
        <p:spPr>
          <a:xfrm>
            <a:off x="1138358" y="1252728"/>
            <a:ext cx="4215524" cy="4901184"/>
          </a:xfrm>
          <a:prstGeom prst="roundRect">
            <a:avLst>
              <a:gd name="adj" fmla="val 651"/>
            </a:avLst>
          </a:prstGeom>
          <a:solidFill>
            <a:srgbClr val="FFFFFF"/>
          </a:solidFill>
          <a:ln w="12700">
            <a:solidFill>
              <a:srgbClr val="E2E8F0"/>
            </a:solidFill>
            <a:prstDash val="solid"/>
          </a:ln>
          <a:effectLst>
            <a:outerShdw sx="100000" sy="100000" kx="0" ky="0" algn="bl" rotWithShape="0" blurRad="101600" dist="25400" dir="5400000">
              <a:srgbClr val="1E293B">
                <a:alpha val="16000"/>
              </a:srgbClr>
            </a:outerShdw>
          </a:effectLst>
        </p:spPr>
      </p:sp>
      <p:pic>
        <p:nvPicPr>
          <p:cNvPr id="4" name="brand" descr="DQAMP sign-in page panel: Plan it. Track it. Prove it.">    </p:cNvPr>
          <p:cNvPicPr>
            <a:picLocks noChangeAspect="1"/>
          </p:cNvPicPr>
          <p:nvPr/>
        </p:nvPicPr>
        <p:blipFill>
          <a:blip r:embed="rId1"/>
          <a:stretch>
            <a:fillRect/>
          </a:stretch>
        </p:blipFill>
        <p:spPr>
          <a:xfrm>
            <a:off x="1211510" y="1325880"/>
            <a:ext cx="4069220" cy="4754880"/>
          </a:xfrm>
          <a:prstGeom prst="rect">
            <a:avLst/>
          </a:prstGeom>
        </p:spPr>
      </p:pic>
      <p:sp>
        <p:nvSpPr>
          <p:cNvPr id="5" name="Text 2"/>
          <p:cNvSpPr txBox="1"/>
          <p:nvPr/>
        </p:nvSpPr>
        <p:spPr>
          <a:xfrm>
            <a:off x="6400800" y="1325880"/>
            <a:ext cx="5212080" cy="731520"/>
          </a:xfrm>
          <a:prstGeom prst="rect">
            <a:avLst/>
          </a:prstGeom>
          <a:noFill/>
          <a:ln/>
        </p:spPr>
        <p:txBody>
          <a:bodyPr wrap="square" lIns="0" tIns="0" rIns="0" bIns="0" rtlCol="0" anchor="t"/>
          <a:lstStyle/>
          <a:p>
            <a:pPr indent="0" marL="0">
              <a:buNone/>
            </a:pPr>
            <a:r>
              <a:rPr lang="en-US" sz="1600" dirty="0">
                <a:solidFill>
                  <a:srgbClr val="1E293B"/>
                </a:solidFill>
                <a:latin typeface="Palatino Linotype" pitchFamily="34" charset="0"/>
                <a:ea typeface="Palatino Linotype" pitchFamily="34" charset="-122"/>
                <a:cs typeface="Palatino Linotype" pitchFamily="34" charset="-120"/>
              </a:rPr>
              <a:t>DQAMP is the </a:t>
            </a:r>
            <a:pPr indent="0" marL="0">
              <a:buNone/>
            </a:pPr>
            <a:r>
              <a:rPr lang="en-US" sz="1600" b="1" dirty="0">
                <a:solidFill>
                  <a:srgbClr val="1B2A8F"/>
                </a:solidFill>
                <a:latin typeface="Palatino Linotype" pitchFamily="34" charset="0"/>
                <a:ea typeface="Palatino Linotype" pitchFamily="34" charset="-122"/>
                <a:cs typeface="Palatino Linotype" pitchFamily="34" charset="-120"/>
              </a:rPr>
              <a:t>Division Quality Assurance and Monitoring Portal</a:t>
            </a:r>
            <a:pPr indent="0" marL="0">
              <a:buNone/>
            </a:pPr>
            <a:r>
              <a:rPr lang="en-US" sz="1600" dirty="0">
                <a:solidFill>
                  <a:srgbClr val="1E293B"/>
                </a:solidFill>
                <a:latin typeface="Palatino Linotype" pitchFamily="34" charset="0"/>
                <a:ea typeface="Palatino Linotype" pitchFamily="34" charset="-122"/>
                <a:cs typeface="Palatino Linotype" pitchFamily="34" charset="-120"/>
              </a:rPr>
              <a:t> for SDO Lucena City.</a:t>
            </a:r>
            <a:endParaRPr lang="en-US" sz="1600" dirty="0"/>
          </a:p>
        </p:txBody>
      </p:sp>
      <p:sp>
        <p:nvSpPr>
          <p:cNvPr id="6" name="Callout number 1"/>
          <p:cNvSpPr/>
          <p:nvPr/>
        </p:nvSpPr>
        <p:spPr>
          <a:xfrm>
            <a:off x="6400800" y="2304288"/>
            <a:ext cx="365760" cy="365760"/>
          </a:xfrm>
          <a:prstGeom prst="ellipse">
            <a:avLst/>
          </a:prstGeom>
          <a:solidFill>
            <a:srgbClr val="1B2A8F"/>
          </a:solidFill>
          <a:ln w="25400">
            <a:solidFill>
              <a:srgbClr val="EA580C"/>
            </a:solidFill>
            <a:prstDash val="solid"/>
          </a:ln>
        </p:spPr>
      </p:sp>
      <p:sp>
        <p:nvSpPr>
          <p:cNvPr id="7" name="Text 4"/>
          <p:cNvSpPr txBox="1"/>
          <p:nvPr/>
        </p:nvSpPr>
        <p:spPr>
          <a:xfrm>
            <a:off x="6400800" y="2304288"/>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1</a:t>
            </a:r>
            <a:endParaRPr lang="en-US" sz="1400" dirty="0"/>
          </a:p>
        </p:txBody>
      </p:sp>
      <p:sp>
        <p:nvSpPr>
          <p:cNvPr id="8" name="Legend 1"/>
          <p:cNvSpPr txBox="1"/>
          <p:nvPr/>
        </p:nvSpPr>
        <p:spPr>
          <a:xfrm>
            <a:off x="6931152" y="2286000"/>
            <a:ext cx="4681728" cy="786384"/>
          </a:xfrm>
          <a:prstGeom prst="rect">
            <a:avLst/>
          </a:prstGeom>
          <a:noFill/>
          <a:ln/>
        </p:spPr>
        <p:txBody>
          <a:bodyPr wrap="square" lIns="0" tIns="0" rIns="0" bIns="0" rtlCol="0" anchor="t"/>
          <a:lstStyle/>
          <a:p>
            <a:pPr indent="0" marL="0">
              <a:buNone/>
            </a:pPr>
            <a:r>
              <a:rPr lang="en-US" sz="1600" b="1" dirty="0">
                <a:solidFill>
                  <a:srgbClr val="1E293B"/>
                </a:solidFill>
                <a:latin typeface="Palatino Linotype" pitchFamily="34" charset="0"/>
                <a:ea typeface="Palatino Linotype" pitchFamily="34" charset="-122"/>
                <a:cs typeface="Palatino Linotype" pitchFamily="34" charset="-120"/>
              </a:rPr>
              <a:t>One chain from goals to evidence</a:t>
            </a:r>
            <a:endParaRPr lang="en-US" sz="1600" dirty="0"/>
          </a:p>
          <a:p>
            <a:pPr indent="0" marL="0">
              <a:buNone/>
            </a:pPr>
            <a:r>
              <a:rPr lang="en-US" sz="1400" dirty="0">
                <a:solidFill>
                  <a:srgbClr val="536379"/>
                </a:solidFill>
                <a:latin typeface="Palatino Linotype" pitchFamily="34" charset="0"/>
                <a:ea typeface="Palatino Linotype" pitchFamily="34" charset="-122"/>
                <a:cs typeface="Palatino Linotype" pitchFamily="34" charset="-120"/>
              </a:rPr>
              <a:t>Organizational goals, division objectives, projects, outputs and activities link together.</a:t>
            </a:r>
            <a:endParaRPr lang="en-US" sz="1600" dirty="0"/>
          </a:p>
        </p:txBody>
      </p:sp>
      <p:sp>
        <p:nvSpPr>
          <p:cNvPr id="9" name="Callout number 2"/>
          <p:cNvSpPr/>
          <p:nvPr/>
        </p:nvSpPr>
        <p:spPr>
          <a:xfrm>
            <a:off x="6400800" y="3145536"/>
            <a:ext cx="365760" cy="365760"/>
          </a:xfrm>
          <a:prstGeom prst="ellipse">
            <a:avLst/>
          </a:prstGeom>
          <a:solidFill>
            <a:srgbClr val="1B2A8F"/>
          </a:solidFill>
          <a:ln w="25400">
            <a:solidFill>
              <a:srgbClr val="EA580C"/>
            </a:solidFill>
            <a:prstDash val="solid"/>
          </a:ln>
        </p:spPr>
      </p:sp>
      <p:sp>
        <p:nvSpPr>
          <p:cNvPr id="10" name="Text 7"/>
          <p:cNvSpPr txBox="1"/>
          <p:nvPr/>
        </p:nvSpPr>
        <p:spPr>
          <a:xfrm>
            <a:off x="6400800" y="3145536"/>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2</a:t>
            </a:r>
            <a:endParaRPr lang="en-US" sz="1400" dirty="0"/>
          </a:p>
        </p:txBody>
      </p:sp>
      <p:sp>
        <p:nvSpPr>
          <p:cNvPr id="11" name="Legend 2"/>
          <p:cNvSpPr txBox="1"/>
          <p:nvPr/>
        </p:nvSpPr>
        <p:spPr>
          <a:xfrm>
            <a:off x="6931152" y="3127248"/>
            <a:ext cx="4681728" cy="786384"/>
          </a:xfrm>
          <a:prstGeom prst="rect">
            <a:avLst/>
          </a:prstGeom>
          <a:noFill/>
          <a:ln/>
        </p:spPr>
        <p:txBody>
          <a:bodyPr wrap="square" lIns="0" tIns="0" rIns="0" bIns="0" rtlCol="0" anchor="t"/>
          <a:lstStyle/>
          <a:p>
            <a:pPr indent="0" marL="0">
              <a:buNone/>
            </a:pPr>
            <a:r>
              <a:rPr lang="en-US" sz="1600" b="1" dirty="0">
                <a:solidFill>
                  <a:srgbClr val="1E293B"/>
                </a:solidFill>
                <a:latin typeface="Palatino Linotype" pitchFamily="34" charset="0"/>
                <a:ea typeface="Palatino Linotype" pitchFamily="34" charset="-122"/>
                <a:cs typeface="Palatino Linotype" pitchFamily="34" charset="-120"/>
              </a:rPr>
              <a:t>Quality assurance built in</a:t>
            </a:r>
            <a:endParaRPr lang="en-US" sz="1600" dirty="0"/>
          </a:p>
          <a:p>
            <a:pPr indent="0" marL="0">
              <a:buNone/>
            </a:pPr>
            <a:r>
              <a:rPr lang="en-US" sz="1400" dirty="0">
                <a:solidFill>
                  <a:srgbClr val="536379"/>
                </a:solidFill>
                <a:latin typeface="Palatino Linotype" pitchFamily="34" charset="0"/>
                <a:ea typeface="Palatino Linotype" pitchFamily="34" charset="-122"/>
                <a:cs typeface="Palatino Linotype" pitchFamily="34" charset="-120"/>
              </a:rPr>
              <a:t>An activity is published only after a QA Assessor reviews it.</a:t>
            </a:r>
            <a:endParaRPr lang="en-US" sz="1600" dirty="0"/>
          </a:p>
        </p:txBody>
      </p:sp>
      <p:sp>
        <p:nvSpPr>
          <p:cNvPr id="12" name="Callout number 3"/>
          <p:cNvSpPr/>
          <p:nvPr/>
        </p:nvSpPr>
        <p:spPr>
          <a:xfrm>
            <a:off x="6400800" y="3986784"/>
            <a:ext cx="365760" cy="365760"/>
          </a:xfrm>
          <a:prstGeom prst="ellipse">
            <a:avLst/>
          </a:prstGeom>
          <a:solidFill>
            <a:srgbClr val="1B2A8F"/>
          </a:solidFill>
          <a:ln w="25400">
            <a:solidFill>
              <a:srgbClr val="EA580C"/>
            </a:solidFill>
            <a:prstDash val="solid"/>
          </a:ln>
        </p:spPr>
      </p:sp>
      <p:sp>
        <p:nvSpPr>
          <p:cNvPr id="13" name="Text 10"/>
          <p:cNvSpPr txBox="1"/>
          <p:nvPr/>
        </p:nvSpPr>
        <p:spPr>
          <a:xfrm>
            <a:off x="6400800" y="398678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3</a:t>
            </a:r>
            <a:endParaRPr lang="en-US" sz="1400" dirty="0"/>
          </a:p>
        </p:txBody>
      </p:sp>
      <p:sp>
        <p:nvSpPr>
          <p:cNvPr id="14" name="Legend 3"/>
          <p:cNvSpPr txBox="1"/>
          <p:nvPr/>
        </p:nvSpPr>
        <p:spPr>
          <a:xfrm>
            <a:off x="6931152" y="3968496"/>
            <a:ext cx="4681728" cy="786384"/>
          </a:xfrm>
          <a:prstGeom prst="rect">
            <a:avLst/>
          </a:prstGeom>
          <a:noFill/>
          <a:ln/>
        </p:spPr>
        <p:txBody>
          <a:bodyPr wrap="square" lIns="0" tIns="0" rIns="0" bIns="0" rtlCol="0" anchor="t"/>
          <a:lstStyle/>
          <a:p>
            <a:pPr indent="0" marL="0">
              <a:buNone/>
            </a:pPr>
            <a:r>
              <a:rPr lang="en-US" sz="1600" b="1" dirty="0">
                <a:solidFill>
                  <a:srgbClr val="1E293B"/>
                </a:solidFill>
                <a:latin typeface="Palatino Linotype" pitchFamily="34" charset="0"/>
                <a:ea typeface="Palatino Linotype" pitchFamily="34" charset="-122"/>
                <a:cs typeface="Palatino Linotype" pitchFamily="34" charset="-120"/>
              </a:rPr>
              <a:t>Records stay on this computer</a:t>
            </a:r>
            <a:endParaRPr lang="en-US" sz="1600" dirty="0"/>
          </a:p>
          <a:p>
            <a:pPr indent="0" marL="0">
              <a:buNone/>
            </a:pPr>
            <a:r>
              <a:rPr lang="en-US" sz="1400" dirty="0">
                <a:solidFill>
                  <a:srgbClr val="536379"/>
                </a:solidFill>
                <a:latin typeface="Palatino Linotype" pitchFamily="34" charset="0"/>
                <a:ea typeface="Palatino Linotype" pitchFamily="34" charset="-122"/>
                <a:cs typeface="Palatino Linotype" pitchFamily="34" charset="-120"/>
              </a:rPr>
              <a:t>No cloud account. Your administrator backs up the data folder.</a:t>
            </a:r>
            <a:endParaRPr lang="en-US" sz="1600" dirty="0"/>
          </a:p>
        </p:txBody>
      </p:sp>
      <p:sp>
        <p:nvSpPr>
          <p:cNvPr id="15" name="Text 12"/>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36379"/>
                </a:solidFill>
                <a:latin typeface="Palatino Linotype" pitchFamily="34" charset="0"/>
                <a:ea typeface="Palatino Linotype" pitchFamily="34" charset="-122"/>
                <a:cs typeface="Palatino Linotype" pitchFamily="34" charset="-120"/>
              </a:rPr>
              <a:t>DQAMP 2026 · Onboarding for Administrators</a:t>
            </a:r>
            <a:endParaRPr lang="en-US" sz="1000" dirty="0"/>
          </a:p>
        </p:txBody>
      </p:sp>
      <p:sp>
        <p:nvSpPr>
          <p:cNvPr id="16" name="Text 13"/>
          <p:cNvSpPr txBox="1"/>
          <p:nvPr/>
        </p:nvSpPr>
        <p:spPr>
          <a:xfrm>
            <a:off x="11155680" y="6400800"/>
            <a:ext cx="457200" cy="274320"/>
          </a:xfrm>
          <a:prstGeom prst="rect">
            <a:avLst/>
          </a:prstGeom>
          <a:noFill/>
          <a:ln/>
        </p:spPr>
        <p:txBody>
          <a:bodyPr wrap="square" lIns="0" tIns="0" rIns="0" bIns="0" rtlCol="0" anchor="ctr"/>
          <a:lstStyle/>
          <a:p>
            <a:pPr algn="r" indent="0" marL="0">
              <a:buNone/>
            </a:pPr>
            <a:r>
              <a:rPr lang="en-US" sz="1000" dirty="0">
                <a:solidFill>
                  <a:srgbClr val="536379"/>
                </a:solidFill>
                <a:latin typeface="Palatino Linotype" pitchFamily="34" charset="0"/>
                <a:ea typeface="Palatino Linotype" pitchFamily="34" charset="-122"/>
                <a:cs typeface="Palatino Linotype"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indent="0" marL="0">
              <a:buNone/>
            </a:pPr>
            <a:r>
              <a:rPr lang="en-US" sz="3400" b="1" dirty="0">
                <a:solidFill>
                  <a:srgbClr val="1B2A8F"/>
                </a:solidFill>
                <a:latin typeface="Century Gothic" pitchFamily="34" charset="0"/>
                <a:ea typeface="Century Gothic" pitchFamily="34" charset="-122"/>
                <a:cs typeface="Century Gothic" pitchFamily="34" charset="-120"/>
              </a:rPr>
              <a:t>Who does what</a:t>
            </a:r>
            <a:endParaRPr lang="en-US" sz="3400" dirty="0"/>
          </a:p>
        </p:txBody>
      </p:sp>
      <p:sp>
        <p:nvSpPr>
          <p:cNvPr id="3" name="Shape 1"/>
          <p:cNvSpPr/>
          <p:nvPr/>
        </p:nvSpPr>
        <p:spPr>
          <a:xfrm>
            <a:off x="548640" y="1234440"/>
            <a:ext cx="5440680" cy="2057400"/>
          </a:xfrm>
          <a:prstGeom prst="roundRect">
            <a:avLst>
              <a:gd name="adj" fmla="val 2667"/>
            </a:avLst>
          </a:prstGeom>
          <a:solidFill>
            <a:srgbClr val="EEF2FF"/>
          </a:solidFill>
          <a:ln w="31750">
            <a:solidFill>
              <a:srgbClr val="F2B705"/>
            </a:solidFill>
            <a:prstDash val="solid"/>
          </a:ln>
        </p:spPr>
      </p:sp>
      <p:sp>
        <p:nvSpPr>
          <p:cNvPr id="4" name="Shape 2"/>
          <p:cNvSpPr/>
          <p:nvPr/>
        </p:nvSpPr>
        <p:spPr>
          <a:xfrm>
            <a:off x="777240" y="1435608"/>
            <a:ext cx="457200" cy="457200"/>
          </a:xfrm>
          <a:prstGeom prst="ellipse">
            <a:avLst/>
          </a:prstGeom>
          <a:solidFill>
            <a:srgbClr val="1B2A8F"/>
          </a:solidFill>
          <a:ln w="12700">
            <a:solidFill>
              <a:srgbClr val="1B2A8F"/>
            </a:solidFill>
            <a:prstDash val="solid"/>
          </a:ln>
        </p:spPr>
      </p:sp>
      <p:sp>
        <p:nvSpPr>
          <p:cNvPr id="5" name="Text 3"/>
          <p:cNvSpPr txBox="1"/>
          <p:nvPr/>
        </p:nvSpPr>
        <p:spPr>
          <a:xfrm>
            <a:off x="777240" y="143560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Palatino Linotype" pitchFamily="34" charset="0"/>
                <a:ea typeface="Palatino Linotype" pitchFamily="34" charset="-122"/>
                <a:cs typeface="Palatino Linotype" pitchFamily="34" charset="-120"/>
              </a:rPr>
              <a:t>A</a:t>
            </a:r>
            <a:endParaRPr lang="en-US" sz="1600" dirty="0"/>
          </a:p>
        </p:txBody>
      </p:sp>
      <p:sp>
        <p:nvSpPr>
          <p:cNvPr id="6" name="Text 4"/>
          <p:cNvSpPr txBox="1"/>
          <p:nvPr/>
        </p:nvSpPr>
        <p:spPr>
          <a:xfrm>
            <a:off x="1371600" y="1389888"/>
            <a:ext cx="3429000" cy="566928"/>
          </a:xfrm>
          <a:prstGeom prst="rect">
            <a:avLst/>
          </a:prstGeom>
          <a:noFill/>
          <a:ln/>
        </p:spPr>
        <p:txBody>
          <a:bodyPr wrap="square" lIns="0" tIns="0" rIns="0" bIns="0" rtlCol="0" anchor="ctr"/>
          <a:lstStyle/>
          <a:p>
            <a:pPr indent="0" marL="0">
              <a:buNone/>
            </a:pPr>
            <a:r>
              <a:rPr lang="en-US" sz="1800" b="1" dirty="0">
                <a:solidFill>
                  <a:srgbClr val="1E293B"/>
                </a:solidFill>
                <a:latin typeface="Palatino Linotype" pitchFamily="34" charset="0"/>
                <a:ea typeface="Palatino Linotype" pitchFamily="34" charset="-122"/>
                <a:cs typeface="Palatino Linotype" pitchFamily="34" charset="-120"/>
              </a:rPr>
              <a:t>Administrator</a:t>
            </a:r>
            <a:endParaRPr lang="en-US" sz="1800" dirty="0"/>
          </a:p>
          <a:p>
            <a:pPr indent="0" marL="0">
              <a:buNone/>
            </a:pPr>
            <a:r>
              <a:rPr lang="en-US" sz="1200" dirty="0">
                <a:solidFill>
                  <a:srgbClr val="536379"/>
                </a:solidFill>
                <a:latin typeface="Palatino Linotype" pitchFamily="34" charset="0"/>
                <a:ea typeface="Palatino Linotype" pitchFamily="34" charset="-122"/>
                <a:cs typeface="Palatino Linotype" pitchFamily="34" charset="-120"/>
              </a:rPr>
              <a:t>Top management and system administrators</a:t>
            </a:r>
            <a:endParaRPr lang="en-US" sz="1800" dirty="0"/>
          </a:p>
        </p:txBody>
      </p:sp>
      <p:sp>
        <p:nvSpPr>
          <p:cNvPr id="7" name="Shape 5"/>
          <p:cNvSpPr/>
          <p:nvPr/>
        </p:nvSpPr>
        <p:spPr>
          <a:xfrm>
            <a:off x="4800600" y="1463040"/>
            <a:ext cx="987552" cy="329184"/>
          </a:xfrm>
          <a:prstGeom prst="roundRect">
            <a:avLst>
              <a:gd name="adj" fmla="val 50000"/>
            </a:avLst>
          </a:prstGeom>
          <a:solidFill>
            <a:srgbClr val="F2B705"/>
          </a:solidFill>
          <a:ln w="12700">
            <a:solidFill>
              <a:srgbClr val="F2B705"/>
            </a:solidFill>
            <a:prstDash val="solid"/>
          </a:ln>
        </p:spPr>
      </p:sp>
      <p:sp>
        <p:nvSpPr>
          <p:cNvPr id="8" name="Text 6"/>
          <p:cNvSpPr txBox="1"/>
          <p:nvPr/>
        </p:nvSpPr>
        <p:spPr>
          <a:xfrm>
            <a:off x="4800600" y="1463040"/>
            <a:ext cx="987552" cy="329184"/>
          </a:xfrm>
          <a:prstGeom prst="rect">
            <a:avLst/>
          </a:prstGeom>
          <a:noFill/>
          <a:ln/>
        </p:spPr>
        <p:txBody>
          <a:bodyPr wrap="square" lIns="0" tIns="0" rIns="0" bIns="0" rtlCol="0" anchor="ctr"/>
          <a:lstStyle/>
          <a:p>
            <a:pPr algn="ctr" indent="0" marL="0">
              <a:buNone/>
            </a:pPr>
            <a:r>
              <a:rPr lang="en-US" sz="1100" b="1" dirty="0">
                <a:solidFill>
                  <a:srgbClr val="1E293B"/>
                </a:solidFill>
                <a:latin typeface="Palatino Linotype" pitchFamily="34" charset="0"/>
                <a:ea typeface="Palatino Linotype" pitchFamily="34" charset="-122"/>
                <a:cs typeface="Palatino Linotype" pitchFamily="34" charset="-120"/>
              </a:rPr>
              <a:t>Your role</a:t>
            </a:r>
            <a:endParaRPr lang="en-US" sz="1100" dirty="0"/>
          </a:p>
        </p:txBody>
      </p:sp>
      <p:sp>
        <p:nvSpPr>
          <p:cNvPr id="9" name="Text 7"/>
          <p:cNvSpPr txBox="1"/>
          <p:nvPr/>
        </p:nvSpPr>
        <p:spPr>
          <a:xfrm>
            <a:off x="868680" y="2103120"/>
            <a:ext cx="4892040" cy="1097280"/>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rgbClr val="1E293B"/>
                </a:solidFill>
                <a:latin typeface="Palatino Linotype" pitchFamily="34" charset="0"/>
                <a:ea typeface="Palatino Linotype" pitchFamily="34" charset="-122"/>
                <a:cs typeface="Palatino Linotype" pitchFamily="34" charset="-120"/>
              </a:rPr>
              <a:t>Sees and changes everything</a:t>
            </a:r>
            <a:endParaRPr lang="en-US" sz="1300" dirty="0"/>
          </a:p>
          <a:p>
            <a:pPr marL="342900" indent="-342900">
              <a:spcAft>
                <a:spcPts val="400"/>
              </a:spcAft>
              <a:buSzPct val="100000"/>
              <a:buChar char="•"/>
            </a:pPr>
            <a:r>
              <a:rPr lang="en-US" sz="1300" dirty="0">
                <a:solidFill>
                  <a:srgbClr val="1E293B"/>
                </a:solidFill>
                <a:latin typeface="Palatino Linotype" pitchFamily="34" charset="0"/>
                <a:ea typeface="Palatino Linotype" pitchFamily="34" charset="-122"/>
                <a:cs typeface="Palatino Linotype" pitchFamily="34" charset="-120"/>
              </a:rPr>
              <a:t>Publishes reviewed activities</a:t>
            </a:r>
            <a:endParaRPr lang="en-US" sz="1300" dirty="0"/>
          </a:p>
          <a:p>
            <a:pPr marL="342900" indent="-342900">
              <a:spcAft>
                <a:spcPts val="400"/>
              </a:spcAft>
              <a:buSzPct val="100000"/>
              <a:buChar char="•"/>
            </a:pPr>
            <a:r>
              <a:rPr lang="en-US" sz="1300" dirty="0">
                <a:solidFill>
                  <a:srgbClr val="1E293B"/>
                </a:solidFill>
                <a:latin typeface="Palatino Linotype" pitchFamily="34" charset="0"/>
                <a:ea typeface="Palatino Linotype" pitchFamily="34" charset="-122"/>
                <a:cs typeface="Palatino Linotype" pitchFamily="34" charset="-120"/>
              </a:rPr>
              <a:t>Adds users and sets roles and divisions</a:t>
            </a:r>
            <a:endParaRPr lang="en-US" sz="1300" dirty="0"/>
          </a:p>
        </p:txBody>
      </p:sp>
      <p:sp>
        <p:nvSpPr>
          <p:cNvPr id="10" name="Shape 8"/>
          <p:cNvSpPr/>
          <p:nvPr/>
        </p:nvSpPr>
        <p:spPr>
          <a:xfrm>
            <a:off x="6172200" y="1234440"/>
            <a:ext cx="5440680" cy="2057400"/>
          </a:xfrm>
          <a:prstGeom prst="roundRect">
            <a:avLst>
              <a:gd name="adj" fmla="val 2667"/>
            </a:avLst>
          </a:prstGeom>
          <a:solidFill>
            <a:srgbClr val="F5F7FA"/>
          </a:solidFill>
          <a:ln w="12700">
            <a:solidFill>
              <a:srgbClr val="E2E8F0"/>
            </a:solidFill>
            <a:prstDash val="solid"/>
          </a:ln>
        </p:spPr>
      </p:sp>
      <p:sp>
        <p:nvSpPr>
          <p:cNvPr id="11" name="Shape 9"/>
          <p:cNvSpPr/>
          <p:nvPr/>
        </p:nvSpPr>
        <p:spPr>
          <a:xfrm>
            <a:off x="6400800" y="1435608"/>
            <a:ext cx="457200" cy="457200"/>
          </a:xfrm>
          <a:prstGeom prst="ellipse">
            <a:avLst/>
          </a:prstGeom>
          <a:solidFill>
            <a:srgbClr val="1B2A8F"/>
          </a:solidFill>
          <a:ln w="12700">
            <a:solidFill>
              <a:srgbClr val="1B2A8F"/>
            </a:solidFill>
            <a:prstDash val="solid"/>
          </a:ln>
        </p:spPr>
      </p:sp>
      <p:sp>
        <p:nvSpPr>
          <p:cNvPr id="12" name="Text 10"/>
          <p:cNvSpPr txBox="1"/>
          <p:nvPr/>
        </p:nvSpPr>
        <p:spPr>
          <a:xfrm>
            <a:off x="6400800" y="143560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Palatino Linotype" pitchFamily="34" charset="0"/>
                <a:ea typeface="Palatino Linotype" pitchFamily="34" charset="-122"/>
                <a:cs typeface="Palatino Linotype" pitchFamily="34" charset="-120"/>
              </a:rPr>
              <a:t>P</a:t>
            </a:r>
            <a:endParaRPr lang="en-US" sz="1600" dirty="0"/>
          </a:p>
        </p:txBody>
      </p:sp>
      <p:sp>
        <p:nvSpPr>
          <p:cNvPr id="13" name="Text 11"/>
          <p:cNvSpPr txBox="1"/>
          <p:nvPr/>
        </p:nvSpPr>
        <p:spPr>
          <a:xfrm>
            <a:off x="6995160" y="1389888"/>
            <a:ext cx="3429000" cy="566928"/>
          </a:xfrm>
          <a:prstGeom prst="rect">
            <a:avLst/>
          </a:prstGeom>
          <a:noFill/>
          <a:ln/>
        </p:spPr>
        <p:txBody>
          <a:bodyPr wrap="square" lIns="0" tIns="0" rIns="0" bIns="0" rtlCol="0" anchor="ctr"/>
          <a:lstStyle/>
          <a:p>
            <a:pPr indent="0" marL="0">
              <a:buNone/>
            </a:pPr>
            <a:r>
              <a:rPr lang="en-US" sz="1800" b="1" dirty="0">
                <a:solidFill>
                  <a:srgbClr val="1E293B"/>
                </a:solidFill>
                <a:latin typeface="Palatino Linotype" pitchFamily="34" charset="0"/>
                <a:ea typeface="Palatino Linotype" pitchFamily="34" charset="-122"/>
                <a:cs typeface="Palatino Linotype" pitchFamily="34" charset="-120"/>
              </a:rPr>
              <a:t>Planning Admin</a:t>
            </a:r>
            <a:endParaRPr lang="en-US" sz="1800" dirty="0"/>
          </a:p>
          <a:p>
            <a:pPr indent="0" marL="0">
              <a:buNone/>
            </a:pPr>
            <a:r>
              <a:rPr lang="en-US" sz="1200" dirty="0">
                <a:solidFill>
                  <a:srgbClr val="536379"/>
                </a:solidFill>
                <a:latin typeface="Palatino Linotype" pitchFamily="34" charset="0"/>
                <a:ea typeface="Palatino Linotype" pitchFamily="34" charset="-122"/>
                <a:cs typeface="Palatino Linotype" pitchFamily="34" charset="-120"/>
              </a:rPr>
              <a:t>Division planning staff</a:t>
            </a:r>
            <a:endParaRPr lang="en-US" sz="1800" dirty="0"/>
          </a:p>
        </p:txBody>
      </p:sp>
      <p:sp>
        <p:nvSpPr>
          <p:cNvPr id="14" name="Text 12"/>
          <p:cNvSpPr txBox="1"/>
          <p:nvPr/>
        </p:nvSpPr>
        <p:spPr>
          <a:xfrm>
            <a:off x="6492240" y="2103120"/>
            <a:ext cx="4892040" cy="1097280"/>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rgbClr val="1E293B"/>
                </a:solidFill>
                <a:latin typeface="Palatino Linotype" pitchFamily="34" charset="0"/>
                <a:ea typeface="Palatino Linotype" pitchFamily="34" charset="-122"/>
                <a:cs typeface="Palatino Linotype" pitchFamily="34" charset="-120"/>
              </a:rPr>
              <a:t>Plans objectives, projects and outputs in their division</a:t>
            </a:r>
            <a:endParaRPr lang="en-US" sz="1300" dirty="0"/>
          </a:p>
          <a:p>
            <a:pPr marL="342900" indent="-342900">
              <a:spcAft>
                <a:spcPts val="400"/>
              </a:spcAft>
              <a:buSzPct val="100000"/>
              <a:buChar char="•"/>
            </a:pPr>
            <a:r>
              <a:rPr lang="en-US" sz="1300" dirty="0">
                <a:solidFill>
                  <a:srgbClr val="1E293B"/>
                </a:solidFill>
                <a:latin typeface="Palatino Linotype" pitchFamily="34" charset="0"/>
                <a:ea typeface="Palatino Linotype" pitchFamily="34" charset="-122"/>
                <a:cs typeface="Palatino Linotype" pitchFamily="34" charset="-120"/>
              </a:rPr>
              <a:t>Reads all activities and reports</a:t>
            </a:r>
            <a:endParaRPr lang="en-US" sz="1300" dirty="0"/>
          </a:p>
          <a:p>
            <a:pPr marL="342900" indent="-342900">
              <a:spcAft>
                <a:spcPts val="400"/>
              </a:spcAft>
              <a:buSzPct val="100000"/>
              <a:buChar char="•"/>
            </a:pPr>
            <a:r>
              <a:rPr lang="en-US" sz="1300" dirty="0">
                <a:solidFill>
                  <a:srgbClr val="1E293B"/>
                </a:solidFill>
                <a:latin typeface="Palatino Linotype" pitchFamily="34" charset="0"/>
                <a:ea typeface="Palatino Linotype" pitchFamily="34" charset="-122"/>
                <a:cs typeface="Palatino Linotype" pitchFamily="34" charset="-120"/>
              </a:rPr>
              <a:t>Does not edit or publish activities</a:t>
            </a:r>
            <a:endParaRPr lang="en-US" sz="1300" dirty="0"/>
          </a:p>
        </p:txBody>
      </p:sp>
      <p:sp>
        <p:nvSpPr>
          <p:cNvPr id="15" name="Shape 13"/>
          <p:cNvSpPr/>
          <p:nvPr/>
        </p:nvSpPr>
        <p:spPr>
          <a:xfrm>
            <a:off x="548640" y="3474720"/>
            <a:ext cx="5440680" cy="2057400"/>
          </a:xfrm>
          <a:prstGeom prst="roundRect">
            <a:avLst>
              <a:gd name="adj" fmla="val 2667"/>
            </a:avLst>
          </a:prstGeom>
          <a:solidFill>
            <a:srgbClr val="F5F7FA"/>
          </a:solidFill>
          <a:ln w="12700">
            <a:solidFill>
              <a:srgbClr val="E2E8F0"/>
            </a:solidFill>
            <a:prstDash val="solid"/>
          </a:ln>
        </p:spPr>
      </p:sp>
      <p:sp>
        <p:nvSpPr>
          <p:cNvPr id="16" name="Shape 14"/>
          <p:cNvSpPr/>
          <p:nvPr/>
        </p:nvSpPr>
        <p:spPr>
          <a:xfrm>
            <a:off x="777240" y="3675888"/>
            <a:ext cx="457200" cy="457200"/>
          </a:xfrm>
          <a:prstGeom prst="ellipse">
            <a:avLst/>
          </a:prstGeom>
          <a:solidFill>
            <a:srgbClr val="1B2A8F"/>
          </a:solidFill>
          <a:ln w="12700">
            <a:solidFill>
              <a:srgbClr val="1B2A8F"/>
            </a:solidFill>
            <a:prstDash val="solid"/>
          </a:ln>
        </p:spPr>
      </p:sp>
      <p:sp>
        <p:nvSpPr>
          <p:cNvPr id="17" name="Text 15"/>
          <p:cNvSpPr txBox="1"/>
          <p:nvPr/>
        </p:nvSpPr>
        <p:spPr>
          <a:xfrm>
            <a:off x="777240" y="367588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Palatino Linotype" pitchFamily="34" charset="0"/>
                <a:ea typeface="Palatino Linotype" pitchFamily="34" charset="-122"/>
                <a:cs typeface="Palatino Linotype" pitchFamily="34" charset="-120"/>
              </a:rPr>
              <a:t>Q</a:t>
            </a:r>
            <a:endParaRPr lang="en-US" sz="1600" dirty="0"/>
          </a:p>
        </p:txBody>
      </p:sp>
      <p:sp>
        <p:nvSpPr>
          <p:cNvPr id="18" name="Text 16"/>
          <p:cNvSpPr txBox="1"/>
          <p:nvPr/>
        </p:nvSpPr>
        <p:spPr>
          <a:xfrm>
            <a:off x="1371600" y="3630168"/>
            <a:ext cx="3429000" cy="566928"/>
          </a:xfrm>
          <a:prstGeom prst="rect">
            <a:avLst/>
          </a:prstGeom>
          <a:noFill/>
          <a:ln/>
        </p:spPr>
        <p:txBody>
          <a:bodyPr wrap="square" lIns="0" tIns="0" rIns="0" bIns="0" rtlCol="0" anchor="ctr"/>
          <a:lstStyle/>
          <a:p>
            <a:pPr indent="0" marL="0">
              <a:buNone/>
            </a:pPr>
            <a:r>
              <a:rPr lang="en-US" sz="1800" b="1" dirty="0">
                <a:solidFill>
                  <a:srgbClr val="1E293B"/>
                </a:solidFill>
                <a:latin typeface="Palatino Linotype" pitchFamily="34" charset="0"/>
                <a:ea typeface="Palatino Linotype" pitchFamily="34" charset="-122"/>
                <a:cs typeface="Palatino Linotype" pitchFamily="34" charset="-120"/>
              </a:rPr>
              <a:t>QA Assessor</a:t>
            </a:r>
            <a:endParaRPr lang="en-US" sz="1800" dirty="0"/>
          </a:p>
          <a:p>
            <a:pPr indent="0" marL="0">
              <a:buNone/>
            </a:pPr>
            <a:r>
              <a:rPr lang="en-US" sz="1200" dirty="0">
                <a:solidFill>
                  <a:srgbClr val="536379"/>
                </a:solidFill>
                <a:latin typeface="Palatino Linotype" pitchFamily="34" charset="0"/>
                <a:ea typeface="Palatino Linotype" pitchFamily="34" charset="-122"/>
                <a:cs typeface="Palatino Linotype" pitchFamily="34" charset="-120"/>
              </a:rPr>
              <a:t>Quality assurance</a:t>
            </a:r>
            <a:endParaRPr lang="en-US" sz="1800" dirty="0"/>
          </a:p>
        </p:txBody>
      </p:sp>
      <p:sp>
        <p:nvSpPr>
          <p:cNvPr id="19" name="Text 17"/>
          <p:cNvSpPr txBox="1"/>
          <p:nvPr/>
        </p:nvSpPr>
        <p:spPr>
          <a:xfrm>
            <a:off x="868680" y="4343400"/>
            <a:ext cx="4892040" cy="1097280"/>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rgbClr val="1E293B"/>
                </a:solidFill>
                <a:latin typeface="Palatino Linotype" pitchFamily="34" charset="0"/>
                <a:ea typeface="Palatino Linotype" pitchFamily="34" charset="-122"/>
                <a:cs typeface="Palatino Linotype" pitchFamily="34" charset="-120"/>
              </a:rPr>
              <a:t>Sees every activity</a:t>
            </a:r>
            <a:endParaRPr lang="en-US" sz="1300" dirty="0"/>
          </a:p>
          <a:p>
            <a:pPr marL="342900" indent="-342900">
              <a:spcAft>
                <a:spcPts val="400"/>
              </a:spcAft>
              <a:buSzPct val="100000"/>
              <a:buChar char="•"/>
            </a:pPr>
            <a:r>
              <a:rPr lang="en-US" sz="1300" dirty="0">
                <a:solidFill>
                  <a:srgbClr val="1E293B"/>
                </a:solidFill>
                <a:latin typeface="Palatino Linotype" pitchFamily="34" charset="0"/>
                <a:ea typeface="Palatino Linotype" pitchFamily="34" charset="-122"/>
                <a:cs typeface="Palatino Linotype" pitchFamily="34" charset="-120"/>
              </a:rPr>
              <a:t>Starts reviews and records QAME results</a:t>
            </a:r>
            <a:endParaRPr lang="en-US" sz="1300" dirty="0"/>
          </a:p>
          <a:p>
            <a:pPr marL="342900" indent="-342900">
              <a:spcAft>
                <a:spcPts val="400"/>
              </a:spcAft>
              <a:buSzPct val="100000"/>
              <a:buChar char="•"/>
            </a:pPr>
            <a:r>
              <a:rPr lang="en-US" sz="1300" dirty="0">
                <a:solidFill>
                  <a:srgbClr val="1E293B"/>
                </a:solidFill>
                <a:latin typeface="Palatino Linotype" pitchFamily="34" charset="0"/>
                <a:ea typeface="Palatino Linotype" pitchFamily="34" charset="-122"/>
                <a:cs typeface="Palatino Linotype" pitchFamily="34" charset="-120"/>
              </a:rPr>
              <a:t>Returns work with a note; does not publish</a:t>
            </a:r>
            <a:endParaRPr lang="en-US" sz="1300" dirty="0"/>
          </a:p>
        </p:txBody>
      </p:sp>
      <p:sp>
        <p:nvSpPr>
          <p:cNvPr id="20" name="Shape 18"/>
          <p:cNvSpPr/>
          <p:nvPr/>
        </p:nvSpPr>
        <p:spPr>
          <a:xfrm>
            <a:off x="6172200" y="3474720"/>
            <a:ext cx="5440680" cy="2057400"/>
          </a:xfrm>
          <a:prstGeom prst="roundRect">
            <a:avLst>
              <a:gd name="adj" fmla="val 2667"/>
            </a:avLst>
          </a:prstGeom>
          <a:solidFill>
            <a:srgbClr val="F5F7FA"/>
          </a:solidFill>
          <a:ln w="12700">
            <a:solidFill>
              <a:srgbClr val="E2E8F0"/>
            </a:solidFill>
            <a:prstDash val="solid"/>
          </a:ln>
        </p:spPr>
      </p:sp>
      <p:sp>
        <p:nvSpPr>
          <p:cNvPr id="21" name="Shape 19"/>
          <p:cNvSpPr/>
          <p:nvPr/>
        </p:nvSpPr>
        <p:spPr>
          <a:xfrm>
            <a:off x="6400800" y="3675888"/>
            <a:ext cx="457200" cy="457200"/>
          </a:xfrm>
          <a:prstGeom prst="ellipse">
            <a:avLst/>
          </a:prstGeom>
          <a:solidFill>
            <a:srgbClr val="1B2A8F"/>
          </a:solidFill>
          <a:ln w="12700">
            <a:solidFill>
              <a:srgbClr val="1B2A8F"/>
            </a:solidFill>
            <a:prstDash val="solid"/>
          </a:ln>
        </p:spPr>
      </p:sp>
      <p:sp>
        <p:nvSpPr>
          <p:cNvPr id="22" name="Text 20"/>
          <p:cNvSpPr txBox="1"/>
          <p:nvPr/>
        </p:nvSpPr>
        <p:spPr>
          <a:xfrm>
            <a:off x="6400800" y="367588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Palatino Linotype" pitchFamily="34" charset="0"/>
                <a:ea typeface="Palatino Linotype" pitchFamily="34" charset="-122"/>
                <a:cs typeface="Palatino Linotype" pitchFamily="34" charset="-120"/>
              </a:rPr>
              <a:t>I</a:t>
            </a:r>
            <a:endParaRPr lang="en-US" sz="1600" dirty="0"/>
          </a:p>
        </p:txBody>
      </p:sp>
      <p:sp>
        <p:nvSpPr>
          <p:cNvPr id="23" name="Text 21"/>
          <p:cNvSpPr txBox="1"/>
          <p:nvPr/>
        </p:nvSpPr>
        <p:spPr>
          <a:xfrm>
            <a:off x="6995160" y="3630168"/>
            <a:ext cx="3429000" cy="566928"/>
          </a:xfrm>
          <a:prstGeom prst="rect">
            <a:avLst/>
          </a:prstGeom>
          <a:noFill/>
          <a:ln/>
        </p:spPr>
        <p:txBody>
          <a:bodyPr wrap="square" lIns="0" tIns="0" rIns="0" bIns="0" rtlCol="0" anchor="ctr"/>
          <a:lstStyle/>
          <a:p>
            <a:pPr indent="0" marL="0">
              <a:buNone/>
            </a:pPr>
            <a:r>
              <a:rPr lang="en-US" sz="1800" b="1" dirty="0">
                <a:solidFill>
                  <a:srgbClr val="1E293B"/>
                </a:solidFill>
                <a:latin typeface="Palatino Linotype" pitchFamily="34" charset="0"/>
                <a:ea typeface="Palatino Linotype" pitchFamily="34" charset="-122"/>
                <a:cs typeface="Palatino Linotype" pitchFamily="34" charset="-120"/>
              </a:rPr>
              <a:t>Implementer</a:t>
            </a:r>
            <a:endParaRPr lang="en-US" sz="1800" dirty="0"/>
          </a:p>
          <a:p>
            <a:pPr indent="0" marL="0">
              <a:buNone/>
            </a:pPr>
            <a:r>
              <a:rPr lang="en-US" sz="1200" dirty="0">
                <a:solidFill>
                  <a:srgbClr val="536379"/>
                </a:solidFill>
                <a:latin typeface="Palatino Linotype" pitchFamily="34" charset="0"/>
                <a:ea typeface="Palatino Linotype" pitchFamily="34" charset="-122"/>
                <a:cs typeface="Palatino Linotype" pitchFamily="34" charset="-120"/>
              </a:rPr>
              <a:t>Staff who run activities</a:t>
            </a:r>
            <a:endParaRPr lang="en-US" sz="1800" dirty="0"/>
          </a:p>
        </p:txBody>
      </p:sp>
      <p:sp>
        <p:nvSpPr>
          <p:cNvPr id="24" name="Text 22"/>
          <p:cNvSpPr txBox="1"/>
          <p:nvPr/>
        </p:nvSpPr>
        <p:spPr>
          <a:xfrm>
            <a:off x="6492240" y="4343400"/>
            <a:ext cx="4892040" cy="1097280"/>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rgbClr val="1E293B"/>
                </a:solidFill>
                <a:latin typeface="Palatino Linotype" pitchFamily="34" charset="0"/>
                <a:ea typeface="Palatino Linotype" pitchFamily="34" charset="-122"/>
                <a:cs typeface="Palatino Linotype" pitchFamily="34" charset="-120"/>
              </a:rPr>
              <a:t>Works in their own division</a:t>
            </a:r>
            <a:endParaRPr lang="en-US" sz="1300" dirty="0"/>
          </a:p>
          <a:p>
            <a:pPr marL="342900" indent="-342900">
              <a:spcAft>
                <a:spcPts val="400"/>
              </a:spcAft>
              <a:buSzPct val="100000"/>
              <a:buChar char="•"/>
            </a:pPr>
            <a:r>
              <a:rPr lang="en-US" sz="1300" dirty="0">
                <a:solidFill>
                  <a:srgbClr val="1E293B"/>
                </a:solidFill>
                <a:latin typeface="Palatino Linotype" pitchFamily="34" charset="0"/>
                <a:ea typeface="Palatino Linotype" pitchFamily="34" charset="-122"/>
                <a:cs typeface="Palatino Linotype" pitchFamily="34" charset="-120"/>
              </a:rPr>
              <a:t>Creates and submits activities</a:t>
            </a:r>
            <a:endParaRPr lang="en-US" sz="1300" dirty="0"/>
          </a:p>
          <a:p>
            <a:pPr marL="342900" indent="-342900">
              <a:spcAft>
                <a:spcPts val="400"/>
              </a:spcAft>
              <a:buSzPct val="100000"/>
              <a:buChar char="•"/>
            </a:pPr>
            <a:r>
              <a:rPr lang="en-US" sz="1300" dirty="0">
                <a:solidFill>
                  <a:srgbClr val="1E293B"/>
                </a:solidFill>
                <a:latin typeface="Palatino Linotype" pitchFamily="34" charset="0"/>
                <a:ea typeface="Palatino Linotype" pitchFamily="34" charset="-122"/>
                <a:cs typeface="Palatino Linotype" pitchFamily="34" charset="-120"/>
              </a:rPr>
              <a:t>Adds evidence links and client feedback</a:t>
            </a:r>
            <a:endParaRPr lang="en-US" sz="1300" dirty="0"/>
          </a:p>
        </p:txBody>
      </p:sp>
      <p:sp>
        <p:nvSpPr>
          <p:cNvPr id="25" name="Shape 23"/>
          <p:cNvSpPr/>
          <p:nvPr/>
        </p:nvSpPr>
        <p:spPr>
          <a:xfrm>
            <a:off x="548640" y="5715000"/>
            <a:ext cx="11064240" cy="548640"/>
          </a:xfrm>
          <a:prstGeom prst="roundRect">
            <a:avLst>
              <a:gd name="adj" fmla="val 13333"/>
            </a:avLst>
          </a:prstGeom>
          <a:solidFill>
            <a:srgbClr val="EEF2FF"/>
          </a:solidFill>
          <a:ln w="12700">
            <a:solidFill>
              <a:srgbClr val="EEF2FF"/>
            </a:solidFill>
            <a:prstDash val="solid"/>
          </a:ln>
        </p:spPr>
      </p:sp>
      <p:sp>
        <p:nvSpPr>
          <p:cNvPr id="26" name="Text 24"/>
          <p:cNvSpPr txBox="1"/>
          <p:nvPr/>
        </p:nvSpPr>
        <p:spPr>
          <a:xfrm>
            <a:off x="749808" y="5806440"/>
            <a:ext cx="10661904" cy="365760"/>
          </a:xfrm>
          <a:prstGeom prst="rect">
            <a:avLst/>
          </a:prstGeom>
          <a:noFill/>
          <a:ln/>
        </p:spPr>
        <p:txBody>
          <a:bodyPr wrap="square" lIns="0" tIns="0" rIns="0" bIns="0" rtlCol="0" anchor="ctr"/>
          <a:lstStyle/>
          <a:p>
            <a:pPr indent="0" marL="0">
              <a:buNone/>
            </a:pPr>
            <a:r>
              <a:rPr lang="en-US" sz="1400" b="1" dirty="0">
                <a:solidFill>
                  <a:srgbClr val="1B2A8F"/>
                </a:solidFill>
                <a:latin typeface="Palatino Linotype" pitchFamily="34" charset="0"/>
                <a:ea typeface="Palatino Linotype" pitchFamily="34" charset="-122"/>
                <a:cs typeface="Palatino Linotype" pitchFamily="34" charset="-120"/>
              </a:rPr>
              <a:t>Checked by the system: </a:t>
            </a:r>
            <a:pPr indent="0" marL="0">
              <a:buNone/>
            </a:pPr>
            <a:r>
              <a:rPr lang="en-US" sz="1400" dirty="0">
                <a:solidFill>
                  <a:srgbClr val="1E293B"/>
                </a:solidFill>
                <a:latin typeface="Palatino Linotype" pitchFamily="34" charset="0"/>
                <a:ea typeface="Palatino Linotype" pitchFamily="34" charset="-122"/>
                <a:cs typeface="Palatino Linotype" pitchFamily="34" charset="-120"/>
              </a:rPr>
              <a:t>buttons you cannot use do not appear, and a change outside your role or division is refused.</a:t>
            </a:r>
            <a:endParaRPr lang="en-US" sz="1400" dirty="0"/>
          </a:p>
        </p:txBody>
      </p:sp>
      <p:sp>
        <p:nvSpPr>
          <p:cNvPr id="27" name="Text 25"/>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36379"/>
                </a:solidFill>
                <a:latin typeface="Palatino Linotype" pitchFamily="34" charset="0"/>
                <a:ea typeface="Palatino Linotype" pitchFamily="34" charset="-122"/>
                <a:cs typeface="Palatino Linotype" pitchFamily="34" charset="-120"/>
              </a:rPr>
              <a:t>DQAMP 2026 · Onboarding for Administrators</a:t>
            </a:r>
            <a:endParaRPr lang="en-US" sz="1000" dirty="0"/>
          </a:p>
        </p:txBody>
      </p:sp>
      <p:sp>
        <p:nvSpPr>
          <p:cNvPr id="28" name="Text 26"/>
          <p:cNvSpPr txBox="1"/>
          <p:nvPr/>
        </p:nvSpPr>
        <p:spPr>
          <a:xfrm>
            <a:off x="11155680" y="6400800"/>
            <a:ext cx="457200" cy="274320"/>
          </a:xfrm>
          <a:prstGeom prst="rect">
            <a:avLst/>
          </a:prstGeom>
          <a:noFill/>
          <a:ln/>
        </p:spPr>
        <p:txBody>
          <a:bodyPr wrap="square" lIns="0" tIns="0" rIns="0" bIns="0" rtlCol="0" anchor="ctr"/>
          <a:lstStyle/>
          <a:p>
            <a:pPr algn="r" indent="0" marL="0">
              <a:buNone/>
            </a:pPr>
            <a:r>
              <a:rPr lang="en-US" sz="1000" dirty="0">
                <a:solidFill>
                  <a:srgbClr val="536379"/>
                </a:solidFill>
                <a:latin typeface="Palatino Linotype" pitchFamily="34" charset="0"/>
                <a:ea typeface="Palatino Linotype" pitchFamily="34" charset="-122"/>
                <a:cs typeface="Palatino Linotype"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indent="0" marL="0">
              <a:buNone/>
            </a:pPr>
            <a:r>
              <a:rPr lang="en-US" sz="3400" b="1" dirty="0">
                <a:solidFill>
                  <a:srgbClr val="1B2A8F"/>
                </a:solidFill>
                <a:latin typeface="Century Gothic" pitchFamily="34" charset="0"/>
                <a:ea typeface="Century Gothic" pitchFamily="34" charset="-122"/>
                <a:cs typeface="Century Gothic" pitchFamily="34" charset="-120"/>
              </a:rPr>
              <a:t>Signing in</a:t>
            </a:r>
            <a:endParaRPr lang="en-US" sz="3400" dirty="0"/>
          </a:p>
        </p:txBody>
      </p:sp>
      <p:sp>
        <p:nvSpPr>
          <p:cNvPr id="3" name="signin frame"/>
          <p:cNvSpPr/>
          <p:nvPr/>
        </p:nvSpPr>
        <p:spPr>
          <a:xfrm>
            <a:off x="704088" y="1252728"/>
            <a:ext cx="4352544" cy="4668012"/>
          </a:xfrm>
          <a:prstGeom prst="roundRect">
            <a:avLst>
              <a:gd name="adj" fmla="val 630"/>
            </a:avLst>
          </a:prstGeom>
          <a:solidFill>
            <a:srgbClr val="FFFFFF"/>
          </a:solidFill>
          <a:ln w="12700">
            <a:solidFill>
              <a:srgbClr val="E2E8F0"/>
            </a:solidFill>
            <a:prstDash val="solid"/>
          </a:ln>
          <a:effectLst>
            <a:outerShdw sx="100000" sy="100000" kx="0" ky="0" algn="bl" rotWithShape="0" blurRad="101600" dist="25400" dir="5400000">
              <a:srgbClr val="1E293B">
                <a:alpha val="16000"/>
              </a:srgbClr>
            </a:outerShdw>
          </a:effectLst>
        </p:spPr>
      </p:sp>
      <p:pic>
        <p:nvPicPr>
          <p:cNvPr id="4" name="signin" descr="DQAMP sign-in form with Email, Password and Sign in">    </p:cNvPr>
          <p:cNvPicPr>
            <a:picLocks noChangeAspect="1"/>
          </p:cNvPicPr>
          <p:nvPr/>
        </p:nvPicPr>
        <p:blipFill>
          <a:blip r:embed="rId1"/>
          <a:stretch>
            <a:fillRect/>
          </a:stretch>
        </p:blipFill>
        <p:spPr>
          <a:xfrm>
            <a:off x="777240" y="1325880"/>
            <a:ext cx="4206240" cy="4521708"/>
          </a:xfrm>
          <a:prstGeom prst="rect">
            <a:avLst/>
          </a:prstGeom>
        </p:spPr>
      </p:pic>
      <p:sp>
        <p:nvSpPr>
          <p:cNvPr id="5" name="Highlight 1"/>
          <p:cNvSpPr/>
          <p:nvPr/>
        </p:nvSpPr>
        <p:spPr>
          <a:xfrm>
            <a:off x="1017478" y="2713274"/>
            <a:ext cx="3725764" cy="456369"/>
          </a:xfrm>
          <a:prstGeom prst="roundRect">
            <a:avLst>
              <a:gd name="adj" fmla="val 10018"/>
            </a:avLst>
          </a:prstGeom>
          <a:ln w="31750">
            <a:solidFill>
              <a:srgbClr val="EA580C"/>
            </a:solidFill>
            <a:prstDash val="solid"/>
          </a:ln>
        </p:spPr>
      </p:sp>
      <p:sp>
        <p:nvSpPr>
          <p:cNvPr id="6" name="Highlight 2"/>
          <p:cNvSpPr/>
          <p:nvPr/>
        </p:nvSpPr>
        <p:spPr>
          <a:xfrm>
            <a:off x="1017478" y="3535403"/>
            <a:ext cx="3725764" cy="456369"/>
          </a:xfrm>
          <a:prstGeom prst="roundRect">
            <a:avLst>
              <a:gd name="adj" fmla="val 10018"/>
            </a:avLst>
          </a:prstGeom>
          <a:ln w="31750">
            <a:solidFill>
              <a:srgbClr val="EA580C"/>
            </a:solidFill>
            <a:prstDash val="solid"/>
          </a:ln>
        </p:spPr>
      </p:sp>
      <p:sp>
        <p:nvSpPr>
          <p:cNvPr id="7" name="Highlight 3"/>
          <p:cNvSpPr/>
          <p:nvPr/>
        </p:nvSpPr>
        <p:spPr>
          <a:xfrm>
            <a:off x="1017478" y="4128100"/>
            <a:ext cx="3725764" cy="475488"/>
          </a:xfrm>
          <a:prstGeom prst="roundRect">
            <a:avLst>
              <a:gd name="adj" fmla="val 9615"/>
            </a:avLst>
          </a:prstGeom>
          <a:ln w="31750">
            <a:solidFill>
              <a:srgbClr val="EA580C"/>
            </a:solidFill>
            <a:prstDash val="solid"/>
          </a:ln>
        </p:spPr>
      </p:sp>
      <p:sp>
        <p:nvSpPr>
          <p:cNvPr id="8" name="Callout number 1"/>
          <p:cNvSpPr/>
          <p:nvPr/>
        </p:nvSpPr>
        <p:spPr>
          <a:xfrm>
            <a:off x="660862" y="2786011"/>
            <a:ext cx="310896" cy="310896"/>
          </a:xfrm>
          <a:prstGeom prst="ellipse">
            <a:avLst/>
          </a:prstGeom>
          <a:solidFill>
            <a:srgbClr val="1B2A8F"/>
          </a:solidFill>
          <a:ln w="25400">
            <a:solidFill>
              <a:srgbClr val="EA580C"/>
            </a:solidFill>
            <a:prstDash val="solid"/>
          </a:ln>
        </p:spPr>
      </p:sp>
      <p:sp>
        <p:nvSpPr>
          <p:cNvPr id="9" name="Text 6"/>
          <p:cNvSpPr txBox="1"/>
          <p:nvPr/>
        </p:nvSpPr>
        <p:spPr>
          <a:xfrm>
            <a:off x="660862" y="2786011"/>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Palatino Linotype" pitchFamily="34" charset="0"/>
                <a:ea typeface="Palatino Linotype" pitchFamily="34" charset="-122"/>
                <a:cs typeface="Palatino Linotype" pitchFamily="34" charset="-120"/>
              </a:rPr>
              <a:t>1</a:t>
            </a:r>
            <a:endParaRPr lang="en-US" sz="1200" dirty="0"/>
          </a:p>
        </p:txBody>
      </p:sp>
      <p:sp>
        <p:nvSpPr>
          <p:cNvPr id="10" name="Callout number 2"/>
          <p:cNvSpPr/>
          <p:nvPr/>
        </p:nvSpPr>
        <p:spPr>
          <a:xfrm>
            <a:off x="660862" y="3608139"/>
            <a:ext cx="310896" cy="310896"/>
          </a:xfrm>
          <a:prstGeom prst="ellipse">
            <a:avLst/>
          </a:prstGeom>
          <a:solidFill>
            <a:srgbClr val="1B2A8F"/>
          </a:solidFill>
          <a:ln w="25400">
            <a:solidFill>
              <a:srgbClr val="EA580C"/>
            </a:solidFill>
            <a:prstDash val="solid"/>
          </a:ln>
        </p:spPr>
      </p:sp>
      <p:sp>
        <p:nvSpPr>
          <p:cNvPr id="11" name="Text 8"/>
          <p:cNvSpPr txBox="1"/>
          <p:nvPr/>
        </p:nvSpPr>
        <p:spPr>
          <a:xfrm>
            <a:off x="660862" y="3608139"/>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Palatino Linotype" pitchFamily="34" charset="0"/>
                <a:ea typeface="Palatino Linotype" pitchFamily="34" charset="-122"/>
                <a:cs typeface="Palatino Linotype" pitchFamily="34" charset="-120"/>
              </a:rPr>
              <a:t>2</a:t>
            </a:r>
            <a:endParaRPr lang="en-US" sz="1200" dirty="0"/>
          </a:p>
        </p:txBody>
      </p:sp>
      <p:sp>
        <p:nvSpPr>
          <p:cNvPr id="12" name="Callout number 3"/>
          <p:cNvSpPr/>
          <p:nvPr/>
        </p:nvSpPr>
        <p:spPr>
          <a:xfrm>
            <a:off x="660862" y="4210396"/>
            <a:ext cx="310896" cy="310896"/>
          </a:xfrm>
          <a:prstGeom prst="ellipse">
            <a:avLst/>
          </a:prstGeom>
          <a:solidFill>
            <a:srgbClr val="1B2A8F"/>
          </a:solidFill>
          <a:ln w="25400">
            <a:solidFill>
              <a:srgbClr val="EA580C"/>
            </a:solidFill>
            <a:prstDash val="solid"/>
          </a:ln>
        </p:spPr>
      </p:sp>
      <p:sp>
        <p:nvSpPr>
          <p:cNvPr id="13" name="Text 10"/>
          <p:cNvSpPr txBox="1"/>
          <p:nvPr/>
        </p:nvSpPr>
        <p:spPr>
          <a:xfrm>
            <a:off x="660862" y="4210396"/>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Palatino Linotype" pitchFamily="34" charset="0"/>
                <a:ea typeface="Palatino Linotype" pitchFamily="34" charset="-122"/>
                <a:cs typeface="Palatino Linotype" pitchFamily="34" charset="-120"/>
              </a:rPr>
              <a:t>3</a:t>
            </a:r>
            <a:endParaRPr lang="en-US" sz="1200" dirty="0"/>
          </a:p>
        </p:txBody>
      </p:sp>
      <p:sp>
        <p:nvSpPr>
          <p:cNvPr id="14" name="Callout number 1"/>
          <p:cNvSpPr/>
          <p:nvPr/>
        </p:nvSpPr>
        <p:spPr>
          <a:xfrm>
            <a:off x="5852160" y="1344168"/>
            <a:ext cx="365760" cy="365760"/>
          </a:xfrm>
          <a:prstGeom prst="ellipse">
            <a:avLst/>
          </a:prstGeom>
          <a:solidFill>
            <a:srgbClr val="1B2A8F"/>
          </a:solidFill>
          <a:ln w="25400">
            <a:solidFill>
              <a:srgbClr val="EA580C"/>
            </a:solidFill>
            <a:prstDash val="solid"/>
          </a:ln>
        </p:spPr>
      </p:sp>
      <p:sp>
        <p:nvSpPr>
          <p:cNvPr id="15" name="Text 12"/>
          <p:cNvSpPr txBox="1"/>
          <p:nvPr/>
        </p:nvSpPr>
        <p:spPr>
          <a:xfrm>
            <a:off x="5852160" y="1344168"/>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1</a:t>
            </a:r>
            <a:endParaRPr lang="en-US" sz="1400" dirty="0"/>
          </a:p>
        </p:txBody>
      </p:sp>
      <p:sp>
        <p:nvSpPr>
          <p:cNvPr id="16" name="Legend 1"/>
          <p:cNvSpPr txBox="1"/>
          <p:nvPr/>
        </p:nvSpPr>
        <p:spPr>
          <a:xfrm>
            <a:off x="6382512" y="1325880"/>
            <a:ext cx="5230368" cy="768096"/>
          </a:xfrm>
          <a:prstGeom prst="rect">
            <a:avLst/>
          </a:prstGeom>
          <a:noFill/>
          <a:ln/>
        </p:spPr>
        <p:txBody>
          <a:bodyPr wrap="square" lIns="0" tIns="0" rIns="0" bIns="0" rtlCol="0" anchor="t"/>
          <a:lstStyle/>
          <a:p>
            <a:pPr indent="0" marL="0">
              <a:buNone/>
            </a:pPr>
            <a:r>
              <a:rPr lang="en-US" sz="1600" b="1" dirty="0">
                <a:solidFill>
                  <a:srgbClr val="1E293B"/>
                </a:solidFill>
                <a:latin typeface="Palatino Linotype" pitchFamily="34" charset="0"/>
                <a:ea typeface="Palatino Linotype" pitchFamily="34" charset="-122"/>
                <a:cs typeface="Palatino Linotype" pitchFamily="34" charset="-120"/>
              </a:rPr>
              <a:t>Email</a:t>
            </a:r>
            <a:endParaRPr lang="en-US" sz="1600" dirty="0"/>
          </a:p>
          <a:p>
            <a:pPr indent="0" marL="0">
              <a:buNone/>
            </a:pPr>
            <a:r>
              <a:rPr lang="en-US" sz="1400" dirty="0">
                <a:solidFill>
                  <a:srgbClr val="536379"/>
                </a:solidFill>
                <a:latin typeface="Palatino Linotype" pitchFamily="34" charset="0"/>
                <a:ea typeface="Palatino Linotype" pitchFamily="34" charset="-122"/>
                <a:cs typeface="Palatino Linotype" pitchFamily="34" charset="-120"/>
              </a:rPr>
              <a:t>The address your administrator registered for you.</a:t>
            </a:r>
            <a:endParaRPr lang="en-US" sz="1600" dirty="0"/>
          </a:p>
        </p:txBody>
      </p:sp>
      <p:sp>
        <p:nvSpPr>
          <p:cNvPr id="17" name="Callout number 2"/>
          <p:cNvSpPr/>
          <p:nvPr/>
        </p:nvSpPr>
        <p:spPr>
          <a:xfrm>
            <a:off x="5852160" y="2167128"/>
            <a:ext cx="365760" cy="365760"/>
          </a:xfrm>
          <a:prstGeom prst="ellipse">
            <a:avLst/>
          </a:prstGeom>
          <a:solidFill>
            <a:srgbClr val="1B2A8F"/>
          </a:solidFill>
          <a:ln w="25400">
            <a:solidFill>
              <a:srgbClr val="EA580C"/>
            </a:solidFill>
            <a:prstDash val="solid"/>
          </a:ln>
        </p:spPr>
      </p:sp>
      <p:sp>
        <p:nvSpPr>
          <p:cNvPr id="18" name="Text 15"/>
          <p:cNvSpPr txBox="1"/>
          <p:nvPr/>
        </p:nvSpPr>
        <p:spPr>
          <a:xfrm>
            <a:off x="5852160" y="2167128"/>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2</a:t>
            </a:r>
            <a:endParaRPr lang="en-US" sz="1400" dirty="0"/>
          </a:p>
        </p:txBody>
      </p:sp>
      <p:sp>
        <p:nvSpPr>
          <p:cNvPr id="19" name="Legend 2"/>
          <p:cNvSpPr txBox="1"/>
          <p:nvPr/>
        </p:nvSpPr>
        <p:spPr>
          <a:xfrm>
            <a:off x="6382512" y="2148840"/>
            <a:ext cx="5230368" cy="768096"/>
          </a:xfrm>
          <a:prstGeom prst="rect">
            <a:avLst/>
          </a:prstGeom>
          <a:noFill/>
          <a:ln/>
        </p:spPr>
        <p:txBody>
          <a:bodyPr wrap="square" lIns="0" tIns="0" rIns="0" bIns="0" rtlCol="0" anchor="t"/>
          <a:lstStyle/>
          <a:p>
            <a:pPr indent="0" marL="0">
              <a:buNone/>
            </a:pPr>
            <a:r>
              <a:rPr lang="en-US" sz="1600" b="1" dirty="0">
                <a:solidFill>
                  <a:srgbClr val="1E293B"/>
                </a:solidFill>
                <a:latin typeface="Palatino Linotype" pitchFamily="34" charset="0"/>
                <a:ea typeface="Palatino Linotype" pitchFamily="34" charset="-122"/>
                <a:cs typeface="Palatino Linotype" pitchFamily="34" charset="-120"/>
              </a:rPr>
              <a:t>Password</a:t>
            </a:r>
            <a:endParaRPr lang="en-US" sz="1600" dirty="0"/>
          </a:p>
          <a:p>
            <a:pPr indent="0" marL="0">
              <a:buNone/>
            </a:pPr>
            <a:r>
              <a:rPr lang="en-US" sz="1400" dirty="0">
                <a:solidFill>
                  <a:srgbClr val="536379"/>
                </a:solidFill>
                <a:latin typeface="Palatino Linotype" pitchFamily="34" charset="0"/>
                <a:ea typeface="Palatino Linotype" pitchFamily="34" charset="-122"/>
                <a:cs typeface="Palatino Linotype" pitchFamily="34" charset="-120"/>
              </a:rPr>
              <a:t>The temporary password your administrator gave you.</a:t>
            </a:r>
            <a:endParaRPr lang="en-US" sz="1600" dirty="0"/>
          </a:p>
        </p:txBody>
      </p:sp>
      <p:sp>
        <p:nvSpPr>
          <p:cNvPr id="20" name="Callout number 3"/>
          <p:cNvSpPr/>
          <p:nvPr/>
        </p:nvSpPr>
        <p:spPr>
          <a:xfrm>
            <a:off x="5852160" y="2990088"/>
            <a:ext cx="365760" cy="365760"/>
          </a:xfrm>
          <a:prstGeom prst="ellipse">
            <a:avLst/>
          </a:prstGeom>
          <a:solidFill>
            <a:srgbClr val="1B2A8F"/>
          </a:solidFill>
          <a:ln w="25400">
            <a:solidFill>
              <a:srgbClr val="EA580C"/>
            </a:solidFill>
            <a:prstDash val="solid"/>
          </a:ln>
        </p:spPr>
      </p:sp>
      <p:sp>
        <p:nvSpPr>
          <p:cNvPr id="21" name="Text 18"/>
          <p:cNvSpPr txBox="1"/>
          <p:nvPr/>
        </p:nvSpPr>
        <p:spPr>
          <a:xfrm>
            <a:off x="5852160" y="2990088"/>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3</a:t>
            </a:r>
            <a:endParaRPr lang="en-US" sz="1400" dirty="0"/>
          </a:p>
        </p:txBody>
      </p:sp>
      <p:sp>
        <p:nvSpPr>
          <p:cNvPr id="22" name="Legend 3"/>
          <p:cNvSpPr txBox="1"/>
          <p:nvPr/>
        </p:nvSpPr>
        <p:spPr>
          <a:xfrm>
            <a:off x="6382512" y="2971800"/>
            <a:ext cx="5230368" cy="768096"/>
          </a:xfrm>
          <a:prstGeom prst="rect">
            <a:avLst/>
          </a:prstGeom>
          <a:noFill/>
          <a:ln/>
        </p:spPr>
        <p:txBody>
          <a:bodyPr wrap="square" lIns="0" tIns="0" rIns="0" bIns="0" rtlCol="0" anchor="t"/>
          <a:lstStyle/>
          <a:p>
            <a:pPr indent="0" marL="0">
              <a:buNone/>
            </a:pPr>
            <a:r>
              <a:rPr lang="en-US" sz="1600" b="1" dirty="0">
                <a:solidFill>
                  <a:srgbClr val="1E293B"/>
                </a:solidFill>
                <a:latin typeface="Palatino Linotype" pitchFamily="34" charset="0"/>
                <a:ea typeface="Palatino Linotype" pitchFamily="34" charset="-122"/>
                <a:cs typeface="Palatino Linotype" pitchFamily="34" charset="-120"/>
              </a:rPr>
              <a:t>Sign in</a:t>
            </a:r>
            <a:endParaRPr lang="en-US" sz="1600" dirty="0"/>
          </a:p>
          <a:p>
            <a:pPr indent="0" marL="0">
              <a:buNone/>
            </a:pPr>
            <a:r>
              <a:rPr lang="en-US" sz="1400" dirty="0">
                <a:solidFill>
                  <a:srgbClr val="536379"/>
                </a:solidFill>
                <a:latin typeface="Palatino Linotype" pitchFamily="34" charset="0"/>
                <a:ea typeface="Palatino Linotype" pitchFamily="34" charset="-122"/>
                <a:cs typeface="Palatino Linotype" pitchFamily="34" charset="-120"/>
              </a:rPr>
              <a:t>Opens the Dashboard.</a:t>
            </a:r>
            <a:endParaRPr lang="en-US" sz="1600" dirty="0"/>
          </a:p>
        </p:txBody>
      </p:sp>
      <p:sp>
        <p:nvSpPr>
          <p:cNvPr id="23" name="Shape 20"/>
          <p:cNvSpPr/>
          <p:nvPr/>
        </p:nvSpPr>
        <p:spPr>
          <a:xfrm>
            <a:off x="5852160" y="3977640"/>
            <a:ext cx="5760720" cy="777240"/>
          </a:xfrm>
          <a:prstGeom prst="roundRect">
            <a:avLst>
              <a:gd name="adj" fmla="val 9412"/>
            </a:avLst>
          </a:prstGeom>
          <a:solidFill>
            <a:srgbClr val="EEF2FF"/>
          </a:solidFill>
          <a:ln w="12700">
            <a:solidFill>
              <a:srgbClr val="EEF2FF"/>
            </a:solidFill>
            <a:prstDash val="solid"/>
          </a:ln>
        </p:spPr>
      </p:sp>
      <p:sp>
        <p:nvSpPr>
          <p:cNvPr id="24" name="Text 21"/>
          <p:cNvSpPr txBox="1"/>
          <p:nvPr/>
        </p:nvSpPr>
        <p:spPr>
          <a:xfrm>
            <a:off x="6053328" y="4069080"/>
            <a:ext cx="5358384" cy="594360"/>
          </a:xfrm>
          <a:prstGeom prst="rect">
            <a:avLst/>
          </a:prstGeom>
          <a:noFill/>
          <a:ln/>
        </p:spPr>
        <p:txBody>
          <a:bodyPr wrap="square" lIns="0" tIns="0" rIns="0" bIns="0" rtlCol="0" anchor="ctr"/>
          <a:lstStyle/>
          <a:p>
            <a:pPr indent="0" marL="0">
              <a:buNone/>
            </a:pPr>
            <a:r>
              <a:rPr lang="en-US" sz="1400" b="1" dirty="0">
                <a:solidFill>
                  <a:srgbClr val="1B2A8F"/>
                </a:solidFill>
                <a:latin typeface="Palatino Linotype" pitchFamily="34" charset="0"/>
                <a:ea typeface="Palatino Linotype" pitchFamily="34" charset="-122"/>
                <a:cs typeface="Palatino Linotype" pitchFamily="34" charset="-120"/>
              </a:rPr>
              <a:t>Where: </a:t>
            </a:r>
            <a:pPr indent="0" marL="0">
              <a:buNone/>
            </a:pPr>
            <a:r>
              <a:rPr lang="en-US" sz="1400" dirty="0">
                <a:solidFill>
                  <a:srgbClr val="1E293B"/>
                </a:solidFill>
                <a:latin typeface="Palatino Linotype" pitchFamily="34" charset="0"/>
                <a:ea typeface="Palatino Linotype" pitchFamily="34" charset="-122"/>
                <a:cs typeface="Palatino Linotype" pitchFamily="34" charset="-120"/>
              </a:rPr>
              <a:t>Open DQAMP on the computer where it runs, at http://127.0.0.1:3002.</a:t>
            </a:r>
            <a:endParaRPr lang="en-US" sz="1400" dirty="0"/>
          </a:p>
        </p:txBody>
      </p:sp>
      <p:sp>
        <p:nvSpPr>
          <p:cNvPr id="25" name="Shape 22"/>
          <p:cNvSpPr/>
          <p:nvPr/>
        </p:nvSpPr>
        <p:spPr>
          <a:xfrm>
            <a:off x="5852160" y="4937760"/>
            <a:ext cx="5760720" cy="777240"/>
          </a:xfrm>
          <a:prstGeom prst="roundRect">
            <a:avLst>
              <a:gd name="adj" fmla="val 9412"/>
            </a:avLst>
          </a:prstGeom>
          <a:solidFill>
            <a:srgbClr val="EEF2FF"/>
          </a:solidFill>
          <a:ln w="12700">
            <a:solidFill>
              <a:srgbClr val="EEF2FF"/>
            </a:solidFill>
            <a:prstDash val="solid"/>
          </a:ln>
        </p:spPr>
      </p:sp>
      <p:sp>
        <p:nvSpPr>
          <p:cNvPr id="26" name="Text 23"/>
          <p:cNvSpPr txBox="1"/>
          <p:nvPr/>
        </p:nvSpPr>
        <p:spPr>
          <a:xfrm>
            <a:off x="6053328" y="5029200"/>
            <a:ext cx="5358384" cy="594360"/>
          </a:xfrm>
          <a:prstGeom prst="rect">
            <a:avLst/>
          </a:prstGeom>
          <a:noFill/>
          <a:ln/>
        </p:spPr>
        <p:txBody>
          <a:bodyPr wrap="square" lIns="0" tIns="0" rIns="0" bIns="0" rtlCol="0" anchor="ctr"/>
          <a:lstStyle/>
          <a:p>
            <a:pPr indent="0" marL="0">
              <a:buNone/>
            </a:pPr>
            <a:r>
              <a:rPr lang="en-US" sz="1400" b="1" dirty="0">
                <a:solidFill>
                  <a:srgbClr val="1B2A8F"/>
                </a:solidFill>
                <a:latin typeface="Palatino Linotype" pitchFamily="34" charset="0"/>
                <a:ea typeface="Palatino Linotype" pitchFamily="34" charset="-122"/>
                <a:cs typeface="Palatino Linotype" pitchFamily="34" charset="-120"/>
              </a:rPr>
              <a:t>No account yet? </a:t>
            </a:r>
            <a:pPr indent="0" marL="0">
              <a:buNone/>
            </a:pPr>
            <a:r>
              <a:rPr lang="en-US" sz="1400" dirty="0">
                <a:solidFill>
                  <a:srgbClr val="1E293B"/>
                </a:solidFill>
                <a:latin typeface="Palatino Linotype" pitchFamily="34" charset="0"/>
                <a:ea typeface="Palatino Linotype" pitchFamily="34" charset="-122"/>
                <a:cs typeface="Palatino Linotype" pitchFamily="34" charset="-120"/>
              </a:rPr>
              <a:t>Your administrator creates it. DQAMP does not send email invitations.</a:t>
            </a:r>
            <a:endParaRPr lang="en-US" sz="1400" dirty="0"/>
          </a:p>
        </p:txBody>
      </p:sp>
      <p:sp>
        <p:nvSpPr>
          <p:cNvPr id="27" name="Text 24"/>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36379"/>
                </a:solidFill>
                <a:latin typeface="Palatino Linotype" pitchFamily="34" charset="0"/>
                <a:ea typeface="Palatino Linotype" pitchFamily="34" charset="-122"/>
                <a:cs typeface="Palatino Linotype" pitchFamily="34" charset="-120"/>
              </a:rPr>
              <a:t>DQAMP 2026 · Onboarding for Administrators</a:t>
            </a:r>
            <a:endParaRPr lang="en-US" sz="1000" dirty="0"/>
          </a:p>
        </p:txBody>
      </p:sp>
      <p:sp>
        <p:nvSpPr>
          <p:cNvPr id="28" name="Text 25"/>
          <p:cNvSpPr txBox="1"/>
          <p:nvPr/>
        </p:nvSpPr>
        <p:spPr>
          <a:xfrm>
            <a:off x="11155680" y="6400800"/>
            <a:ext cx="457200" cy="274320"/>
          </a:xfrm>
          <a:prstGeom prst="rect">
            <a:avLst/>
          </a:prstGeom>
          <a:noFill/>
          <a:ln/>
        </p:spPr>
        <p:txBody>
          <a:bodyPr wrap="square" lIns="0" tIns="0" rIns="0" bIns="0" rtlCol="0" anchor="ctr"/>
          <a:lstStyle/>
          <a:p>
            <a:pPr algn="r" indent="0" marL="0">
              <a:buNone/>
            </a:pPr>
            <a:r>
              <a:rPr lang="en-US" sz="1000" dirty="0">
                <a:solidFill>
                  <a:srgbClr val="536379"/>
                </a:solidFill>
                <a:latin typeface="Palatino Linotype" pitchFamily="34" charset="0"/>
                <a:ea typeface="Palatino Linotype" pitchFamily="34" charset="-122"/>
                <a:cs typeface="Palatino Linotype"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indent="0" marL="0">
              <a:buNone/>
            </a:pPr>
            <a:r>
              <a:rPr lang="en-US" sz="3400" b="1" dirty="0">
                <a:solidFill>
                  <a:srgbClr val="1B2A8F"/>
                </a:solidFill>
                <a:latin typeface="Century Gothic" pitchFamily="34" charset="0"/>
                <a:ea typeface="Century Gothic" pitchFamily="34" charset="-122"/>
                <a:cs typeface="Century Gothic" pitchFamily="34" charset="-120"/>
              </a:rPr>
              <a:t>Finding your way</a:t>
            </a:r>
            <a:endParaRPr lang="en-US" sz="3400" dirty="0"/>
          </a:p>
        </p:txBody>
      </p:sp>
      <p:sp>
        <p:nvSpPr>
          <p:cNvPr id="3" name="a-dashboard frame"/>
          <p:cNvSpPr/>
          <p:nvPr/>
        </p:nvSpPr>
        <p:spPr>
          <a:xfrm>
            <a:off x="612648" y="1298448"/>
            <a:ext cx="6912864" cy="4375404"/>
          </a:xfrm>
          <a:prstGeom prst="roundRect">
            <a:avLst>
              <a:gd name="adj" fmla="val 627"/>
            </a:avLst>
          </a:prstGeom>
          <a:solidFill>
            <a:srgbClr val="FFFFFF"/>
          </a:solidFill>
          <a:ln w="12700">
            <a:solidFill>
              <a:srgbClr val="E2E8F0"/>
            </a:solidFill>
            <a:prstDash val="solid"/>
          </a:ln>
          <a:effectLst>
            <a:outerShdw sx="100000" sy="100000" kx="0" ky="0" algn="bl" rotWithShape="0" blurRad="101600" dist="25400" dir="5400000">
              <a:srgbClr val="1E293B">
                <a:alpha val="16000"/>
              </a:srgbClr>
            </a:outerShdw>
          </a:effectLst>
        </p:spPr>
      </p:sp>
      <p:pic>
        <p:nvPicPr>
          <p:cNvPr id="4" name="a-dashboard" descr="DQAMP dashboard for an administrator">    </p:cNvPr>
          <p:cNvPicPr>
            <a:picLocks noChangeAspect="1"/>
          </p:cNvPicPr>
          <p:nvPr/>
        </p:nvPicPr>
        <p:blipFill>
          <a:blip r:embed="rId1"/>
          <a:stretch>
            <a:fillRect/>
          </a:stretch>
        </p:blipFill>
        <p:spPr>
          <a:xfrm>
            <a:off x="685800" y="1371600"/>
            <a:ext cx="6766560" cy="4229100"/>
          </a:xfrm>
          <a:prstGeom prst="rect">
            <a:avLst/>
          </a:prstGeom>
        </p:spPr>
      </p:pic>
      <p:sp>
        <p:nvSpPr>
          <p:cNvPr id="5" name="Highlight 1"/>
          <p:cNvSpPr/>
          <p:nvPr/>
        </p:nvSpPr>
        <p:spPr>
          <a:xfrm>
            <a:off x="658368" y="1749604"/>
            <a:ext cx="1253109" cy="3535501"/>
          </a:xfrm>
          <a:prstGeom prst="roundRect">
            <a:avLst>
              <a:gd name="adj" fmla="val 3649"/>
            </a:avLst>
          </a:prstGeom>
          <a:ln w="31750">
            <a:solidFill>
              <a:srgbClr val="EA580C"/>
            </a:solidFill>
            <a:prstDash val="solid"/>
          </a:ln>
        </p:spPr>
      </p:sp>
      <p:sp>
        <p:nvSpPr>
          <p:cNvPr id="6" name="Highlight 2"/>
          <p:cNvSpPr/>
          <p:nvPr/>
        </p:nvSpPr>
        <p:spPr>
          <a:xfrm>
            <a:off x="2466822" y="1982278"/>
            <a:ext cx="4406872" cy="196715"/>
          </a:xfrm>
          <a:prstGeom prst="roundRect">
            <a:avLst>
              <a:gd name="adj" fmla="val 23242"/>
            </a:avLst>
          </a:prstGeom>
          <a:ln w="31750">
            <a:solidFill>
              <a:srgbClr val="EA580C"/>
            </a:solidFill>
            <a:prstDash val="solid"/>
          </a:ln>
        </p:spPr>
      </p:sp>
      <p:sp>
        <p:nvSpPr>
          <p:cNvPr id="7" name="Highlight 3"/>
          <p:cNvSpPr/>
          <p:nvPr/>
        </p:nvSpPr>
        <p:spPr>
          <a:xfrm>
            <a:off x="2011680" y="2312089"/>
            <a:ext cx="5317744" cy="605088"/>
          </a:xfrm>
          <a:prstGeom prst="roundRect">
            <a:avLst>
              <a:gd name="adj" fmla="val 7556"/>
            </a:avLst>
          </a:prstGeom>
          <a:ln w="31750">
            <a:solidFill>
              <a:srgbClr val="EA580C"/>
            </a:solidFill>
            <a:prstDash val="solid"/>
          </a:ln>
        </p:spPr>
      </p:sp>
      <p:sp>
        <p:nvSpPr>
          <p:cNvPr id="8" name="Highlight 4"/>
          <p:cNvSpPr/>
          <p:nvPr/>
        </p:nvSpPr>
        <p:spPr>
          <a:xfrm>
            <a:off x="2129155" y="3083165"/>
            <a:ext cx="5082794" cy="1447163"/>
          </a:xfrm>
          <a:prstGeom prst="roundRect">
            <a:avLst>
              <a:gd name="adj" fmla="val 3159"/>
            </a:avLst>
          </a:prstGeom>
          <a:ln w="31750">
            <a:solidFill>
              <a:srgbClr val="EA580C"/>
            </a:solidFill>
            <a:prstDash val="solid"/>
          </a:ln>
        </p:spPr>
      </p:sp>
      <p:sp>
        <p:nvSpPr>
          <p:cNvPr id="9" name="Highlight 5"/>
          <p:cNvSpPr/>
          <p:nvPr/>
        </p:nvSpPr>
        <p:spPr>
          <a:xfrm>
            <a:off x="949706" y="5319522"/>
            <a:ext cx="755015" cy="146495"/>
          </a:xfrm>
          <a:prstGeom prst="roundRect">
            <a:avLst>
              <a:gd name="adj" fmla="val 31209"/>
            </a:avLst>
          </a:prstGeom>
          <a:ln w="31750">
            <a:solidFill>
              <a:srgbClr val="EA580C"/>
            </a:solidFill>
            <a:prstDash val="solid"/>
          </a:ln>
        </p:spPr>
      </p:sp>
      <p:sp>
        <p:nvSpPr>
          <p:cNvPr id="10" name="Callout number 1"/>
          <p:cNvSpPr/>
          <p:nvPr/>
        </p:nvSpPr>
        <p:spPr>
          <a:xfrm>
            <a:off x="502920" y="1594156"/>
            <a:ext cx="310896" cy="310896"/>
          </a:xfrm>
          <a:prstGeom prst="ellipse">
            <a:avLst/>
          </a:prstGeom>
          <a:solidFill>
            <a:srgbClr val="1B2A8F"/>
          </a:solidFill>
          <a:ln w="25400">
            <a:solidFill>
              <a:srgbClr val="EA580C"/>
            </a:solidFill>
            <a:prstDash val="solid"/>
          </a:ln>
        </p:spPr>
      </p:sp>
      <p:sp>
        <p:nvSpPr>
          <p:cNvPr id="11" name="Text 8"/>
          <p:cNvSpPr txBox="1"/>
          <p:nvPr/>
        </p:nvSpPr>
        <p:spPr>
          <a:xfrm>
            <a:off x="502920" y="1594156"/>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Palatino Linotype" pitchFamily="34" charset="0"/>
                <a:ea typeface="Palatino Linotype" pitchFamily="34" charset="-122"/>
                <a:cs typeface="Palatino Linotype" pitchFamily="34" charset="-120"/>
              </a:rPr>
              <a:t>1</a:t>
            </a:r>
            <a:endParaRPr lang="en-US" sz="1200" dirty="0"/>
          </a:p>
        </p:txBody>
      </p:sp>
      <p:sp>
        <p:nvSpPr>
          <p:cNvPr id="12" name="Callout number 2"/>
          <p:cNvSpPr/>
          <p:nvPr/>
        </p:nvSpPr>
        <p:spPr>
          <a:xfrm>
            <a:off x="2110206" y="1925187"/>
            <a:ext cx="310896" cy="310896"/>
          </a:xfrm>
          <a:prstGeom prst="ellipse">
            <a:avLst/>
          </a:prstGeom>
          <a:solidFill>
            <a:srgbClr val="1B2A8F"/>
          </a:solidFill>
          <a:ln w="25400">
            <a:solidFill>
              <a:srgbClr val="EA580C"/>
            </a:solidFill>
            <a:prstDash val="solid"/>
          </a:ln>
        </p:spPr>
      </p:sp>
      <p:sp>
        <p:nvSpPr>
          <p:cNvPr id="13" name="Text 10"/>
          <p:cNvSpPr txBox="1"/>
          <p:nvPr/>
        </p:nvSpPr>
        <p:spPr>
          <a:xfrm>
            <a:off x="2110206" y="1925187"/>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Palatino Linotype" pitchFamily="34" charset="0"/>
                <a:ea typeface="Palatino Linotype" pitchFamily="34" charset="-122"/>
                <a:cs typeface="Palatino Linotype" pitchFamily="34" charset="-120"/>
              </a:rPr>
              <a:t>2</a:t>
            </a:r>
            <a:endParaRPr lang="en-US" sz="1200" dirty="0"/>
          </a:p>
        </p:txBody>
      </p:sp>
      <p:sp>
        <p:nvSpPr>
          <p:cNvPr id="14" name="Callout number 3"/>
          <p:cNvSpPr/>
          <p:nvPr/>
        </p:nvSpPr>
        <p:spPr>
          <a:xfrm>
            <a:off x="7375144" y="2459184"/>
            <a:ext cx="310896" cy="310896"/>
          </a:xfrm>
          <a:prstGeom prst="ellipse">
            <a:avLst/>
          </a:prstGeom>
          <a:solidFill>
            <a:srgbClr val="1B2A8F"/>
          </a:solidFill>
          <a:ln w="25400">
            <a:solidFill>
              <a:srgbClr val="EA580C"/>
            </a:solidFill>
            <a:prstDash val="solid"/>
          </a:ln>
        </p:spPr>
      </p:sp>
      <p:sp>
        <p:nvSpPr>
          <p:cNvPr id="15" name="Text 12"/>
          <p:cNvSpPr txBox="1"/>
          <p:nvPr/>
        </p:nvSpPr>
        <p:spPr>
          <a:xfrm>
            <a:off x="7375144" y="2459184"/>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Palatino Linotype" pitchFamily="34" charset="0"/>
                <a:ea typeface="Palatino Linotype" pitchFamily="34" charset="-122"/>
                <a:cs typeface="Palatino Linotype" pitchFamily="34" charset="-120"/>
              </a:rPr>
              <a:t>3</a:t>
            </a:r>
            <a:endParaRPr lang="en-US" sz="1200" dirty="0"/>
          </a:p>
        </p:txBody>
      </p:sp>
      <p:sp>
        <p:nvSpPr>
          <p:cNvPr id="16" name="Callout number 4"/>
          <p:cNvSpPr/>
          <p:nvPr/>
        </p:nvSpPr>
        <p:spPr>
          <a:xfrm>
            <a:off x="1973707" y="2927717"/>
            <a:ext cx="310896" cy="310896"/>
          </a:xfrm>
          <a:prstGeom prst="ellipse">
            <a:avLst/>
          </a:prstGeom>
          <a:solidFill>
            <a:srgbClr val="1B2A8F"/>
          </a:solidFill>
          <a:ln w="25400">
            <a:solidFill>
              <a:srgbClr val="EA580C"/>
            </a:solidFill>
            <a:prstDash val="solid"/>
          </a:ln>
        </p:spPr>
      </p:sp>
      <p:sp>
        <p:nvSpPr>
          <p:cNvPr id="17" name="Text 14"/>
          <p:cNvSpPr txBox="1"/>
          <p:nvPr/>
        </p:nvSpPr>
        <p:spPr>
          <a:xfrm>
            <a:off x="1973707" y="2927717"/>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Palatino Linotype" pitchFamily="34" charset="0"/>
                <a:ea typeface="Palatino Linotype" pitchFamily="34" charset="-122"/>
                <a:cs typeface="Palatino Linotype" pitchFamily="34" charset="-120"/>
              </a:rPr>
              <a:t>4</a:t>
            </a:r>
            <a:endParaRPr lang="en-US" sz="1200" dirty="0"/>
          </a:p>
        </p:txBody>
      </p:sp>
      <p:sp>
        <p:nvSpPr>
          <p:cNvPr id="18" name="Callout number 5"/>
          <p:cNvSpPr/>
          <p:nvPr/>
        </p:nvSpPr>
        <p:spPr>
          <a:xfrm>
            <a:off x="1171766" y="5511737"/>
            <a:ext cx="310896" cy="310896"/>
          </a:xfrm>
          <a:prstGeom prst="ellipse">
            <a:avLst/>
          </a:prstGeom>
          <a:solidFill>
            <a:srgbClr val="1B2A8F"/>
          </a:solidFill>
          <a:ln w="25400">
            <a:solidFill>
              <a:srgbClr val="EA580C"/>
            </a:solidFill>
            <a:prstDash val="solid"/>
          </a:ln>
        </p:spPr>
      </p:sp>
      <p:sp>
        <p:nvSpPr>
          <p:cNvPr id="19" name="Text 16"/>
          <p:cNvSpPr txBox="1"/>
          <p:nvPr/>
        </p:nvSpPr>
        <p:spPr>
          <a:xfrm>
            <a:off x="1171766" y="5511737"/>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Palatino Linotype" pitchFamily="34" charset="0"/>
                <a:ea typeface="Palatino Linotype" pitchFamily="34" charset="-122"/>
                <a:cs typeface="Palatino Linotype" pitchFamily="34" charset="-120"/>
              </a:rPr>
              <a:t>5</a:t>
            </a:r>
            <a:endParaRPr lang="en-US" sz="1200" dirty="0"/>
          </a:p>
        </p:txBody>
      </p:sp>
      <p:sp>
        <p:nvSpPr>
          <p:cNvPr id="20" name="Callout number 1"/>
          <p:cNvSpPr/>
          <p:nvPr/>
        </p:nvSpPr>
        <p:spPr>
          <a:xfrm>
            <a:off x="7818120" y="1344168"/>
            <a:ext cx="365760" cy="365760"/>
          </a:xfrm>
          <a:prstGeom prst="ellipse">
            <a:avLst/>
          </a:prstGeom>
          <a:solidFill>
            <a:srgbClr val="1B2A8F"/>
          </a:solidFill>
          <a:ln w="25400">
            <a:solidFill>
              <a:srgbClr val="EA580C"/>
            </a:solidFill>
            <a:prstDash val="solid"/>
          </a:ln>
        </p:spPr>
      </p:sp>
      <p:sp>
        <p:nvSpPr>
          <p:cNvPr id="21" name="Text 18"/>
          <p:cNvSpPr txBox="1"/>
          <p:nvPr/>
        </p:nvSpPr>
        <p:spPr>
          <a:xfrm>
            <a:off x="7818120" y="1344168"/>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1</a:t>
            </a:r>
            <a:endParaRPr lang="en-US" sz="1400" dirty="0"/>
          </a:p>
        </p:txBody>
      </p:sp>
      <p:sp>
        <p:nvSpPr>
          <p:cNvPr id="22" name="Legend 1"/>
          <p:cNvSpPr txBox="1"/>
          <p:nvPr/>
        </p:nvSpPr>
        <p:spPr>
          <a:xfrm>
            <a:off x="8348472" y="1325880"/>
            <a:ext cx="3310128" cy="658368"/>
          </a:xfrm>
          <a:prstGeom prst="rect">
            <a:avLst/>
          </a:prstGeom>
          <a:noFill/>
          <a:ln/>
        </p:spPr>
        <p:txBody>
          <a:bodyPr wrap="square" lIns="0" tIns="0" rIns="0" bIns="0" rtlCol="0" anchor="t"/>
          <a:lstStyle/>
          <a:p>
            <a:pPr indent="0" marL="0">
              <a:buNone/>
            </a:pPr>
            <a:r>
              <a:rPr lang="en-US" sz="1600" b="1" dirty="0">
                <a:solidFill>
                  <a:srgbClr val="1E293B"/>
                </a:solidFill>
                <a:latin typeface="Palatino Linotype" pitchFamily="34" charset="0"/>
                <a:ea typeface="Palatino Linotype" pitchFamily="34" charset="-122"/>
                <a:cs typeface="Palatino Linotype" pitchFamily="34" charset="-120"/>
              </a:rPr>
              <a:t>Menu</a:t>
            </a:r>
            <a:endParaRPr lang="en-US" sz="1600" dirty="0"/>
          </a:p>
          <a:p>
            <a:pPr indent="0" marL="0">
              <a:buNone/>
            </a:pPr>
            <a:r>
              <a:rPr lang="en-US" sz="1400" dirty="0">
                <a:solidFill>
                  <a:srgbClr val="536379"/>
                </a:solidFill>
                <a:latin typeface="Palatino Linotype" pitchFamily="34" charset="0"/>
                <a:ea typeface="Palatino Linotype" pitchFamily="34" charset="-122"/>
                <a:cs typeface="Palatino Linotype" pitchFamily="34" charset="-120"/>
              </a:rPr>
              <a:t>Pages grouped by level: strategic, operational, reports and system.</a:t>
            </a:r>
            <a:endParaRPr lang="en-US" sz="1600" dirty="0"/>
          </a:p>
        </p:txBody>
      </p:sp>
      <p:sp>
        <p:nvSpPr>
          <p:cNvPr id="23" name="Callout number 2"/>
          <p:cNvSpPr/>
          <p:nvPr/>
        </p:nvSpPr>
        <p:spPr>
          <a:xfrm>
            <a:off x="7818120" y="2057400"/>
            <a:ext cx="365760" cy="365760"/>
          </a:xfrm>
          <a:prstGeom prst="ellipse">
            <a:avLst/>
          </a:prstGeom>
          <a:solidFill>
            <a:srgbClr val="1B2A8F"/>
          </a:solidFill>
          <a:ln w="25400">
            <a:solidFill>
              <a:srgbClr val="EA580C"/>
            </a:solidFill>
            <a:prstDash val="solid"/>
          </a:ln>
        </p:spPr>
      </p:sp>
      <p:sp>
        <p:nvSpPr>
          <p:cNvPr id="24" name="Text 21"/>
          <p:cNvSpPr txBox="1"/>
          <p:nvPr/>
        </p:nvSpPr>
        <p:spPr>
          <a:xfrm>
            <a:off x="7818120" y="205740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2</a:t>
            </a:r>
            <a:endParaRPr lang="en-US" sz="1400" dirty="0"/>
          </a:p>
        </p:txBody>
      </p:sp>
      <p:sp>
        <p:nvSpPr>
          <p:cNvPr id="25" name="Legend 2"/>
          <p:cNvSpPr txBox="1"/>
          <p:nvPr/>
        </p:nvSpPr>
        <p:spPr>
          <a:xfrm>
            <a:off x="8348472" y="2039112"/>
            <a:ext cx="3310128" cy="658368"/>
          </a:xfrm>
          <a:prstGeom prst="rect">
            <a:avLst/>
          </a:prstGeom>
          <a:noFill/>
          <a:ln/>
        </p:spPr>
        <p:txBody>
          <a:bodyPr wrap="square" lIns="0" tIns="0" rIns="0" bIns="0" rtlCol="0" anchor="t"/>
          <a:lstStyle/>
          <a:p>
            <a:pPr indent="0" marL="0">
              <a:buNone/>
            </a:pPr>
            <a:r>
              <a:rPr lang="en-US" sz="1600" b="1" dirty="0">
                <a:solidFill>
                  <a:srgbClr val="1E293B"/>
                </a:solidFill>
                <a:latin typeface="Palatino Linotype" pitchFamily="34" charset="0"/>
                <a:ea typeface="Palatino Linotype" pitchFamily="34" charset="-122"/>
                <a:cs typeface="Palatino Linotype" pitchFamily="34" charset="-120"/>
              </a:rPr>
              <a:t>Filters</a:t>
            </a:r>
            <a:endParaRPr lang="en-US" sz="1600" dirty="0"/>
          </a:p>
          <a:p>
            <a:pPr indent="0" marL="0">
              <a:buNone/>
            </a:pPr>
            <a:r>
              <a:rPr lang="en-US" sz="1400" dirty="0">
                <a:solidFill>
                  <a:srgbClr val="536379"/>
                </a:solidFill>
                <a:latin typeface="Palatino Linotype" pitchFamily="34" charset="0"/>
                <a:ea typeface="Palatino Linotype" pitchFamily="34" charset="-122"/>
                <a:cs typeface="Palatino Linotype" pitchFamily="34" charset="-120"/>
              </a:rPr>
              <a:t>Quarter, division and project narrow every figure.</a:t>
            </a:r>
            <a:endParaRPr lang="en-US" sz="1600" dirty="0"/>
          </a:p>
        </p:txBody>
      </p:sp>
      <p:sp>
        <p:nvSpPr>
          <p:cNvPr id="26" name="Callout number 3"/>
          <p:cNvSpPr/>
          <p:nvPr/>
        </p:nvSpPr>
        <p:spPr>
          <a:xfrm>
            <a:off x="7818120" y="2770632"/>
            <a:ext cx="365760" cy="365760"/>
          </a:xfrm>
          <a:prstGeom prst="ellipse">
            <a:avLst/>
          </a:prstGeom>
          <a:solidFill>
            <a:srgbClr val="1B2A8F"/>
          </a:solidFill>
          <a:ln w="25400">
            <a:solidFill>
              <a:srgbClr val="EA580C"/>
            </a:solidFill>
            <a:prstDash val="solid"/>
          </a:ln>
        </p:spPr>
      </p:sp>
      <p:sp>
        <p:nvSpPr>
          <p:cNvPr id="27" name="Text 24"/>
          <p:cNvSpPr txBox="1"/>
          <p:nvPr/>
        </p:nvSpPr>
        <p:spPr>
          <a:xfrm>
            <a:off x="7818120" y="2770632"/>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3</a:t>
            </a:r>
            <a:endParaRPr lang="en-US" sz="1400" dirty="0"/>
          </a:p>
        </p:txBody>
      </p:sp>
      <p:sp>
        <p:nvSpPr>
          <p:cNvPr id="28" name="Legend 3"/>
          <p:cNvSpPr txBox="1"/>
          <p:nvPr/>
        </p:nvSpPr>
        <p:spPr>
          <a:xfrm>
            <a:off x="8348472" y="2752344"/>
            <a:ext cx="3310128" cy="658368"/>
          </a:xfrm>
          <a:prstGeom prst="rect">
            <a:avLst/>
          </a:prstGeom>
          <a:noFill/>
          <a:ln/>
        </p:spPr>
        <p:txBody>
          <a:bodyPr wrap="square" lIns="0" tIns="0" rIns="0" bIns="0" rtlCol="0" anchor="t"/>
          <a:lstStyle/>
          <a:p>
            <a:pPr indent="0" marL="0">
              <a:buNone/>
            </a:pPr>
            <a:r>
              <a:rPr lang="en-US" sz="1600" b="1" dirty="0">
                <a:solidFill>
                  <a:srgbClr val="1E293B"/>
                </a:solidFill>
                <a:latin typeface="Palatino Linotype" pitchFamily="34" charset="0"/>
                <a:ea typeface="Palatino Linotype" pitchFamily="34" charset="-122"/>
                <a:cs typeface="Palatino Linotype" pitchFamily="34" charset="-120"/>
              </a:rPr>
              <a:t>Headline figures</a:t>
            </a:r>
            <a:endParaRPr lang="en-US" sz="1600" dirty="0"/>
          </a:p>
          <a:p>
            <a:pPr indent="0" marL="0">
              <a:buNone/>
            </a:pPr>
            <a:r>
              <a:rPr lang="en-US" sz="1400" dirty="0">
                <a:solidFill>
                  <a:srgbClr val="536379"/>
                </a:solidFill>
                <a:latin typeface="Palatino Linotype" pitchFamily="34" charset="0"/>
                <a:ea typeface="Palatino Linotype" pitchFamily="34" charset="-122"/>
                <a:cs typeface="Palatino Linotype" pitchFamily="34" charset="-120"/>
              </a:rPr>
              <a:t>Activities, projects, allocation and completion.</a:t>
            </a:r>
            <a:endParaRPr lang="en-US" sz="1600" dirty="0"/>
          </a:p>
        </p:txBody>
      </p:sp>
      <p:sp>
        <p:nvSpPr>
          <p:cNvPr id="29" name="Callout number 4"/>
          <p:cNvSpPr/>
          <p:nvPr/>
        </p:nvSpPr>
        <p:spPr>
          <a:xfrm>
            <a:off x="7818120" y="3483864"/>
            <a:ext cx="365760" cy="365760"/>
          </a:xfrm>
          <a:prstGeom prst="ellipse">
            <a:avLst/>
          </a:prstGeom>
          <a:solidFill>
            <a:srgbClr val="1B2A8F"/>
          </a:solidFill>
          <a:ln w="25400">
            <a:solidFill>
              <a:srgbClr val="EA580C"/>
            </a:solidFill>
            <a:prstDash val="solid"/>
          </a:ln>
        </p:spPr>
      </p:sp>
      <p:sp>
        <p:nvSpPr>
          <p:cNvPr id="30" name="Text 27"/>
          <p:cNvSpPr txBox="1"/>
          <p:nvPr/>
        </p:nvSpPr>
        <p:spPr>
          <a:xfrm>
            <a:off x="7818120" y="348386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4</a:t>
            </a:r>
            <a:endParaRPr lang="en-US" sz="1400" dirty="0"/>
          </a:p>
        </p:txBody>
      </p:sp>
      <p:sp>
        <p:nvSpPr>
          <p:cNvPr id="31" name="Legend 4"/>
          <p:cNvSpPr txBox="1"/>
          <p:nvPr/>
        </p:nvSpPr>
        <p:spPr>
          <a:xfrm>
            <a:off x="8348472" y="3465576"/>
            <a:ext cx="3310128" cy="658368"/>
          </a:xfrm>
          <a:prstGeom prst="rect">
            <a:avLst/>
          </a:prstGeom>
          <a:noFill/>
          <a:ln/>
        </p:spPr>
        <p:txBody>
          <a:bodyPr wrap="square" lIns="0" tIns="0" rIns="0" bIns="0" rtlCol="0" anchor="t"/>
          <a:lstStyle/>
          <a:p>
            <a:pPr indent="0" marL="0">
              <a:buNone/>
            </a:pPr>
            <a:r>
              <a:rPr lang="en-US" sz="1600" b="1" dirty="0">
                <a:solidFill>
                  <a:srgbClr val="1E293B"/>
                </a:solidFill>
                <a:latin typeface="Palatino Linotype" pitchFamily="34" charset="0"/>
                <a:ea typeface="Palatino Linotype" pitchFamily="34" charset="-122"/>
                <a:cs typeface="Palatino Linotype" pitchFamily="34" charset="-120"/>
              </a:rPr>
              <a:t>Division performance</a:t>
            </a:r>
            <a:endParaRPr lang="en-US" sz="1600" dirty="0"/>
          </a:p>
          <a:p>
            <a:pPr indent="0" marL="0">
              <a:buNone/>
            </a:pPr>
            <a:r>
              <a:rPr lang="en-US" sz="1400" dirty="0">
                <a:solidFill>
                  <a:srgbClr val="536379"/>
                </a:solidFill>
                <a:latin typeface="Palatino Linotype" pitchFamily="34" charset="0"/>
                <a:ea typeface="Palatino Linotype" pitchFamily="34" charset="-122"/>
                <a:cs typeface="Palatino Linotype" pitchFamily="34" charset="-120"/>
              </a:rPr>
              <a:t>Total and published activities in each division.</a:t>
            </a:r>
            <a:endParaRPr lang="en-US" sz="1600" dirty="0"/>
          </a:p>
        </p:txBody>
      </p:sp>
      <p:sp>
        <p:nvSpPr>
          <p:cNvPr id="32" name="Callout number 5"/>
          <p:cNvSpPr/>
          <p:nvPr/>
        </p:nvSpPr>
        <p:spPr>
          <a:xfrm>
            <a:off x="7818120" y="4197096"/>
            <a:ext cx="365760" cy="365760"/>
          </a:xfrm>
          <a:prstGeom prst="ellipse">
            <a:avLst/>
          </a:prstGeom>
          <a:solidFill>
            <a:srgbClr val="1B2A8F"/>
          </a:solidFill>
          <a:ln w="25400">
            <a:solidFill>
              <a:srgbClr val="EA580C"/>
            </a:solidFill>
            <a:prstDash val="solid"/>
          </a:ln>
        </p:spPr>
      </p:sp>
      <p:sp>
        <p:nvSpPr>
          <p:cNvPr id="33" name="Text 30"/>
          <p:cNvSpPr txBox="1"/>
          <p:nvPr/>
        </p:nvSpPr>
        <p:spPr>
          <a:xfrm>
            <a:off x="7818120" y="4197096"/>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5</a:t>
            </a:r>
            <a:endParaRPr lang="en-US" sz="1400" dirty="0"/>
          </a:p>
        </p:txBody>
      </p:sp>
      <p:sp>
        <p:nvSpPr>
          <p:cNvPr id="34" name="Legend 5"/>
          <p:cNvSpPr txBox="1"/>
          <p:nvPr/>
        </p:nvSpPr>
        <p:spPr>
          <a:xfrm>
            <a:off x="8348472" y="4178808"/>
            <a:ext cx="3310128" cy="658368"/>
          </a:xfrm>
          <a:prstGeom prst="rect">
            <a:avLst/>
          </a:prstGeom>
          <a:noFill/>
          <a:ln/>
        </p:spPr>
        <p:txBody>
          <a:bodyPr wrap="square" lIns="0" tIns="0" rIns="0" bIns="0" rtlCol="0" anchor="t"/>
          <a:lstStyle/>
          <a:p>
            <a:pPr indent="0" marL="0">
              <a:buNone/>
            </a:pPr>
            <a:r>
              <a:rPr lang="en-US" sz="1600" b="1" dirty="0">
                <a:solidFill>
                  <a:srgbClr val="1E293B"/>
                </a:solidFill>
                <a:latin typeface="Palatino Linotype" pitchFamily="34" charset="0"/>
                <a:ea typeface="Palatino Linotype" pitchFamily="34" charset="-122"/>
                <a:cs typeface="Palatino Linotype" pitchFamily="34" charset="-120"/>
              </a:rPr>
              <a:t>Your account</a:t>
            </a:r>
            <a:endParaRPr lang="en-US" sz="1600" dirty="0"/>
          </a:p>
          <a:p>
            <a:pPr indent="0" marL="0">
              <a:buNone/>
            </a:pPr>
            <a:r>
              <a:rPr lang="en-US" sz="1400" dirty="0">
                <a:solidFill>
                  <a:srgbClr val="536379"/>
                </a:solidFill>
                <a:latin typeface="Palatino Linotype" pitchFamily="34" charset="0"/>
                <a:ea typeface="Palatino Linotype" pitchFamily="34" charset="-122"/>
                <a:cs typeface="Palatino Linotype" pitchFamily="34" charset="-120"/>
              </a:rPr>
              <a:t>Shows who is signed in. Sign out from here.</a:t>
            </a:r>
            <a:endParaRPr lang="en-US" sz="1600" dirty="0"/>
          </a:p>
        </p:txBody>
      </p:sp>
      <p:sp>
        <p:nvSpPr>
          <p:cNvPr id="35" name="Shape 32"/>
          <p:cNvSpPr/>
          <p:nvPr/>
        </p:nvSpPr>
        <p:spPr>
          <a:xfrm>
            <a:off x="7818120" y="5029200"/>
            <a:ext cx="3840480" cy="1097280"/>
          </a:xfrm>
          <a:prstGeom prst="roundRect">
            <a:avLst>
              <a:gd name="adj" fmla="val 6667"/>
            </a:avLst>
          </a:prstGeom>
          <a:solidFill>
            <a:srgbClr val="EEF2FF"/>
          </a:solidFill>
          <a:ln w="12700">
            <a:solidFill>
              <a:srgbClr val="EEF2FF"/>
            </a:solidFill>
            <a:prstDash val="solid"/>
          </a:ln>
        </p:spPr>
      </p:sp>
      <p:sp>
        <p:nvSpPr>
          <p:cNvPr id="36" name="Text 33"/>
          <p:cNvSpPr txBox="1"/>
          <p:nvPr/>
        </p:nvSpPr>
        <p:spPr>
          <a:xfrm>
            <a:off x="8019288" y="5120640"/>
            <a:ext cx="3438144" cy="914400"/>
          </a:xfrm>
          <a:prstGeom prst="rect">
            <a:avLst/>
          </a:prstGeom>
          <a:noFill/>
          <a:ln/>
        </p:spPr>
        <p:txBody>
          <a:bodyPr wrap="square" lIns="0" tIns="0" rIns="0" bIns="0" rtlCol="0" anchor="ctr"/>
          <a:lstStyle/>
          <a:p>
            <a:pPr indent="0" marL="0">
              <a:buNone/>
            </a:pPr>
            <a:r>
              <a:rPr lang="en-US" sz="1400" b="1" dirty="0">
                <a:solidFill>
                  <a:srgbClr val="1B2A8F"/>
                </a:solidFill>
                <a:latin typeface="Palatino Linotype" pitchFamily="34" charset="0"/>
                <a:ea typeface="Palatino Linotype" pitchFamily="34" charset="-122"/>
                <a:cs typeface="Palatino Linotype" pitchFamily="34" charset="-120"/>
              </a:rPr>
              <a:t>Completion </a:t>
            </a:r>
            <a:pPr indent="0" marL="0">
              <a:buNone/>
            </a:pPr>
            <a:r>
              <a:rPr lang="en-US" sz="1400" dirty="0">
                <a:solidFill>
                  <a:srgbClr val="1E293B"/>
                </a:solidFill>
                <a:latin typeface="Palatino Linotype" pitchFamily="34" charset="0"/>
                <a:ea typeface="Palatino Linotype" pitchFamily="34" charset="-122"/>
                <a:cs typeface="Palatino Linotype" pitchFamily="34" charset="-120"/>
              </a:rPr>
              <a:t>counts published activities: reviewed by QA and published by you.</a:t>
            </a:r>
            <a:endParaRPr lang="en-US" sz="1400" dirty="0"/>
          </a:p>
        </p:txBody>
      </p:sp>
      <p:sp>
        <p:nvSpPr>
          <p:cNvPr id="37" name="Text 34"/>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36379"/>
                </a:solidFill>
                <a:latin typeface="Palatino Linotype" pitchFamily="34" charset="0"/>
                <a:ea typeface="Palatino Linotype" pitchFamily="34" charset="-122"/>
                <a:cs typeface="Palatino Linotype" pitchFamily="34" charset="-120"/>
              </a:rPr>
              <a:t>DQAMP 2026 · Onboarding for Administrators</a:t>
            </a:r>
            <a:endParaRPr lang="en-US" sz="1000" dirty="0"/>
          </a:p>
        </p:txBody>
      </p:sp>
      <p:sp>
        <p:nvSpPr>
          <p:cNvPr id="38" name="Text 35"/>
          <p:cNvSpPr txBox="1"/>
          <p:nvPr/>
        </p:nvSpPr>
        <p:spPr>
          <a:xfrm>
            <a:off x="11155680" y="6400800"/>
            <a:ext cx="457200" cy="274320"/>
          </a:xfrm>
          <a:prstGeom prst="rect">
            <a:avLst/>
          </a:prstGeom>
          <a:noFill/>
          <a:ln/>
        </p:spPr>
        <p:txBody>
          <a:bodyPr wrap="square" lIns="0" tIns="0" rIns="0" bIns="0" rtlCol="0" anchor="ctr"/>
          <a:lstStyle/>
          <a:p>
            <a:pPr algn="r" indent="0" marL="0">
              <a:buNone/>
            </a:pPr>
            <a:r>
              <a:rPr lang="en-US" sz="1000" dirty="0">
                <a:solidFill>
                  <a:srgbClr val="536379"/>
                </a:solidFill>
                <a:latin typeface="Palatino Linotype" pitchFamily="34" charset="0"/>
                <a:ea typeface="Palatino Linotype" pitchFamily="34" charset="-122"/>
                <a:cs typeface="Palatino Linotype"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indent="0" marL="0">
              <a:buNone/>
            </a:pPr>
            <a:r>
              <a:rPr lang="en-US" sz="3400" b="1" dirty="0">
                <a:solidFill>
                  <a:srgbClr val="1B2A8F"/>
                </a:solidFill>
                <a:latin typeface="Century Gothic" pitchFamily="34" charset="0"/>
                <a:ea typeface="Century Gothic" pitchFamily="34" charset="-122"/>
                <a:cs typeface="Century Gothic" pitchFamily="34" charset="-120"/>
              </a:rPr>
              <a:t>The workflow at a glance</a:t>
            </a:r>
            <a:endParaRPr lang="en-US" sz="3400" dirty="0"/>
          </a:p>
        </p:txBody>
      </p:sp>
      <p:sp>
        <p:nvSpPr>
          <p:cNvPr id="3" name="Shape 1"/>
          <p:cNvSpPr/>
          <p:nvPr/>
        </p:nvSpPr>
        <p:spPr>
          <a:xfrm>
            <a:off x="1897380" y="2034540"/>
            <a:ext cx="8366760" cy="0"/>
          </a:xfrm>
          <a:prstGeom prst="line">
            <a:avLst/>
          </a:prstGeom>
          <a:noFill/>
          <a:ln w="25400">
            <a:solidFill>
              <a:srgbClr val="1B2A8F"/>
            </a:solidFill>
            <a:prstDash val="solid"/>
          </a:ln>
        </p:spPr>
      </p:sp>
      <p:sp>
        <p:nvSpPr>
          <p:cNvPr id="4" name="Shape 2"/>
          <p:cNvSpPr/>
          <p:nvPr/>
        </p:nvSpPr>
        <p:spPr>
          <a:xfrm>
            <a:off x="1463040" y="1600200"/>
            <a:ext cx="868680" cy="868680"/>
          </a:xfrm>
          <a:prstGeom prst="ellipse">
            <a:avLst/>
          </a:prstGeom>
          <a:solidFill>
            <a:srgbClr val="FFFFFF"/>
          </a:solidFill>
          <a:ln w="31750">
            <a:solidFill>
              <a:srgbClr val="1B2A8F"/>
            </a:solidFill>
            <a:prstDash val="solid"/>
          </a:ln>
        </p:spPr>
      </p:sp>
      <p:sp>
        <p:nvSpPr>
          <p:cNvPr id="5" name="Text 3"/>
          <p:cNvSpPr txBox="1"/>
          <p:nvPr/>
        </p:nvSpPr>
        <p:spPr>
          <a:xfrm>
            <a:off x="1463040" y="1600200"/>
            <a:ext cx="868680" cy="868680"/>
          </a:xfrm>
          <a:prstGeom prst="rect">
            <a:avLst/>
          </a:prstGeom>
          <a:noFill/>
          <a:ln/>
        </p:spPr>
        <p:txBody>
          <a:bodyPr wrap="square" lIns="0" tIns="0" rIns="0" bIns="0" rtlCol="0" anchor="ctr"/>
          <a:lstStyle/>
          <a:p>
            <a:pPr algn="ctr" indent="0" marL="0">
              <a:buNone/>
            </a:pPr>
            <a:r>
              <a:rPr lang="en-US" sz="2600" b="1" dirty="0">
                <a:solidFill>
                  <a:srgbClr val="1B2A8F"/>
                </a:solidFill>
                <a:latin typeface="Century Gothic" pitchFamily="34" charset="0"/>
                <a:ea typeface="Century Gothic" pitchFamily="34" charset="-122"/>
                <a:cs typeface="Century Gothic" pitchFamily="34" charset="-120"/>
              </a:rPr>
              <a:t>1</a:t>
            </a:r>
            <a:endParaRPr lang="en-US" sz="2600" dirty="0"/>
          </a:p>
        </p:txBody>
      </p:sp>
      <p:sp>
        <p:nvSpPr>
          <p:cNvPr id="6" name="Text 4"/>
          <p:cNvSpPr txBox="1"/>
          <p:nvPr/>
        </p:nvSpPr>
        <p:spPr>
          <a:xfrm>
            <a:off x="731520" y="2606040"/>
            <a:ext cx="2331720" cy="731520"/>
          </a:xfrm>
          <a:prstGeom prst="rect">
            <a:avLst/>
          </a:prstGeom>
          <a:noFill/>
          <a:ln/>
        </p:spPr>
        <p:txBody>
          <a:bodyPr wrap="square" lIns="0" tIns="0" rIns="0" bIns="0" rtlCol="0" anchor="t"/>
          <a:lstStyle/>
          <a:p>
            <a:pPr algn="ctr" indent="0" marL="0">
              <a:buNone/>
            </a:pPr>
            <a:r>
              <a:rPr lang="en-US" sz="1600" b="1" dirty="0">
                <a:solidFill>
                  <a:srgbClr val="1E293B"/>
                </a:solidFill>
                <a:latin typeface="Palatino Linotype" pitchFamily="34" charset="0"/>
                <a:ea typeface="Palatino Linotype" pitchFamily="34" charset="-122"/>
                <a:cs typeface="Palatino Linotype" pitchFamily="34" charset="-120"/>
              </a:rPr>
              <a:t>Draft</a:t>
            </a:r>
            <a:endParaRPr lang="en-US" sz="1600" dirty="0"/>
          </a:p>
          <a:p>
            <a:pPr algn="ctr" indent="0" marL="0">
              <a:buNone/>
            </a:pPr>
            <a:r>
              <a:rPr lang="en-US" sz="1300" dirty="0">
                <a:solidFill>
                  <a:srgbClr val="536379"/>
                </a:solidFill>
                <a:latin typeface="Palatino Linotype" pitchFamily="34" charset="0"/>
                <a:ea typeface="Palatino Linotype" pitchFamily="34" charset="-122"/>
                <a:cs typeface="Palatino Linotype" pitchFamily="34" charset="-120"/>
              </a:rPr>
              <a:t>Implementer writes it</a:t>
            </a:r>
            <a:endParaRPr lang="en-US" sz="1600" dirty="0"/>
          </a:p>
        </p:txBody>
      </p:sp>
      <p:sp>
        <p:nvSpPr>
          <p:cNvPr id="7" name="Shape 5"/>
          <p:cNvSpPr/>
          <p:nvPr/>
        </p:nvSpPr>
        <p:spPr>
          <a:xfrm>
            <a:off x="4251960" y="1600200"/>
            <a:ext cx="868680" cy="868680"/>
          </a:xfrm>
          <a:prstGeom prst="ellipse">
            <a:avLst/>
          </a:prstGeom>
          <a:solidFill>
            <a:srgbClr val="FFFFFF"/>
          </a:solidFill>
          <a:ln w="31750">
            <a:solidFill>
              <a:srgbClr val="1B2A8F"/>
            </a:solidFill>
            <a:prstDash val="solid"/>
          </a:ln>
        </p:spPr>
      </p:sp>
      <p:sp>
        <p:nvSpPr>
          <p:cNvPr id="8" name="Text 6"/>
          <p:cNvSpPr txBox="1"/>
          <p:nvPr/>
        </p:nvSpPr>
        <p:spPr>
          <a:xfrm>
            <a:off x="4251960" y="1600200"/>
            <a:ext cx="868680" cy="868680"/>
          </a:xfrm>
          <a:prstGeom prst="rect">
            <a:avLst/>
          </a:prstGeom>
          <a:noFill/>
          <a:ln/>
        </p:spPr>
        <p:txBody>
          <a:bodyPr wrap="square" lIns="0" tIns="0" rIns="0" bIns="0" rtlCol="0" anchor="ctr"/>
          <a:lstStyle/>
          <a:p>
            <a:pPr algn="ctr" indent="0" marL="0">
              <a:buNone/>
            </a:pPr>
            <a:r>
              <a:rPr lang="en-US" sz="2600" b="1" dirty="0">
                <a:solidFill>
                  <a:srgbClr val="1B2A8F"/>
                </a:solidFill>
                <a:latin typeface="Century Gothic" pitchFamily="34" charset="0"/>
                <a:ea typeface="Century Gothic" pitchFamily="34" charset="-122"/>
                <a:cs typeface="Century Gothic" pitchFamily="34" charset="-120"/>
              </a:rPr>
              <a:t>2</a:t>
            </a:r>
            <a:endParaRPr lang="en-US" sz="2600" dirty="0"/>
          </a:p>
        </p:txBody>
      </p:sp>
      <p:sp>
        <p:nvSpPr>
          <p:cNvPr id="9" name="Text 7"/>
          <p:cNvSpPr txBox="1"/>
          <p:nvPr/>
        </p:nvSpPr>
        <p:spPr>
          <a:xfrm>
            <a:off x="3520440" y="2606040"/>
            <a:ext cx="2331720" cy="731520"/>
          </a:xfrm>
          <a:prstGeom prst="rect">
            <a:avLst/>
          </a:prstGeom>
          <a:noFill/>
          <a:ln/>
        </p:spPr>
        <p:txBody>
          <a:bodyPr wrap="square" lIns="0" tIns="0" rIns="0" bIns="0" rtlCol="0" anchor="t"/>
          <a:lstStyle/>
          <a:p>
            <a:pPr algn="ctr" indent="0" marL="0">
              <a:buNone/>
            </a:pPr>
            <a:r>
              <a:rPr lang="en-US" sz="1600" b="1" dirty="0">
                <a:solidFill>
                  <a:srgbClr val="1E293B"/>
                </a:solidFill>
                <a:latin typeface="Palatino Linotype" pitchFamily="34" charset="0"/>
                <a:ea typeface="Palatino Linotype" pitchFamily="34" charset="-122"/>
                <a:cs typeface="Palatino Linotype" pitchFamily="34" charset="-120"/>
              </a:rPr>
              <a:t>Submitted</a:t>
            </a:r>
            <a:endParaRPr lang="en-US" sz="1600" dirty="0"/>
          </a:p>
          <a:p>
            <a:pPr algn="ctr" indent="0" marL="0">
              <a:buNone/>
            </a:pPr>
            <a:r>
              <a:rPr lang="en-US" sz="1300" dirty="0">
                <a:solidFill>
                  <a:srgbClr val="536379"/>
                </a:solidFill>
                <a:latin typeface="Palatino Linotype" pitchFamily="34" charset="0"/>
                <a:ea typeface="Palatino Linotype" pitchFamily="34" charset="-122"/>
                <a:cs typeface="Palatino Linotype" pitchFamily="34" charset="-120"/>
              </a:rPr>
              <a:t>Implementer submits</a:t>
            </a:r>
            <a:endParaRPr lang="en-US" sz="1600" dirty="0"/>
          </a:p>
        </p:txBody>
      </p:sp>
      <p:sp>
        <p:nvSpPr>
          <p:cNvPr id="10" name="Shape 8"/>
          <p:cNvSpPr/>
          <p:nvPr/>
        </p:nvSpPr>
        <p:spPr>
          <a:xfrm>
            <a:off x="7040880" y="1600200"/>
            <a:ext cx="868680" cy="868680"/>
          </a:xfrm>
          <a:prstGeom prst="ellipse">
            <a:avLst/>
          </a:prstGeom>
          <a:solidFill>
            <a:srgbClr val="FFFFFF"/>
          </a:solidFill>
          <a:ln w="31750">
            <a:solidFill>
              <a:srgbClr val="1B2A8F"/>
            </a:solidFill>
            <a:prstDash val="solid"/>
          </a:ln>
        </p:spPr>
      </p:sp>
      <p:sp>
        <p:nvSpPr>
          <p:cNvPr id="11" name="Text 9"/>
          <p:cNvSpPr txBox="1"/>
          <p:nvPr/>
        </p:nvSpPr>
        <p:spPr>
          <a:xfrm>
            <a:off x="7040880" y="1600200"/>
            <a:ext cx="868680" cy="868680"/>
          </a:xfrm>
          <a:prstGeom prst="rect">
            <a:avLst/>
          </a:prstGeom>
          <a:noFill/>
          <a:ln/>
        </p:spPr>
        <p:txBody>
          <a:bodyPr wrap="square" lIns="0" tIns="0" rIns="0" bIns="0" rtlCol="0" anchor="ctr"/>
          <a:lstStyle/>
          <a:p>
            <a:pPr algn="ctr" indent="0" marL="0">
              <a:buNone/>
            </a:pPr>
            <a:r>
              <a:rPr lang="en-US" sz="2600" b="1" dirty="0">
                <a:solidFill>
                  <a:srgbClr val="1B2A8F"/>
                </a:solidFill>
                <a:latin typeface="Century Gothic" pitchFamily="34" charset="0"/>
                <a:ea typeface="Century Gothic" pitchFamily="34" charset="-122"/>
                <a:cs typeface="Century Gothic" pitchFamily="34" charset="-120"/>
              </a:rPr>
              <a:t>3</a:t>
            </a:r>
            <a:endParaRPr lang="en-US" sz="2600" dirty="0"/>
          </a:p>
        </p:txBody>
      </p:sp>
      <p:sp>
        <p:nvSpPr>
          <p:cNvPr id="12" name="Text 10"/>
          <p:cNvSpPr txBox="1"/>
          <p:nvPr/>
        </p:nvSpPr>
        <p:spPr>
          <a:xfrm>
            <a:off x="6309360" y="2606040"/>
            <a:ext cx="2331720" cy="731520"/>
          </a:xfrm>
          <a:prstGeom prst="rect">
            <a:avLst/>
          </a:prstGeom>
          <a:noFill/>
          <a:ln/>
        </p:spPr>
        <p:txBody>
          <a:bodyPr wrap="square" lIns="0" tIns="0" rIns="0" bIns="0" rtlCol="0" anchor="t"/>
          <a:lstStyle/>
          <a:p>
            <a:pPr algn="ctr" indent="0" marL="0">
              <a:buNone/>
            </a:pPr>
            <a:r>
              <a:rPr lang="en-US" sz="1600" b="1" dirty="0">
                <a:solidFill>
                  <a:srgbClr val="1E293B"/>
                </a:solidFill>
                <a:latin typeface="Palatino Linotype" pitchFamily="34" charset="0"/>
                <a:ea typeface="Palatino Linotype" pitchFamily="34" charset="-122"/>
                <a:cs typeface="Palatino Linotype" pitchFamily="34" charset="-120"/>
              </a:rPr>
              <a:t>Under Review</a:t>
            </a:r>
            <a:endParaRPr lang="en-US" sz="1600" dirty="0"/>
          </a:p>
          <a:p>
            <a:pPr algn="ctr" indent="0" marL="0">
              <a:buNone/>
            </a:pPr>
            <a:r>
              <a:rPr lang="en-US" sz="1300" dirty="0">
                <a:solidFill>
                  <a:srgbClr val="536379"/>
                </a:solidFill>
                <a:latin typeface="Palatino Linotype" pitchFamily="34" charset="0"/>
                <a:ea typeface="Palatino Linotype" pitchFamily="34" charset="-122"/>
                <a:cs typeface="Palatino Linotype" pitchFamily="34" charset="-120"/>
              </a:rPr>
              <a:t>QA Assessor reviews</a:t>
            </a:r>
            <a:endParaRPr lang="en-US" sz="1600" dirty="0"/>
          </a:p>
        </p:txBody>
      </p:sp>
      <p:sp>
        <p:nvSpPr>
          <p:cNvPr id="13" name="Shape 11"/>
          <p:cNvSpPr/>
          <p:nvPr/>
        </p:nvSpPr>
        <p:spPr>
          <a:xfrm>
            <a:off x="9829800" y="1600200"/>
            <a:ext cx="868680" cy="868680"/>
          </a:xfrm>
          <a:prstGeom prst="ellipse">
            <a:avLst/>
          </a:prstGeom>
          <a:solidFill>
            <a:srgbClr val="1B2A8F"/>
          </a:solidFill>
          <a:ln w="31750">
            <a:solidFill>
              <a:srgbClr val="1B2A8F"/>
            </a:solidFill>
            <a:prstDash val="solid"/>
          </a:ln>
        </p:spPr>
      </p:sp>
      <p:sp>
        <p:nvSpPr>
          <p:cNvPr id="14" name="Text 12"/>
          <p:cNvSpPr txBox="1"/>
          <p:nvPr/>
        </p:nvSpPr>
        <p:spPr>
          <a:xfrm>
            <a:off x="9829800" y="1600200"/>
            <a:ext cx="868680" cy="868680"/>
          </a:xfrm>
          <a:prstGeom prst="rect">
            <a:avLst/>
          </a:prstGeom>
          <a:noFill/>
          <a:ln/>
        </p:spPr>
        <p:txBody>
          <a:bodyPr wrap="square" lIns="0" tIns="0" rIns="0" bIns="0" rtlCol="0" anchor="ctr"/>
          <a:lstStyle/>
          <a:p>
            <a:pPr algn="ctr" indent="0" marL="0">
              <a:buNone/>
            </a:pPr>
            <a:r>
              <a:rPr lang="en-US" sz="2600" b="1" dirty="0">
                <a:solidFill>
                  <a:srgbClr val="FFFFFF"/>
                </a:solidFill>
                <a:latin typeface="Century Gothic" pitchFamily="34" charset="0"/>
                <a:ea typeface="Century Gothic" pitchFamily="34" charset="-122"/>
                <a:cs typeface="Century Gothic" pitchFamily="34" charset="-120"/>
              </a:rPr>
              <a:t>4</a:t>
            </a:r>
            <a:endParaRPr lang="en-US" sz="2600" dirty="0"/>
          </a:p>
        </p:txBody>
      </p:sp>
      <p:sp>
        <p:nvSpPr>
          <p:cNvPr id="15" name="Text 13"/>
          <p:cNvSpPr txBox="1"/>
          <p:nvPr/>
        </p:nvSpPr>
        <p:spPr>
          <a:xfrm>
            <a:off x="9098280" y="2606040"/>
            <a:ext cx="2331720" cy="731520"/>
          </a:xfrm>
          <a:prstGeom prst="rect">
            <a:avLst/>
          </a:prstGeom>
          <a:noFill/>
          <a:ln/>
        </p:spPr>
        <p:txBody>
          <a:bodyPr wrap="square" lIns="0" tIns="0" rIns="0" bIns="0" rtlCol="0" anchor="t"/>
          <a:lstStyle/>
          <a:p>
            <a:pPr algn="ctr" indent="0" marL="0">
              <a:buNone/>
            </a:pPr>
            <a:r>
              <a:rPr lang="en-US" sz="1600" b="1" dirty="0">
                <a:solidFill>
                  <a:srgbClr val="1E293B"/>
                </a:solidFill>
                <a:latin typeface="Palatino Linotype" pitchFamily="34" charset="0"/>
                <a:ea typeface="Palatino Linotype" pitchFamily="34" charset="-122"/>
                <a:cs typeface="Palatino Linotype" pitchFamily="34" charset="-120"/>
              </a:rPr>
              <a:t>Published</a:t>
            </a:r>
            <a:endParaRPr lang="en-US" sz="1600" dirty="0"/>
          </a:p>
          <a:p>
            <a:pPr algn="ctr" indent="0" marL="0">
              <a:buNone/>
            </a:pPr>
            <a:r>
              <a:rPr lang="en-US" sz="1300" dirty="0">
                <a:solidFill>
                  <a:srgbClr val="536379"/>
                </a:solidFill>
                <a:latin typeface="Palatino Linotype" pitchFamily="34" charset="0"/>
                <a:ea typeface="Palatino Linotype" pitchFamily="34" charset="-122"/>
                <a:cs typeface="Palatino Linotype" pitchFamily="34" charset="-120"/>
              </a:rPr>
              <a:t>Administrator publishes</a:t>
            </a:r>
            <a:endParaRPr lang="en-US" sz="1600" dirty="0"/>
          </a:p>
        </p:txBody>
      </p:sp>
      <p:sp>
        <p:nvSpPr>
          <p:cNvPr id="16" name="Text 14"/>
          <p:cNvSpPr txBox="1"/>
          <p:nvPr/>
        </p:nvSpPr>
        <p:spPr>
          <a:xfrm>
            <a:off x="548640" y="3520440"/>
            <a:ext cx="11064240" cy="365760"/>
          </a:xfrm>
          <a:prstGeom prst="rect">
            <a:avLst/>
          </a:prstGeom>
          <a:noFill/>
          <a:ln/>
        </p:spPr>
        <p:txBody>
          <a:bodyPr wrap="square" lIns="0" tIns="0" rIns="0" bIns="0" rtlCol="0" anchor="ctr"/>
          <a:lstStyle/>
          <a:p>
            <a:pPr indent="0" marL="0">
              <a:buNone/>
            </a:pPr>
            <a:r>
              <a:rPr lang="en-US" sz="1300" dirty="0">
                <a:solidFill>
                  <a:srgbClr val="536379"/>
                </a:solidFill>
                <a:latin typeface="Palatino Linotype" pitchFamily="34" charset="0"/>
                <a:ea typeface="Palatino Linotype" pitchFamily="34" charset="-122"/>
                <a:cs typeface="Palatino Linotype" pitchFamily="34" charset="-120"/>
              </a:rPr>
              <a:t>You publish at step 4, and you can correct any step if a mistake needs fixing.</a:t>
            </a:r>
            <a:endParaRPr lang="en-US" sz="1300" dirty="0"/>
          </a:p>
        </p:txBody>
      </p:sp>
      <p:sp>
        <p:nvSpPr>
          <p:cNvPr id="17" name="Shape 15"/>
          <p:cNvSpPr/>
          <p:nvPr/>
        </p:nvSpPr>
        <p:spPr>
          <a:xfrm>
            <a:off x="548640" y="4069080"/>
            <a:ext cx="11064240" cy="868680"/>
          </a:xfrm>
          <a:prstGeom prst="roundRect">
            <a:avLst>
              <a:gd name="adj" fmla="val 8421"/>
            </a:avLst>
          </a:prstGeom>
          <a:solidFill>
            <a:srgbClr val="FFF4ED"/>
          </a:solidFill>
          <a:ln w="12700">
            <a:solidFill>
              <a:srgbClr val="FFF4ED"/>
            </a:solidFill>
            <a:prstDash val="solid"/>
          </a:ln>
        </p:spPr>
      </p:sp>
      <p:sp>
        <p:nvSpPr>
          <p:cNvPr id="18" name="Text 16"/>
          <p:cNvSpPr txBox="1"/>
          <p:nvPr/>
        </p:nvSpPr>
        <p:spPr>
          <a:xfrm>
            <a:off x="749808" y="4160520"/>
            <a:ext cx="10661904" cy="685800"/>
          </a:xfrm>
          <a:prstGeom prst="rect">
            <a:avLst/>
          </a:prstGeom>
          <a:noFill/>
          <a:ln/>
        </p:spPr>
        <p:txBody>
          <a:bodyPr wrap="square" lIns="0" tIns="0" rIns="0" bIns="0" rtlCol="0" anchor="ctr"/>
          <a:lstStyle/>
          <a:p>
            <a:pPr indent="0" marL="0">
              <a:buNone/>
            </a:pPr>
            <a:r>
              <a:rPr lang="en-US" sz="1400" b="1" dirty="0">
                <a:solidFill>
                  <a:srgbClr val="EA580C"/>
                </a:solidFill>
                <a:latin typeface="Palatino Linotype" pitchFamily="34" charset="0"/>
                <a:ea typeface="Palatino Linotype" pitchFamily="34" charset="-122"/>
                <a:cs typeface="Palatino Linotype" pitchFamily="34" charset="-120"/>
              </a:rPr>
              <a:t>Returned for Revision: </a:t>
            </a:r>
            <a:pPr indent="0" marL="0">
              <a:buNone/>
            </a:pPr>
            <a:r>
              <a:rPr lang="en-US" sz="1400" dirty="0">
                <a:solidFill>
                  <a:srgbClr val="1E293B"/>
                </a:solidFill>
                <a:latin typeface="Palatino Linotype" pitchFamily="34" charset="0"/>
                <a:ea typeface="Palatino Linotype" pitchFamily="34" charset="-122"/>
                <a:cs typeface="Palatino Linotype" pitchFamily="34" charset="-120"/>
              </a:rPr>
              <a:t>a QA Assessor sends an activity back with a note saying what to fix. The Implementer fixes it and submits again, so it returns to Submitted.</a:t>
            </a:r>
            <a:endParaRPr lang="en-US" sz="1400" dirty="0"/>
          </a:p>
        </p:txBody>
      </p:sp>
      <p:sp>
        <p:nvSpPr>
          <p:cNvPr id="19" name="Shape 17"/>
          <p:cNvSpPr/>
          <p:nvPr/>
        </p:nvSpPr>
        <p:spPr>
          <a:xfrm>
            <a:off x="548640" y="5120640"/>
            <a:ext cx="11064240" cy="685800"/>
          </a:xfrm>
          <a:prstGeom prst="roundRect">
            <a:avLst>
              <a:gd name="adj" fmla="val 10667"/>
            </a:avLst>
          </a:prstGeom>
          <a:solidFill>
            <a:srgbClr val="EEF2FF"/>
          </a:solidFill>
          <a:ln w="12700">
            <a:solidFill>
              <a:srgbClr val="EEF2FF"/>
            </a:solidFill>
            <a:prstDash val="solid"/>
          </a:ln>
        </p:spPr>
      </p:sp>
      <p:sp>
        <p:nvSpPr>
          <p:cNvPr id="20" name="Text 18"/>
          <p:cNvSpPr txBox="1"/>
          <p:nvPr/>
        </p:nvSpPr>
        <p:spPr>
          <a:xfrm>
            <a:off x="749808" y="5212080"/>
            <a:ext cx="10661904" cy="502920"/>
          </a:xfrm>
          <a:prstGeom prst="rect">
            <a:avLst/>
          </a:prstGeom>
          <a:noFill/>
          <a:ln/>
        </p:spPr>
        <p:txBody>
          <a:bodyPr wrap="square" lIns="0" tIns="0" rIns="0" bIns="0" rtlCol="0" anchor="ctr"/>
          <a:lstStyle/>
          <a:p>
            <a:pPr indent="0" marL="0">
              <a:buNone/>
            </a:pPr>
            <a:r>
              <a:rPr lang="en-US" sz="1400" b="1" dirty="0">
                <a:solidFill>
                  <a:srgbClr val="1B2A8F"/>
                </a:solidFill>
                <a:latin typeface="Palatino Linotype" pitchFamily="34" charset="0"/>
                <a:ea typeface="Palatino Linotype" pitchFamily="34" charset="-122"/>
                <a:cs typeface="Palatino Linotype" pitchFamily="34" charset="-120"/>
              </a:rPr>
              <a:t>Locked when: </a:t>
            </a:r>
            <a:pPr indent="0" marL="0">
              <a:buNone/>
            </a:pPr>
            <a:r>
              <a:rPr lang="en-US" sz="1400" dirty="0">
                <a:solidFill>
                  <a:srgbClr val="1E293B"/>
                </a:solidFill>
                <a:latin typeface="Palatino Linotype" pitchFamily="34" charset="0"/>
                <a:ea typeface="Palatino Linotype" pitchFamily="34" charset="-122"/>
                <a:cs typeface="Palatino Linotype" pitchFamily="34" charset="-120"/>
              </a:rPr>
              <a:t>an activity is Under Review or Published, only its reviewer or an administrator can change it.</a:t>
            </a:r>
            <a:endParaRPr lang="en-US" sz="1400" dirty="0"/>
          </a:p>
        </p:txBody>
      </p:sp>
      <p:sp>
        <p:nvSpPr>
          <p:cNvPr id="21" name="Text 19"/>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36379"/>
                </a:solidFill>
                <a:latin typeface="Palatino Linotype" pitchFamily="34" charset="0"/>
                <a:ea typeface="Palatino Linotype" pitchFamily="34" charset="-122"/>
                <a:cs typeface="Palatino Linotype" pitchFamily="34" charset="-120"/>
              </a:rPr>
              <a:t>DQAMP 2026 · Onboarding for Administrators</a:t>
            </a:r>
            <a:endParaRPr lang="en-US" sz="1000" dirty="0"/>
          </a:p>
        </p:txBody>
      </p:sp>
      <p:sp>
        <p:nvSpPr>
          <p:cNvPr id="22" name="Text 20"/>
          <p:cNvSpPr txBox="1"/>
          <p:nvPr/>
        </p:nvSpPr>
        <p:spPr>
          <a:xfrm>
            <a:off x="11155680" y="6400800"/>
            <a:ext cx="457200" cy="274320"/>
          </a:xfrm>
          <a:prstGeom prst="rect">
            <a:avLst/>
          </a:prstGeom>
          <a:noFill/>
          <a:ln/>
        </p:spPr>
        <p:txBody>
          <a:bodyPr wrap="square" lIns="0" tIns="0" rIns="0" bIns="0" rtlCol="0" anchor="ctr"/>
          <a:lstStyle/>
          <a:p>
            <a:pPr algn="r" indent="0" marL="0">
              <a:buNone/>
            </a:pPr>
            <a:r>
              <a:rPr lang="en-US" sz="1000" dirty="0">
                <a:solidFill>
                  <a:srgbClr val="536379"/>
                </a:solidFill>
                <a:latin typeface="Palatino Linotype" pitchFamily="34" charset="0"/>
                <a:ea typeface="Palatino Linotype" pitchFamily="34" charset="-122"/>
                <a:cs typeface="Palatino Linotype"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indent="0" marL="0">
              <a:buNone/>
            </a:pPr>
            <a:r>
              <a:rPr lang="en-US" sz="3400" b="1" dirty="0">
                <a:solidFill>
                  <a:srgbClr val="1B2A8F"/>
                </a:solidFill>
                <a:latin typeface="Century Gothic" pitchFamily="34" charset="0"/>
                <a:ea typeface="Century Gothic" pitchFamily="34" charset="-122"/>
                <a:cs typeface="Century Gothic" pitchFamily="34" charset="-120"/>
              </a:rPr>
              <a:t>Add a user</a:t>
            </a:r>
            <a:endParaRPr lang="en-US" sz="3400" dirty="0"/>
          </a:p>
        </p:txBody>
      </p:sp>
      <p:sp>
        <p:nvSpPr>
          <p:cNvPr id="3" name="a-invite frame"/>
          <p:cNvSpPr/>
          <p:nvPr/>
        </p:nvSpPr>
        <p:spPr>
          <a:xfrm>
            <a:off x="6815082" y="1298448"/>
            <a:ext cx="4703556" cy="4855464"/>
          </a:xfrm>
          <a:prstGeom prst="roundRect">
            <a:avLst>
              <a:gd name="adj" fmla="val 583"/>
            </a:avLst>
          </a:prstGeom>
          <a:solidFill>
            <a:srgbClr val="FFFFFF"/>
          </a:solidFill>
          <a:ln w="12700">
            <a:solidFill>
              <a:srgbClr val="E2E8F0"/>
            </a:solidFill>
            <a:prstDash val="solid"/>
          </a:ln>
          <a:effectLst>
            <a:outerShdw sx="100000" sy="100000" kx="0" ky="0" algn="bl" rotWithShape="0" blurRad="101600" dist="25400" dir="5400000">
              <a:srgbClr val="1E293B">
                <a:alpha val="16000"/>
              </a:srgbClr>
            </a:outerShdw>
          </a:effectLst>
        </p:spPr>
      </p:sp>
      <p:pic>
        <p:nvPicPr>
          <p:cNvPr id="4" name="a-invite" descr="Add New User dialog with email, role and division">    </p:cNvPr>
          <p:cNvPicPr>
            <a:picLocks noChangeAspect="1"/>
          </p:cNvPicPr>
          <p:nvPr/>
        </p:nvPicPr>
        <p:blipFill>
          <a:blip r:embed="rId1"/>
          <a:stretch>
            <a:fillRect/>
          </a:stretch>
        </p:blipFill>
        <p:spPr>
          <a:xfrm>
            <a:off x="6888234" y="1371600"/>
            <a:ext cx="4557252" cy="4709160"/>
          </a:xfrm>
          <a:prstGeom prst="rect">
            <a:avLst/>
          </a:prstGeom>
        </p:spPr>
      </p:pic>
      <p:sp>
        <p:nvSpPr>
          <p:cNvPr id="5" name="Highlight 1"/>
          <p:cNvSpPr/>
          <p:nvPr/>
        </p:nvSpPr>
        <p:spPr>
          <a:xfrm>
            <a:off x="7250067" y="2436010"/>
            <a:ext cx="3833585" cy="396658"/>
          </a:xfrm>
          <a:prstGeom prst="roundRect">
            <a:avLst>
              <a:gd name="adj" fmla="val 11526"/>
            </a:avLst>
          </a:prstGeom>
          <a:ln w="31750">
            <a:solidFill>
              <a:srgbClr val="EA580C"/>
            </a:solidFill>
            <a:prstDash val="solid"/>
          </a:ln>
        </p:spPr>
      </p:sp>
      <p:sp>
        <p:nvSpPr>
          <p:cNvPr id="6" name="Highlight 2"/>
          <p:cNvSpPr/>
          <p:nvPr/>
        </p:nvSpPr>
        <p:spPr>
          <a:xfrm>
            <a:off x="7250067" y="3233529"/>
            <a:ext cx="3833585" cy="396658"/>
          </a:xfrm>
          <a:prstGeom prst="roundRect">
            <a:avLst>
              <a:gd name="adj" fmla="val 11526"/>
            </a:avLst>
          </a:prstGeom>
          <a:ln w="31750">
            <a:solidFill>
              <a:srgbClr val="EA580C"/>
            </a:solidFill>
            <a:prstDash val="solid"/>
          </a:ln>
        </p:spPr>
      </p:sp>
      <p:sp>
        <p:nvSpPr>
          <p:cNvPr id="7" name="Highlight 3"/>
          <p:cNvSpPr/>
          <p:nvPr/>
        </p:nvSpPr>
        <p:spPr>
          <a:xfrm>
            <a:off x="7250067" y="4031048"/>
            <a:ext cx="3833585" cy="396658"/>
          </a:xfrm>
          <a:prstGeom prst="roundRect">
            <a:avLst>
              <a:gd name="adj" fmla="val 11526"/>
            </a:avLst>
          </a:prstGeom>
          <a:ln w="31750">
            <a:solidFill>
              <a:srgbClr val="EA580C"/>
            </a:solidFill>
            <a:prstDash val="solid"/>
          </a:ln>
        </p:spPr>
      </p:sp>
      <p:sp>
        <p:nvSpPr>
          <p:cNvPr id="8" name="Highlight 4"/>
          <p:cNvSpPr/>
          <p:nvPr/>
        </p:nvSpPr>
        <p:spPr>
          <a:xfrm>
            <a:off x="9751809" y="5284292"/>
            <a:ext cx="1331844" cy="434635"/>
          </a:xfrm>
          <a:prstGeom prst="roundRect">
            <a:avLst>
              <a:gd name="adj" fmla="val 10519"/>
            </a:avLst>
          </a:prstGeom>
          <a:ln w="31750">
            <a:solidFill>
              <a:srgbClr val="EA580C"/>
            </a:solidFill>
            <a:prstDash val="solid"/>
          </a:ln>
        </p:spPr>
      </p:sp>
      <p:sp>
        <p:nvSpPr>
          <p:cNvPr id="9" name="Callout number 1"/>
          <p:cNvSpPr/>
          <p:nvPr/>
        </p:nvSpPr>
        <p:spPr>
          <a:xfrm>
            <a:off x="6893451" y="2478890"/>
            <a:ext cx="310896" cy="310896"/>
          </a:xfrm>
          <a:prstGeom prst="ellipse">
            <a:avLst/>
          </a:prstGeom>
          <a:solidFill>
            <a:srgbClr val="1B2A8F"/>
          </a:solidFill>
          <a:ln w="25400">
            <a:solidFill>
              <a:srgbClr val="EA580C"/>
            </a:solidFill>
            <a:prstDash val="solid"/>
          </a:ln>
        </p:spPr>
      </p:sp>
      <p:sp>
        <p:nvSpPr>
          <p:cNvPr id="10" name="Text 7"/>
          <p:cNvSpPr txBox="1"/>
          <p:nvPr/>
        </p:nvSpPr>
        <p:spPr>
          <a:xfrm>
            <a:off x="6893451" y="2478890"/>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Palatino Linotype" pitchFamily="34" charset="0"/>
                <a:ea typeface="Palatino Linotype" pitchFamily="34" charset="-122"/>
                <a:cs typeface="Palatino Linotype" pitchFamily="34" charset="-120"/>
              </a:rPr>
              <a:t>1</a:t>
            </a:r>
            <a:endParaRPr lang="en-US" sz="1200" dirty="0"/>
          </a:p>
        </p:txBody>
      </p:sp>
      <p:sp>
        <p:nvSpPr>
          <p:cNvPr id="11" name="Callout number 2"/>
          <p:cNvSpPr/>
          <p:nvPr/>
        </p:nvSpPr>
        <p:spPr>
          <a:xfrm>
            <a:off x="6893451" y="3276410"/>
            <a:ext cx="310896" cy="310896"/>
          </a:xfrm>
          <a:prstGeom prst="ellipse">
            <a:avLst/>
          </a:prstGeom>
          <a:solidFill>
            <a:srgbClr val="1B2A8F"/>
          </a:solidFill>
          <a:ln w="25400">
            <a:solidFill>
              <a:srgbClr val="EA580C"/>
            </a:solidFill>
            <a:prstDash val="solid"/>
          </a:ln>
        </p:spPr>
      </p:sp>
      <p:sp>
        <p:nvSpPr>
          <p:cNvPr id="12" name="Text 9"/>
          <p:cNvSpPr txBox="1"/>
          <p:nvPr/>
        </p:nvSpPr>
        <p:spPr>
          <a:xfrm>
            <a:off x="6893451" y="3276410"/>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Palatino Linotype" pitchFamily="34" charset="0"/>
                <a:ea typeface="Palatino Linotype" pitchFamily="34" charset="-122"/>
                <a:cs typeface="Palatino Linotype" pitchFamily="34" charset="-120"/>
              </a:rPr>
              <a:t>2</a:t>
            </a:r>
            <a:endParaRPr lang="en-US" sz="1200" dirty="0"/>
          </a:p>
        </p:txBody>
      </p:sp>
      <p:sp>
        <p:nvSpPr>
          <p:cNvPr id="13" name="Callout number 3"/>
          <p:cNvSpPr/>
          <p:nvPr/>
        </p:nvSpPr>
        <p:spPr>
          <a:xfrm>
            <a:off x="6893451" y="4073929"/>
            <a:ext cx="310896" cy="310896"/>
          </a:xfrm>
          <a:prstGeom prst="ellipse">
            <a:avLst/>
          </a:prstGeom>
          <a:solidFill>
            <a:srgbClr val="1B2A8F"/>
          </a:solidFill>
          <a:ln w="25400">
            <a:solidFill>
              <a:srgbClr val="EA580C"/>
            </a:solidFill>
            <a:prstDash val="solid"/>
          </a:ln>
        </p:spPr>
      </p:sp>
      <p:sp>
        <p:nvSpPr>
          <p:cNvPr id="14" name="Text 11"/>
          <p:cNvSpPr txBox="1"/>
          <p:nvPr/>
        </p:nvSpPr>
        <p:spPr>
          <a:xfrm>
            <a:off x="6893451" y="4073929"/>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Palatino Linotype" pitchFamily="34" charset="0"/>
                <a:ea typeface="Palatino Linotype" pitchFamily="34" charset="-122"/>
                <a:cs typeface="Palatino Linotype" pitchFamily="34" charset="-120"/>
              </a:rPr>
              <a:t>3</a:t>
            </a:r>
            <a:endParaRPr lang="en-US" sz="1200" dirty="0"/>
          </a:p>
        </p:txBody>
      </p:sp>
      <p:sp>
        <p:nvSpPr>
          <p:cNvPr id="15" name="Callout number 4"/>
          <p:cNvSpPr/>
          <p:nvPr/>
        </p:nvSpPr>
        <p:spPr>
          <a:xfrm>
            <a:off x="10262283" y="4927676"/>
            <a:ext cx="310896" cy="310896"/>
          </a:xfrm>
          <a:prstGeom prst="ellipse">
            <a:avLst/>
          </a:prstGeom>
          <a:solidFill>
            <a:srgbClr val="1B2A8F"/>
          </a:solidFill>
          <a:ln w="25400">
            <a:solidFill>
              <a:srgbClr val="EA580C"/>
            </a:solidFill>
            <a:prstDash val="solid"/>
          </a:ln>
        </p:spPr>
      </p:sp>
      <p:sp>
        <p:nvSpPr>
          <p:cNvPr id="16" name="Text 13"/>
          <p:cNvSpPr txBox="1"/>
          <p:nvPr/>
        </p:nvSpPr>
        <p:spPr>
          <a:xfrm>
            <a:off x="10262283" y="4927676"/>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Palatino Linotype" pitchFamily="34" charset="0"/>
                <a:ea typeface="Palatino Linotype" pitchFamily="34" charset="-122"/>
                <a:cs typeface="Palatino Linotype" pitchFamily="34" charset="-120"/>
              </a:rPr>
              <a:t>4</a:t>
            </a:r>
            <a:endParaRPr lang="en-US" sz="1200" dirty="0"/>
          </a:p>
        </p:txBody>
      </p:sp>
      <p:sp>
        <p:nvSpPr>
          <p:cNvPr id="17" name="Where to open"/>
          <p:cNvSpPr txBox="1"/>
          <p:nvPr/>
        </p:nvSpPr>
        <p:spPr>
          <a:xfrm>
            <a:off x="685800" y="1325880"/>
            <a:ext cx="5669280" cy="365760"/>
          </a:xfrm>
          <a:prstGeom prst="rect">
            <a:avLst/>
          </a:prstGeom>
          <a:noFill/>
          <a:ln/>
        </p:spPr>
        <p:txBody>
          <a:bodyPr wrap="square" lIns="0" tIns="0" rIns="0" bIns="0" rtlCol="0" anchor="ctr"/>
          <a:lstStyle/>
          <a:p>
            <a:pPr indent="0" marL="0">
              <a:buNone/>
            </a:pPr>
            <a:r>
              <a:rPr lang="en-US" sz="1600" b="1" dirty="0">
                <a:solidFill>
                  <a:srgbClr val="1B2A8F"/>
                </a:solidFill>
                <a:latin typeface="Palatino Linotype" pitchFamily="34" charset="0"/>
                <a:ea typeface="Palatino Linotype" pitchFamily="34" charset="-122"/>
                <a:cs typeface="Palatino Linotype" pitchFamily="34" charset="-120"/>
              </a:rPr>
              <a:t>Open: </a:t>
            </a:r>
            <a:pPr indent="0" marL="0">
              <a:buNone/>
            </a:pPr>
            <a:r>
              <a:rPr lang="en-US" sz="1600" dirty="0">
                <a:solidFill>
                  <a:srgbClr val="1E293B"/>
                </a:solidFill>
                <a:latin typeface="Palatino Linotype" pitchFamily="34" charset="0"/>
                <a:ea typeface="Palatino Linotype" pitchFamily="34" charset="-122"/>
                <a:cs typeface="Palatino Linotype" pitchFamily="34" charset="-120"/>
              </a:rPr>
              <a:t>User Management → Invite User</a:t>
            </a:r>
            <a:endParaRPr lang="en-US" sz="1600" dirty="0"/>
          </a:p>
        </p:txBody>
      </p:sp>
      <p:sp>
        <p:nvSpPr>
          <p:cNvPr id="18" name="Callout number 1"/>
          <p:cNvSpPr/>
          <p:nvPr/>
        </p:nvSpPr>
        <p:spPr>
          <a:xfrm>
            <a:off x="685800" y="1892808"/>
            <a:ext cx="365760" cy="365760"/>
          </a:xfrm>
          <a:prstGeom prst="ellipse">
            <a:avLst/>
          </a:prstGeom>
          <a:solidFill>
            <a:srgbClr val="1B2A8F"/>
          </a:solidFill>
          <a:ln w="25400">
            <a:solidFill>
              <a:srgbClr val="EA580C"/>
            </a:solidFill>
            <a:prstDash val="solid"/>
          </a:ln>
        </p:spPr>
      </p:sp>
      <p:sp>
        <p:nvSpPr>
          <p:cNvPr id="19" name="Text 16"/>
          <p:cNvSpPr txBox="1"/>
          <p:nvPr/>
        </p:nvSpPr>
        <p:spPr>
          <a:xfrm>
            <a:off x="685800" y="1892808"/>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1</a:t>
            </a:r>
            <a:endParaRPr lang="en-US" sz="1400" dirty="0"/>
          </a:p>
        </p:txBody>
      </p:sp>
      <p:sp>
        <p:nvSpPr>
          <p:cNvPr id="20" name="Legend 1"/>
          <p:cNvSpPr txBox="1"/>
          <p:nvPr/>
        </p:nvSpPr>
        <p:spPr>
          <a:xfrm>
            <a:off x="1216152" y="1874520"/>
            <a:ext cx="5047488" cy="676656"/>
          </a:xfrm>
          <a:prstGeom prst="rect">
            <a:avLst/>
          </a:prstGeom>
          <a:noFill/>
          <a:ln/>
        </p:spPr>
        <p:txBody>
          <a:bodyPr wrap="square" lIns="0" tIns="0" rIns="0" bIns="0" rtlCol="0" anchor="t"/>
          <a:lstStyle/>
          <a:p>
            <a:pPr indent="0" marL="0">
              <a:buNone/>
            </a:pPr>
            <a:r>
              <a:rPr lang="en-US" sz="1600" b="1" dirty="0">
                <a:solidFill>
                  <a:srgbClr val="1E293B"/>
                </a:solidFill>
                <a:latin typeface="Palatino Linotype" pitchFamily="34" charset="0"/>
                <a:ea typeface="Palatino Linotype" pitchFamily="34" charset="-122"/>
                <a:cs typeface="Palatino Linotype" pitchFamily="34" charset="-120"/>
              </a:rPr>
              <a:t>Email Address</a:t>
            </a:r>
            <a:endParaRPr lang="en-US" sz="1600" dirty="0"/>
          </a:p>
          <a:p>
            <a:pPr indent="0" marL="0">
              <a:buNone/>
            </a:pPr>
            <a:r>
              <a:rPr lang="en-US" sz="1400" dirty="0">
                <a:solidFill>
                  <a:srgbClr val="536379"/>
                </a:solidFill>
                <a:latin typeface="Palatino Linotype" pitchFamily="34" charset="0"/>
                <a:ea typeface="Palatino Linotype" pitchFamily="34" charset="-122"/>
                <a:cs typeface="Palatino Linotype" pitchFamily="34" charset="-120"/>
              </a:rPr>
              <a:t>Their work email. It becomes their sign-in.</a:t>
            </a:r>
            <a:endParaRPr lang="en-US" sz="1600" dirty="0"/>
          </a:p>
        </p:txBody>
      </p:sp>
      <p:sp>
        <p:nvSpPr>
          <p:cNvPr id="21" name="Callout number 2"/>
          <p:cNvSpPr/>
          <p:nvPr/>
        </p:nvSpPr>
        <p:spPr>
          <a:xfrm>
            <a:off x="685800" y="2624328"/>
            <a:ext cx="365760" cy="365760"/>
          </a:xfrm>
          <a:prstGeom prst="ellipse">
            <a:avLst/>
          </a:prstGeom>
          <a:solidFill>
            <a:srgbClr val="1B2A8F"/>
          </a:solidFill>
          <a:ln w="25400">
            <a:solidFill>
              <a:srgbClr val="EA580C"/>
            </a:solidFill>
            <a:prstDash val="solid"/>
          </a:ln>
        </p:spPr>
      </p:sp>
      <p:sp>
        <p:nvSpPr>
          <p:cNvPr id="22" name="Text 19"/>
          <p:cNvSpPr txBox="1"/>
          <p:nvPr/>
        </p:nvSpPr>
        <p:spPr>
          <a:xfrm>
            <a:off x="685800" y="2624328"/>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2</a:t>
            </a:r>
            <a:endParaRPr lang="en-US" sz="1400" dirty="0"/>
          </a:p>
        </p:txBody>
      </p:sp>
      <p:sp>
        <p:nvSpPr>
          <p:cNvPr id="23" name="Legend 2"/>
          <p:cNvSpPr txBox="1"/>
          <p:nvPr/>
        </p:nvSpPr>
        <p:spPr>
          <a:xfrm>
            <a:off x="1216152" y="2606040"/>
            <a:ext cx="5047488" cy="676656"/>
          </a:xfrm>
          <a:prstGeom prst="rect">
            <a:avLst/>
          </a:prstGeom>
          <a:noFill/>
          <a:ln/>
        </p:spPr>
        <p:txBody>
          <a:bodyPr wrap="square" lIns="0" tIns="0" rIns="0" bIns="0" rtlCol="0" anchor="t"/>
          <a:lstStyle/>
          <a:p>
            <a:pPr indent="0" marL="0">
              <a:buNone/>
            </a:pPr>
            <a:r>
              <a:rPr lang="en-US" sz="1600" b="1" dirty="0">
                <a:solidFill>
                  <a:srgbClr val="1E293B"/>
                </a:solidFill>
                <a:latin typeface="Palatino Linotype" pitchFamily="34" charset="0"/>
                <a:ea typeface="Palatino Linotype" pitchFamily="34" charset="-122"/>
                <a:cs typeface="Palatino Linotype" pitchFamily="34" charset="-120"/>
              </a:rPr>
              <a:t>Access Role</a:t>
            </a:r>
            <a:endParaRPr lang="en-US" sz="1600" dirty="0"/>
          </a:p>
          <a:p>
            <a:pPr indent="0" marL="0">
              <a:buNone/>
            </a:pPr>
            <a:r>
              <a:rPr lang="en-US" sz="1400" dirty="0">
                <a:solidFill>
                  <a:srgbClr val="536379"/>
                </a:solidFill>
                <a:latin typeface="Palatino Linotype" pitchFamily="34" charset="0"/>
                <a:ea typeface="Palatino Linotype" pitchFamily="34" charset="-122"/>
                <a:cs typeface="Palatino Linotype" pitchFamily="34" charset="-120"/>
              </a:rPr>
              <a:t>Implementer, Planning Admin, QA Assessor or Administrator.</a:t>
            </a:r>
            <a:endParaRPr lang="en-US" sz="1600" dirty="0"/>
          </a:p>
        </p:txBody>
      </p:sp>
      <p:sp>
        <p:nvSpPr>
          <p:cNvPr id="24" name="Callout number 3"/>
          <p:cNvSpPr/>
          <p:nvPr/>
        </p:nvSpPr>
        <p:spPr>
          <a:xfrm>
            <a:off x="685800" y="3355848"/>
            <a:ext cx="365760" cy="365760"/>
          </a:xfrm>
          <a:prstGeom prst="ellipse">
            <a:avLst/>
          </a:prstGeom>
          <a:solidFill>
            <a:srgbClr val="1B2A8F"/>
          </a:solidFill>
          <a:ln w="25400">
            <a:solidFill>
              <a:srgbClr val="EA580C"/>
            </a:solidFill>
            <a:prstDash val="solid"/>
          </a:ln>
        </p:spPr>
      </p:sp>
      <p:sp>
        <p:nvSpPr>
          <p:cNvPr id="25" name="Text 22"/>
          <p:cNvSpPr txBox="1"/>
          <p:nvPr/>
        </p:nvSpPr>
        <p:spPr>
          <a:xfrm>
            <a:off x="685800" y="3355848"/>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3</a:t>
            </a:r>
            <a:endParaRPr lang="en-US" sz="1400" dirty="0"/>
          </a:p>
        </p:txBody>
      </p:sp>
      <p:sp>
        <p:nvSpPr>
          <p:cNvPr id="26" name="Legend 3"/>
          <p:cNvSpPr txBox="1"/>
          <p:nvPr/>
        </p:nvSpPr>
        <p:spPr>
          <a:xfrm>
            <a:off x="1216152" y="3337560"/>
            <a:ext cx="5047488" cy="676656"/>
          </a:xfrm>
          <a:prstGeom prst="rect">
            <a:avLst/>
          </a:prstGeom>
          <a:noFill/>
          <a:ln/>
        </p:spPr>
        <p:txBody>
          <a:bodyPr wrap="square" lIns="0" tIns="0" rIns="0" bIns="0" rtlCol="0" anchor="t"/>
          <a:lstStyle/>
          <a:p>
            <a:pPr indent="0" marL="0">
              <a:buNone/>
            </a:pPr>
            <a:r>
              <a:rPr lang="en-US" sz="1600" b="1" dirty="0">
                <a:solidFill>
                  <a:srgbClr val="1E293B"/>
                </a:solidFill>
                <a:latin typeface="Palatino Linotype" pitchFamily="34" charset="0"/>
                <a:ea typeface="Palatino Linotype" pitchFamily="34" charset="-122"/>
                <a:cs typeface="Palatino Linotype" pitchFamily="34" charset="-120"/>
              </a:rPr>
              <a:t>Division</a:t>
            </a:r>
            <a:endParaRPr lang="en-US" sz="1600" dirty="0"/>
          </a:p>
          <a:p>
            <a:pPr indent="0" marL="0">
              <a:buNone/>
            </a:pPr>
            <a:r>
              <a:rPr lang="en-US" sz="1400" dirty="0">
                <a:solidFill>
                  <a:srgbClr val="536379"/>
                </a:solidFill>
                <a:latin typeface="Palatino Linotype" pitchFamily="34" charset="0"/>
                <a:ea typeface="Palatino Linotype" pitchFamily="34" charset="-122"/>
                <a:cs typeface="Palatino Linotype" pitchFamily="34" charset="-120"/>
              </a:rPr>
              <a:t>Needed for Implementers and Planning Admins. Limits what they can change.</a:t>
            </a:r>
            <a:endParaRPr lang="en-US" sz="1600" dirty="0"/>
          </a:p>
        </p:txBody>
      </p:sp>
      <p:sp>
        <p:nvSpPr>
          <p:cNvPr id="27" name="Callout number 4"/>
          <p:cNvSpPr/>
          <p:nvPr/>
        </p:nvSpPr>
        <p:spPr>
          <a:xfrm>
            <a:off x="685800" y="4087368"/>
            <a:ext cx="365760" cy="365760"/>
          </a:xfrm>
          <a:prstGeom prst="ellipse">
            <a:avLst/>
          </a:prstGeom>
          <a:solidFill>
            <a:srgbClr val="1B2A8F"/>
          </a:solidFill>
          <a:ln w="25400">
            <a:solidFill>
              <a:srgbClr val="EA580C"/>
            </a:solidFill>
            <a:prstDash val="solid"/>
          </a:ln>
        </p:spPr>
      </p:sp>
      <p:sp>
        <p:nvSpPr>
          <p:cNvPr id="28" name="Text 25"/>
          <p:cNvSpPr txBox="1"/>
          <p:nvPr/>
        </p:nvSpPr>
        <p:spPr>
          <a:xfrm>
            <a:off x="685800" y="4087368"/>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4</a:t>
            </a:r>
            <a:endParaRPr lang="en-US" sz="1400" dirty="0"/>
          </a:p>
        </p:txBody>
      </p:sp>
      <p:sp>
        <p:nvSpPr>
          <p:cNvPr id="29" name="Legend 4"/>
          <p:cNvSpPr txBox="1"/>
          <p:nvPr/>
        </p:nvSpPr>
        <p:spPr>
          <a:xfrm>
            <a:off x="1216152" y="4069080"/>
            <a:ext cx="5047488" cy="676656"/>
          </a:xfrm>
          <a:prstGeom prst="rect">
            <a:avLst/>
          </a:prstGeom>
          <a:noFill/>
          <a:ln/>
        </p:spPr>
        <p:txBody>
          <a:bodyPr wrap="square" lIns="0" tIns="0" rIns="0" bIns="0" rtlCol="0" anchor="t"/>
          <a:lstStyle/>
          <a:p>
            <a:pPr indent="0" marL="0">
              <a:buNone/>
            </a:pPr>
            <a:r>
              <a:rPr lang="en-US" sz="1600" b="1" dirty="0">
                <a:solidFill>
                  <a:srgbClr val="1E293B"/>
                </a:solidFill>
                <a:latin typeface="Palatino Linotype" pitchFamily="34" charset="0"/>
                <a:ea typeface="Palatino Linotype" pitchFamily="34" charset="-122"/>
                <a:cs typeface="Palatino Linotype" pitchFamily="34" charset="-120"/>
              </a:rPr>
              <a:t>Create Account</a:t>
            </a:r>
            <a:endParaRPr lang="en-US" sz="1600" dirty="0"/>
          </a:p>
          <a:p>
            <a:pPr indent="0" marL="0">
              <a:buNone/>
            </a:pPr>
            <a:r>
              <a:rPr lang="en-US" sz="1400" dirty="0">
                <a:solidFill>
                  <a:srgbClr val="536379"/>
                </a:solidFill>
                <a:latin typeface="Palatino Linotype" pitchFamily="34" charset="0"/>
                <a:ea typeface="Palatino Linotype" pitchFamily="34" charset="-122"/>
                <a:cs typeface="Palatino Linotype" pitchFamily="34" charset="-120"/>
              </a:rPr>
              <a:t>Creates the sign-in. No email is sent.</a:t>
            </a:r>
            <a:endParaRPr lang="en-US" sz="1600" dirty="0"/>
          </a:p>
        </p:txBody>
      </p:sp>
      <p:sp>
        <p:nvSpPr>
          <p:cNvPr id="30" name="Shape 27"/>
          <p:cNvSpPr/>
          <p:nvPr/>
        </p:nvSpPr>
        <p:spPr>
          <a:xfrm>
            <a:off x="685800" y="4983480"/>
            <a:ext cx="5577840" cy="868680"/>
          </a:xfrm>
          <a:prstGeom prst="roundRect">
            <a:avLst>
              <a:gd name="adj" fmla="val 8421"/>
            </a:avLst>
          </a:prstGeom>
          <a:solidFill>
            <a:srgbClr val="EEF2FF"/>
          </a:solidFill>
          <a:ln w="12700">
            <a:solidFill>
              <a:srgbClr val="EEF2FF"/>
            </a:solidFill>
            <a:prstDash val="solid"/>
          </a:ln>
        </p:spPr>
      </p:sp>
      <p:sp>
        <p:nvSpPr>
          <p:cNvPr id="31" name="Text 28"/>
          <p:cNvSpPr txBox="1"/>
          <p:nvPr/>
        </p:nvSpPr>
        <p:spPr>
          <a:xfrm>
            <a:off x="886968" y="5074920"/>
            <a:ext cx="5175504" cy="685800"/>
          </a:xfrm>
          <a:prstGeom prst="rect">
            <a:avLst/>
          </a:prstGeom>
          <a:noFill/>
          <a:ln/>
        </p:spPr>
        <p:txBody>
          <a:bodyPr wrap="square" lIns="0" tIns="0" rIns="0" bIns="0" rtlCol="0" anchor="ctr"/>
          <a:lstStyle/>
          <a:p>
            <a:pPr indent="0" marL="0">
              <a:buNone/>
            </a:pPr>
            <a:r>
              <a:rPr lang="en-US" sz="1400" b="1" dirty="0">
                <a:solidFill>
                  <a:srgbClr val="1B2A8F"/>
                </a:solidFill>
                <a:latin typeface="Palatino Linotype" pitchFamily="34" charset="0"/>
                <a:ea typeface="Palatino Linotype" pitchFamily="34" charset="-122"/>
                <a:cs typeface="Palatino Linotype" pitchFamily="34" charset="-120"/>
              </a:rPr>
              <a:t>Tip: </a:t>
            </a:r>
            <a:pPr indent="0" marL="0">
              <a:buNone/>
            </a:pPr>
            <a:r>
              <a:rPr lang="en-US" sz="1400" dirty="0">
                <a:solidFill>
                  <a:srgbClr val="1E293B"/>
                </a:solidFill>
                <a:latin typeface="Palatino Linotype" pitchFamily="34" charset="0"/>
                <a:ea typeface="Palatino Linotype" pitchFamily="34" charset="-122"/>
                <a:cs typeface="Palatino Linotype" pitchFamily="34" charset="-120"/>
              </a:rPr>
              <a:t>QA Assessors and administrators see every division, so they have none.</a:t>
            </a:r>
            <a:endParaRPr lang="en-US" sz="1400" dirty="0"/>
          </a:p>
        </p:txBody>
      </p:sp>
      <p:sp>
        <p:nvSpPr>
          <p:cNvPr id="32" name="Text 29"/>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36379"/>
                </a:solidFill>
                <a:latin typeface="Palatino Linotype" pitchFamily="34" charset="0"/>
                <a:ea typeface="Palatino Linotype" pitchFamily="34" charset="-122"/>
                <a:cs typeface="Palatino Linotype" pitchFamily="34" charset="-120"/>
              </a:rPr>
              <a:t>DQAMP 2026 · Onboarding for Administrators</a:t>
            </a:r>
            <a:endParaRPr lang="en-US" sz="1000" dirty="0"/>
          </a:p>
        </p:txBody>
      </p:sp>
      <p:sp>
        <p:nvSpPr>
          <p:cNvPr id="33" name="Text 30"/>
          <p:cNvSpPr txBox="1"/>
          <p:nvPr/>
        </p:nvSpPr>
        <p:spPr>
          <a:xfrm>
            <a:off x="11155680" y="6400800"/>
            <a:ext cx="457200" cy="274320"/>
          </a:xfrm>
          <a:prstGeom prst="rect">
            <a:avLst/>
          </a:prstGeom>
          <a:noFill/>
          <a:ln/>
        </p:spPr>
        <p:txBody>
          <a:bodyPr wrap="square" lIns="0" tIns="0" rIns="0" bIns="0" rtlCol="0" anchor="ctr"/>
          <a:lstStyle/>
          <a:p>
            <a:pPr algn="r" indent="0" marL="0">
              <a:buNone/>
            </a:pPr>
            <a:r>
              <a:rPr lang="en-US" sz="1000" dirty="0">
                <a:solidFill>
                  <a:srgbClr val="536379"/>
                </a:solidFill>
                <a:latin typeface="Palatino Linotype" pitchFamily="34" charset="0"/>
                <a:ea typeface="Palatino Linotype" pitchFamily="34" charset="-122"/>
                <a:cs typeface="Palatino Linotype"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indent="0" marL="0">
              <a:buNone/>
            </a:pPr>
            <a:r>
              <a:rPr lang="en-US" sz="3400" b="1" dirty="0">
                <a:solidFill>
                  <a:srgbClr val="1B2A8F"/>
                </a:solidFill>
                <a:latin typeface="Century Gothic" pitchFamily="34" charset="0"/>
                <a:ea typeface="Century Gothic" pitchFamily="34" charset="-122"/>
                <a:cs typeface="Century Gothic" pitchFamily="34" charset="-120"/>
              </a:rPr>
              <a:t>Give the temporary password</a:t>
            </a:r>
            <a:endParaRPr lang="en-US" sz="3400" dirty="0"/>
          </a:p>
        </p:txBody>
      </p:sp>
      <p:sp>
        <p:nvSpPr>
          <p:cNvPr id="3" name="a-password frame"/>
          <p:cNvSpPr/>
          <p:nvPr/>
        </p:nvSpPr>
        <p:spPr>
          <a:xfrm>
            <a:off x="612648" y="1298448"/>
            <a:ext cx="6912864" cy="4516374"/>
          </a:xfrm>
          <a:prstGeom prst="roundRect">
            <a:avLst>
              <a:gd name="adj" fmla="val 607"/>
            </a:avLst>
          </a:prstGeom>
          <a:solidFill>
            <a:srgbClr val="FFFFFF"/>
          </a:solidFill>
          <a:ln w="12700">
            <a:solidFill>
              <a:srgbClr val="E2E8F0"/>
            </a:solidFill>
            <a:prstDash val="solid"/>
          </a:ln>
          <a:effectLst>
            <a:outerShdw sx="100000" sy="100000" kx="0" ky="0" algn="bl" rotWithShape="0" blurRad="101600" dist="25400" dir="5400000">
              <a:srgbClr val="1E293B">
                <a:alpha val="16000"/>
              </a:srgbClr>
            </a:outerShdw>
          </a:effectLst>
        </p:spPr>
      </p:sp>
      <p:pic>
        <p:nvPicPr>
          <p:cNvPr id="4" name="a-password" descr="Account created dialog showing the temporary password">    </p:cNvPr>
          <p:cNvPicPr>
            <a:picLocks noChangeAspect="1"/>
          </p:cNvPicPr>
          <p:nvPr/>
        </p:nvPicPr>
        <p:blipFill>
          <a:blip r:embed="rId1"/>
          <a:stretch>
            <a:fillRect/>
          </a:stretch>
        </p:blipFill>
        <p:spPr>
          <a:xfrm>
            <a:off x="685800" y="1371600"/>
            <a:ext cx="6766560" cy="4370070"/>
          </a:xfrm>
          <a:prstGeom prst="rect">
            <a:avLst/>
          </a:prstGeom>
        </p:spPr>
      </p:pic>
      <p:sp>
        <p:nvSpPr>
          <p:cNvPr id="5" name="Highlight 1"/>
          <p:cNvSpPr/>
          <p:nvPr/>
        </p:nvSpPr>
        <p:spPr>
          <a:xfrm>
            <a:off x="1236345" y="3247263"/>
            <a:ext cx="5665470" cy="646938"/>
          </a:xfrm>
          <a:prstGeom prst="roundRect">
            <a:avLst>
              <a:gd name="adj" fmla="val 7067"/>
            </a:avLst>
          </a:prstGeom>
          <a:ln w="31750">
            <a:solidFill>
              <a:srgbClr val="EA580C"/>
            </a:solidFill>
            <a:prstDash val="solid"/>
          </a:ln>
        </p:spPr>
      </p:sp>
      <p:sp>
        <p:nvSpPr>
          <p:cNvPr id="6" name="Highlight 2"/>
          <p:cNvSpPr/>
          <p:nvPr/>
        </p:nvSpPr>
        <p:spPr>
          <a:xfrm>
            <a:off x="3878872" y="4572381"/>
            <a:ext cx="1978003" cy="618744"/>
          </a:xfrm>
          <a:prstGeom prst="roundRect">
            <a:avLst>
              <a:gd name="adj" fmla="val 7389"/>
            </a:avLst>
          </a:prstGeom>
          <a:ln w="31750">
            <a:solidFill>
              <a:srgbClr val="EA580C"/>
            </a:solidFill>
            <a:prstDash val="solid"/>
          </a:ln>
        </p:spPr>
      </p:sp>
      <p:sp>
        <p:nvSpPr>
          <p:cNvPr id="7" name="Highlight 3"/>
          <p:cNvSpPr/>
          <p:nvPr/>
        </p:nvSpPr>
        <p:spPr>
          <a:xfrm>
            <a:off x="5914787" y="4572381"/>
            <a:ext cx="987028" cy="618744"/>
          </a:xfrm>
          <a:prstGeom prst="roundRect">
            <a:avLst>
              <a:gd name="adj" fmla="val 7389"/>
            </a:avLst>
          </a:prstGeom>
          <a:ln w="31750">
            <a:solidFill>
              <a:srgbClr val="EA580C"/>
            </a:solidFill>
            <a:prstDash val="solid"/>
          </a:ln>
        </p:spPr>
      </p:sp>
      <p:sp>
        <p:nvSpPr>
          <p:cNvPr id="8" name="Callout number 1"/>
          <p:cNvSpPr/>
          <p:nvPr/>
        </p:nvSpPr>
        <p:spPr>
          <a:xfrm>
            <a:off x="879729" y="3415284"/>
            <a:ext cx="310896" cy="310896"/>
          </a:xfrm>
          <a:prstGeom prst="ellipse">
            <a:avLst/>
          </a:prstGeom>
          <a:solidFill>
            <a:srgbClr val="1B2A8F"/>
          </a:solidFill>
          <a:ln w="25400">
            <a:solidFill>
              <a:srgbClr val="EA580C"/>
            </a:solidFill>
            <a:prstDash val="solid"/>
          </a:ln>
        </p:spPr>
      </p:sp>
      <p:sp>
        <p:nvSpPr>
          <p:cNvPr id="9" name="Text 6"/>
          <p:cNvSpPr txBox="1"/>
          <p:nvPr/>
        </p:nvSpPr>
        <p:spPr>
          <a:xfrm>
            <a:off x="879729" y="3415284"/>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Palatino Linotype" pitchFamily="34" charset="0"/>
                <a:ea typeface="Palatino Linotype" pitchFamily="34" charset="-122"/>
                <a:cs typeface="Palatino Linotype" pitchFamily="34" charset="-120"/>
              </a:rPr>
              <a:t>1</a:t>
            </a:r>
            <a:endParaRPr lang="en-US" sz="1200" dirty="0"/>
          </a:p>
        </p:txBody>
      </p:sp>
      <p:sp>
        <p:nvSpPr>
          <p:cNvPr id="10" name="Callout number 2"/>
          <p:cNvSpPr/>
          <p:nvPr/>
        </p:nvSpPr>
        <p:spPr>
          <a:xfrm>
            <a:off x="4712425" y="4215765"/>
            <a:ext cx="310896" cy="310896"/>
          </a:xfrm>
          <a:prstGeom prst="ellipse">
            <a:avLst/>
          </a:prstGeom>
          <a:solidFill>
            <a:srgbClr val="1B2A8F"/>
          </a:solidFill>
          <a:ln w="25400">
            <a:solidFill>
              <a:srgbClr val="EA580C"/>
            </a:solidFill>
            <a:prstDash val="solid"/>
          </a:ln>
        </p:spPr>
      </p:sp>
      <p:sp>
        <p:nvSpPr>
          <p:cNvPr id="11" name="Text 8"/>
          <p:cNvSpPr txBox="1"/>
          <p:nvPr/>
        </p:nvSpPr>
        <p:spPr>
          <a:xfrm>
            <a:off x="4712425" y="4215765"/>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Palatino Linotype" pitchFamily="34" charset="0"/>
                <a:ea typeface="Palatino Linotype" pitchFamily="34" charset="-122"/>
                <a:cs typeface="Palatino Linotype" pitchFamily="34" charset="-120"/>
              </a:rPr>
              <a:t>2</a:t>
            </a:r>
            <a:endParaRPr lang="en-US" sz="1200" dirty="0"/>
          </a:p>
        </p:txBody>
      </p:sp>
      <p:sp>
        <p:nvSpPr>
          <p:cNvPr id="12" name="Callout number 3"/>
          <p:cNvSpPr/>
          <p:nvPr/>
        </p:nvSpPr>
        <p:spPr>
          <a:xfrm>
            <a:off x="6252853" y="4215765"/>
            <a:ext cx="310896" cy="310896"/>
          </a:xfrm>
          <a:prstGeom prst="ellipse">
            <a:avLst/>
          </a:prstGeom>
          <a:solidFill>
            <a:srgbClr val="1B2A8F"/>
          </a:solidFill>
          <a:ln w="25400">
            <a:solidFill>
              <a:srgbClr val="EA580C"/>
            </a:solidFill>
            <a:prstDash val="solid"/>
          </a:ln>
        </p:spPr>
      </p:sp>
      <p:sp>
        <p:nvSpPr>
          <p:cNvPr id="13" name="Text 10"/>
          <p:cNvSpPr txBox="1"/>
          <p:nvPr/>
        </p:nvSpPr>
        <p:spPr>
          <a:xfrm>
            <a:off x="6252853" y="4215765"/>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Palatino Linotype" pitchFamily="34" charset="0"/>
                <a:ea typeface="Palatino Linotype" pitchFamily="34" charset="-122"/>
                <a:cs typeface="Palatino Linotype" pitchFamily="34" charset="-120"/>
              </a:rPr>
              <a:t>3</a:t>
            </a:r>
            <a:endParaRPr lang="en-US" sz="1200" dirty="0"/>
          </a:p>
        </p:txBody>
      </p:sp>
      <p:sp>
        <p:nvSpPr>
          <p:cNvPr id="14" name="Callout number 1"/>
          <p:cNvSpPr/>
          <p:nvPr/>
        </p:nvSpPr>
        <p:spPr>
          <a:xfrm>
            <a:off x="7818120" y="1344168"/>
            <a:ext cx="365760" cy="365760"/>
          </a:xfrm>
          <a:prstGeom prst="ellipse">
            <a:avLst/>
          </a:prstGeom>
          <a:solidFill>
            <a:srgbClr val="1B2A8F"/>
          </a:solidFill>
          <a:ln w="25400">
            <a:solidFill>
              <a:srgbClr val="EA580C"/>
            </a:solidFill>
            <a:prstDash val="solid"/>
          </a:ln>
        </p:spPr>
      </p:sp>
      <p:sp>
        <p:nvSpPr>
          <p:cNvPr id="15" name="Text 12"/>
          <p:cNvSpPr txBox="1"/>
          <p:nvPr/>
        </p:nvSpPr>
        <p:spPr>
          <a:xfrm>
            <a:off x="7818120" y="1344168"/>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1</a:t>
            </a:r>
            <a:endParaRPr lang="en-US" sz="1400" dirty="0"/>
          </a:p>
        </p:txBody>
      </p:sp>
      <p:sp>
        <p:nvSpPr>
          <p:cNvPr id="16" name="Legend 1"/>
          <p:cNvSpPr txBox="1"/>
          <p:nvPr/>
        </p:nvSpPr>
        <p:spPr>
          <a:xfrm>
            <a:off x="8348472" y="1325880"/>
            <a:ext cx="3310128" cy="786384"/>
          </a:xfrm>
          <a:prstGeom prst="rect">
            <a:avLst/>
          </a:prstGeom>
          <a:noFill/>
          <a:ln/>
        </p:spPr>
        <p:txBody>
          <a:bodyPr wrap="square" lIns="0" tIns="0" rIns="0" bIns="0" rtlCol="0" anchor="t"/>
          <a:lstStyle/>
          <a:p>
            <a:pPr indent="0" marL="0">
              <a:buNone/>
            </a:pPr>
            <a:r>
              <a:rPr lang="en-US" sz="1600" b="1" dirty="0">
                <a:solidFill>
                  <a:srgbClr val="1E293B"/>
                </a:solidFill>
                <a:latin typeface="Palatino Linotype" pitchFamily="34" charset="0"/>
                <a:ea typeface="Palatino Linotype" pitchFamily="34" charset="-122"/>
                <a:cs typeface="Palatino Linotype" pitchFamily="34" charset="-120"/>
              </a:rPr>
              <a:t>Temporary password</a:t>
            </a:r>
            <a:endParaRPr lang="en-US" sz="1600" dirty="0"/>
          </a:p>
          <a:p>
            <a:pPr indent="0" marL="0">
              <a:buNone/>
            </a:pPr>
            <a:r>
              <a:rPr lang="en-US" sz="1400" dirty="0">
                <a:solidFill>
                  <a:srgbClr val="536379"/>
                </a:solidFill>
                <a:latin typeface="Palatino Linotype" pitchFamily="34" charset="0"/>
                <a:ea typeface="Palatino Linotype" pitchFamily="34" charset="-122"/>
                <a:cs typeface="Palatino Linotype" pitchFamily="34" charset="-120"/>
              </a:rPr>
              <a:t>Shown only once. Copy it now.</a:t>
            </a:r>
            <a:endParaRPr lang="en-US" sz="1600" dirty="0"/>
          </a:p>
        </p:txBody>
      </p:sp>
      <p:sp>
        <p:nvSpPr>
          <p:cNvPr id="17" name="Callout number 2"/>
          <p:cNvSpPr/>
          <p:nvPr/>
        </p:nvSpPr>
        <p:spPr>
          <a:xfrm>
            <a:off x="7818120" y="2185416"/>
            <a:ext cx="365760" cy="365760"/>
          </a:xfrm>
          <a:prstGeom prst="ellipse">
            <a:avLst/>
          </a:prstGeom>
          <a:solidFill>
            <a:srgbClr val="1B2A8F"/>
          </a:solidFill>
          <a:ln w="25400">
            <a:solidFill>
              <a:srgbClr val="EA580C"/>
            </a:solidFill>
            <a:prstDash val="solid"/>
          </a:ln>
        </p:spPr>
      </p:sp>
      <p:sp>
        <p:nvSpPr>
          <p:cNvPr id="18" name="Text 15"/>
          <p:cNvSpPr txBox="1"/>
          <p:nvPr/>
        </p:nvSpPr>
        <p:spPr>
          <a:xfrm>
            <a:off x="7818120" y="2185416"/>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2</a:t>
            </a:r>
            <a:endParaRPr lang="en-US" sz="1400" dirty="0"/>
          </a:p>
        </p:txBody>
      </p:sp>
      <p:sp>
        <p:nvSpPr>
          <p:cNvPr id="19" name="Legend 2"/>
          <p:cNvSpPr txBox="1"/>
          <p:nvPr/>
        </p:nvSpPr>
        <p:spPr>
          <a:xfrm>
            <a:off x="8348472" y="2167128"/>
            <a:ext cx="3310128" cy="786384"/>
          </a:xfrm>
          <a:prstGeom prst="rect">
            <a:avLst/>
          </a:prstGeom>
          <a:noFill/>
          <a:ln/>
        </p:spPr>
        <p:txBody>
          <a:bodyPr wrap="square" lIns="0" tIns="0" rIns="0" bIns="0" rtlCol="0" anchor="t"/>
          <a:lstStyle/>
          <a:p>
            <a:pPr indent="0" marL="0">
              <a:buNone/>
            </a:pPr>
            <a:r>
              <a:rPr lang="en-US" sz="1600" b="1" dirty="0">
                <a:solidFill>
                  <a:srgbClr val="1E293B"/>
                </a:solidFill>
                <a:latin typeface="Palatino Linotype" pitchFamily="34" charset="0"/>
                <a:ea typeface="Palatino Linotype" pitchFamily="34" charset="-122"/>
                <a:cs typeface="Palatino Linotype" pitchFamily="34" charset="-120"/>
              </a:rPr>
              <a:t>Copy password</a:t>
            </a:r>
            <a:endParaRPr lang="en-US" sz="1600" dirty="0"/>
          </a:p>
          <a:p>
            <a:pPr indent="0" marL="0">
              <a:buNone/>
            </a:pPr>
            <a:r>
              <a:rPr lang="en-US" sz="1400" dirty="0">
                <a:solidFill>
                  <a:srgbClr val="536379"/>
                </a:solidFill>
                <a:latin typeface="Palatino Linotype" pitchFamily="34" charset="0"/>
                <a:ea typeface="Palatino Linotype" pitchFamily="34" charset="-122"/>
                <a:cs typeface="Palatino Linotype" pitchFamily="34" charset="-120"/>
              </a:rPr>
              <a:t>Copies it so you can paste it into a private message.</a:t>
            </a:r>
            <a:endParaRPr lang="en-US" sz="1600" dirty="0"/>
          </a:p>
        </p:txBody>
      </p:sp>
      <p:sp>
        <p:nvSpPr>
          <p:cNvPr id="20" name="Callout number 3"/>
          <p:cNvSpPr/>
          <p:nvPr/>
        </p:nvSpPr>
        <p:spPr>
          <a:xfrm>
            <a:off x="7818120" y="3026664"/>
            <a:ext cx="365760" cy="365760"/>
          </a:xfrm>
          <a:prstGeom prst="ellipse">
            <a:avLst/>
          </a:prstGeom>
          <a:solidFill>
            <a:srgbClr val="1B2A8F"/>
          </a:solidFill>
          <a:ln w="25400">
            <a:solidFill>
              <a:srgbClr val="EA580C"/>
            </a:solidFill>
            <a:prstDash val="solid"/>
          </a:ln>
        </p:spPr>
      </p:sp>
      <p:sp>
        <p:nvSpPr>
          <p:cNvPr id="21" name="Text 18"/>
          <p:cNvSpPr txBox="1"/>
          <p:nvPr/>
        </p:nvSpPr>
        <p:spPr>
          <a:xfrm>
            <a:off x="7818120" y="302666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3</a:t>
            </a:r>
            <a:endParaRPr lang="en-US" sz="1400" dirty="0"/>
          </a:p>
        </p:txBody>
      </p:sp>
      <p:sp>
        <p:nvSpPr>
          <p:cNvPr id="22" name="Legend 3"/>
          <p:cNvSpPr txBox="1"/>
          <p:nvPr/>
        </p:nvSpPr>
        <p:spPr>
          <a:xfrm>
            <a:off x="8348472" y="3008376"/>
            <a:ext cx="3310128" cy="786384"/>
          </a:xfrm>
          <a:prstGeom prst="rect">
            <a:avLst/>
          </a:prstGeom>
          <a:noFill/>
          <a:ln/>
        </p:spPr>
        <p:txBody>
          <a:bodyPr wrap="square" lIns="0" tIns="0" rIns="0" bIns="0" rtlCol="0" anchor="t"/>
          <a:lstStyle/>
          <a:p>
            <a:pPr indent="0" marL="0">
              <a:buNone/>
            </a:pPr>
            <a:r>
              <a:rPr lang="en-US" sz="1600" b="1" dirty="0">
                <a:solidFill>
                  <a:srgbClr val="1E293B"/>
                </a:solidFill>
                <a:latin typeface="Palatino Linotype" pitchFamily="34" charset="0"/>
                <a:ea typeface="Palatino Linotype" pitchFamily="34" charset="-122"/>
                <a:cs typeface="Palatino Linotype" pitchFamily="34" charset="-120"/>
              </a:rPr>
              <a:t>Done</a:t>
            </a:r>
            <a:endParaRPr lang="en-US" sz="1600" dirty="0"/>
          </a:p>
          <a:p>
            <a:pPr indent="0" marL="0">
              <a:buNone/>
            </a:pPr>
            <a:r>
              <a:rPr lang="en-US" sz="1400" dirty="0">
                <a:solidFill>
                  <a:srgbClr val="536379"/>
                </a:solidFill>
                <a:latin typeface="Palatino Linotype" pitchFamily="34" charset="0"/>
                <a:ea typeface="Palatino Linotype" pitchFamily="34" charset="-122"/>
                <a:cs typeface="Palatino Linotype" pitchFamily="34" charset="-120"/>
              </a:rPr>
              <a:t>Closes the dialog. The user can now sign in.</a:t>
            </a:r>
            <a:endParaRPr lang="en-US" sz="1600" dirty="0"/>
          </a:p>
        </p:txBody>
      </p:sp>
      <p:sp>
        <p:nvSpPr>
          <p:cNvPr id="23" name="Shape 20"/>
          <p:cNvSpPr/>
          <p:nvPr/>
        </p:nvSpPr>
        <p:spPr>
          <a:xfrm>
            <a:off x="7818120" y="5029200"/>
            <a:ext cx="3840480" cy="1097280"/>
          </a:xfrm>
          <a:prstGeom prst="roundRect">
            <a:avLst>
              <a:gd name="adj" fmla="val 6667"/>
            </a:avLst>
          </a:prstGeom>
          <a:solidFill>
            <a:srgbClr val="FFF4ED"/>
          </a:solidFill>
          <a:ln w="12700">
            <a:solidFill>
              <a:srgbClr val="FFF4ED"/>
            </a:solidFill>
            <a:prstDash val="solid"/>
          </a:ln>
        </p:spPr>
      </p:sp>
      <p:sp>
        <p:nvSpPr>
          <p:cNvPr id="24" name="Text 21"/>
          <p:cNvSpPr txBox="1"/>
          <p:nvPr/>
        </p:nvSpPr>
        <p:spPr>
          <a:xfrm>
            <a:off x="8019288" y="5120640"/>
            <a:ext cx="3438144" cy="914400"/>
          </a:xfrm>
          <a:prstGeom prst="rect">
            <a:avLst/>
          </a:prstGeom>
          <a:noFill/>
          <a:ln/>
        </p:spPr>
        <p:txBody>
          <a:bodyPr wrap="square" lIns="0" tIns="0" rIns="0" bIns="0" rtlCol="0" anchor="ctr"/>
          <a:lstStyle/>
          <a:p>
            <a:pPr indent="0" marL="0">
              <a:buNone/>
            </a:pPr>
            <a:r>
              <a:rPr lang="en-US" sz="1400" b="1" dirty="0">
                <a:solidFill>
                  <a:srgbClr val="EA580C"/>
                </a:solidFill>
                <a:latin typeface="Palatino Linotype" pitchFamily="34" charset="0"/>
                <a:ea typeface="Palatino Linotype" pitchFamily="34" charset="-122"/>
                <a:cs typeface="Palatino Linotype" pitchFamily="34" charset="-120"/>
              </a:rPr>
              <a:t>Important: </a:t>
            </a:r>
            <a:pPr indent="0" marL="0">
              <a:buNone/>
            </a:pPr>
            <a:r>
              <a:rPr lang="en-US" sz="1400" dirty="0">
                <a:solidFill>
                  <a:srgbClr val="1E293B"/>
                </a:solidFill>
                <a:latin typeface="Palatino Linotype" pitchFamily="34" charset="0"/>
                <a:ea typeface="Palatino Linotype" pitchFamily="34" charset="-122"/>
                <a:cs typeface="Palatino Linotype" pitchFamily="34" charset="-120"/>
              </a:rPr>
              <a:t>share it privately. To set a new password later, run npm run set-password on the DQAMP computer.</a:t>
            </a:r>
            <a:endParaRPr lang="en-US" sz="1400" dirty="0"/>
          </a:p>
        </p:txBody>
      </p:sp>
      <p:sp>
        <p:nvSpPr>
          <p:cNvPr id="25" name="Text 22"/>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36379"/>
                </a:solidFill>
                <a:latin typeface="Palatino Linotype" pitchFamily="34" charset="0"/>
                <a:ea typeface="Palatino Linotype" pitchFamily="34" charset="-122"/>
                <a:cs typeface="Palatino Linotype" pitchFamily="34" charset="-120"/>
              </a:rPr>
              <a:t>DQAMP 2026 · Onboarding for Administrators</a:t>
            </a:r>
            <a:endParaRPr lang="en-US" sz="1000" dirty="0"/>
          </a:p>
        </p:txBody>
      </p:sp>
      <p:sp>
        <p:nvSpPr>
          <p:cNvPr id="26" name="Text 23"/>
          <p:cNvSpPr txBox="1"/>
          <p:nvPr/>
        </p:nvSpPr>
        <p:spPr>
          <a:xfrm>
            <a:off x="11155680" y="6400800"/>
            <a:ext cx="457200" cy="274320"/>
          </a:xfrm>
          <a:prstGeom prst="rect">
            <a:avLst/>
          </a:prstGeom>
          <a:noFill/>
          <a:ln/>
        </p:spPr>
        <p:txBody>
          <a:bodyPr wrap="square" lIns="0" tIns="0" rIns="0" bIns="0" rtlCol="0" anchor="ctr"/>
          <a:lstStyle/>
          <a:p>
            <a:pPr algn="r" indent="0" marL="0">
              <a:buNone/>
            </a:pPr>
            <a:r>
              <a:rPr lang="en-US" sz="1000" dirty="0">
                <a:solidFill>
                  <a:srgbClr val="536379"/>
                </a:solidFill>
                <a:latin typeface="Palatino Linotype" pitchFamily="34" charset="0"/>
                <a:ea typeface="Palatino Linotype" pitchFamily="34" charset="-122"/>
                <a:cs typeface="Palatino Linotype"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indent="0" marL="0">
              <a:buNone/>
            </a:pPr>
            <a:r>
              <a:rPr lang="en-US" sz="3400" b="1" dirty="0">
                <a:solidFill>
                  <a:srgbClr val="1B2A8F"/>
                </a:solidFill>
                <a:latin typeface="Century Gothic" pitchFamily="34" charset="0"/>
                <a:ea typeface="Century Gothic" pitchFamily="34" charset="-122"/>
                <a:cs typeface="Century Gothic" pitchFamily="34" charset="-120"/>
              </a:rPr>
              <a:t>Roles and divisions</a:t>
            </a:r>
            <a:endParaRPr lang="en-US" sz="3400" dirty="0"/>
          </a:p>
        </p:txBody>
      </p:sp>
      <p:sp>
        <p:nvSpPr>
          <p:cNvPr id="3" name="a-users frame"/>
          <p:cNvSpPr/>
          <p:nvPr/>
        </p:nvSpPr>
        <p:spPr>
          <a:xfrm>
            <a:off x="800368" y="1298448"/>
            <a:ext cx="6537424" cy="4901184"/>
          </a:xfrm>
          <a:prstGeom prst="roundRect">
            <a:avLst>
              <a:gd name="adj" fmla="val 560"/>
            </a:avLst>
          </a:prstGeom>
          <a:solidFill>
            <a:srgbClr val="FFFFFF"/>
          </a:solidFill>
          <a:ln w="12700">
            <a:solidFill>
              <a:srgbClr val="E2E8F0"/>
            </a:solidFill>
            <a:prstDash val="solid"/>
          </a:ln>
          <a:effectLst>
            <a:outerShdw sx="100000" sy="100000" kx="0" ky="0" algn="bl" rotWithShape="0" blurRad="101600" dist="25400" dir="5400000">
              <a:srgbClr val="1E293B">
                <a:alpha val="16000"/>
              </a:srgbClr>
            </a:outerShdw>
          </a:effectLst>
        </p:spPr>
      </p:sp>
      <p:pic>
        <p:nvPicPr>
          <p:cNvPr id="4" name="a-users" descr="User Management table with role and division selectors">    </p:cNvPr>
          <p:cNvPicPr>
            <a:picLocks noChangeAspect="1"/>
          </p:cNvPicPr>
          <p:nvPr/>
        </p:nvPicPr>
        <p:blipFill>
          <a:blip r:embed="rId1"/>
          <a:stretch>
            <a:fillRect/>
          </a:stretch>
        </p:blipFill>
        <p:spPr>
          <a:xfrm>
            <a:off x="873520" y="1371600"/>
            <a:ext cx="6391120" cy="4754880"/>
          </a:xfrm>
          <a:prstGeom prst="rect">
            <a:avLst/>
          </a:prstGeom>
        </p:spPr>
      </p:pic>
      <p:sp>
        <p:nvSpPr>
          <p:cNvPr id="5" name="Highlight 1"/>
          <p:cNvSpPr/>
          <p:nvPr/>
        </p:nvSpPr>
        <p:spPr>
          <a:xfrm>
            <a:off x="6349590" y="1932455"/>
            <a:ext cx="769749" cy="270780"/>
          </a:xfrm>
          <a:prstGeom prst="roundRect">
            <a:avLst>
              <a:gd name="adj" fmla="val 16885"/>
            </a:avLst>
          </a:prstGeom>
          <a:ln w="31750">
            <a:solidFill>
              <a:srgbClr val="EA580C"/>
            </a:solidFill>
            <a:prstDash val="solid"/>
          </a:ln>
        </p:spPr>
      </p:sp>
      <p:sp>
        <p:nvSpPr>
          <p:cNvPr id="6" name="Highlight 2"/>
          <p:cNvSpPr/>
          <p:nvPr/>
        </p:nvSpPr>
        <p:spPr>
          <a:xfrm>
            <a:off x="4249046" y="4145006"/>
            <a:ext cx="767388" cy="206005"/>
          </a:xfrm>
          <a:prstGeom prst="roundRect">
            <a:avLst>
              <a:gd name="adj" fmla="val 22194"/>
            </a:avLst>
          </a:prstGeom>
          <a:ln w="31750">
            <a:solidFill>
              <a:srgbClr val="EA580C"/>
            </a:solidFill>
            <a:prstDash val="solid"/>
          </a:ln>
        </p:spPr>
      </p:sp>
      <p:sp>
        <p:nvSpPr>
          <p:cNvPr id="7" name="Highlight 3"/>
          <p:cNvSpPr/>
          <p:nvPr/>
        </p:nvSpPr>
        <p:spPr>
          <a:xfrm>
            <a:off x="5433549" y="4145006"/>
            <a:ext cx="470503" cy="206005"/>
          </a:xfrm>
          <a:prstGeom prst="roundRect">
            <a:avLst>
              <a:gd name="adj" fmla="val 22194"/>
            </a:avLst>
          </a:prstGeom>
          <a:ln w="31750">
            <a:solidFill>
              <a:srgbClr val="EA580C"/>
            </a:solidFill>
            <a:prstDash val="solid"/>
          </a:ln>
        </p:spPr>
      </p:sp>
      <p:sp>
        <p:nvSpPr>
          <p:cNvPr id="8" name="Highlight 4"/>
          <p:cNvSpPr/>
          <p:nvPr/>
        </p:nvSpPr>
        <p:spPr>
          <a:xfrm>
            <a:off x="5433549" y="5409466"/>
            <a:ext cx="443007" cy="135833"/>
          </a:xfrm>
          <a:prstGeom prst="roundRect">
            <a:avLst>
              <a:gd name="adj" fmla="val 33659"/>
            </a:avLst>
          </a:prstGeom>
          <a:ln w="31750">
            <a:solidFill>
              <a:srgbClr val="EA580C"/>
            </a:solidFill>
            <a:prstDash val="solid"/>
          </a:ln>
        </p:spPr>
      </p:sp>
      <p:sp>
        <p:nvSpPr>
          <p:cNvPr id="9" name="Callout number 1"/>
          <p:cNvSpPr/>
          <p:nvPr/>
        </p:nvSpPr>
        <p:spPr>
          <a:xfrm>
            <a:off x="6579017" y="1575839"/>
            <a:ext cx="310896" cy="310896"/>
          </a:xfrm>
          <a:prstGeom prst="ellipse">
            <a:avLst/>
          </a:prstGeom>
          <a:solidFill>
            <a:srgbClr val="1B2A8F"/>
          </a:solidFill>
          <a:ln w="25400">
            <a:solidFill>
              <a:srgbClr val="EA580C"/>
            </a:solidFill>
            <a:prstDash val="solid"/>
          </a:ln>
        </p:spPr>
      </p:sp>
      <p:sp>
        <p:nvSpPr>
          <p:cNvPr id="10" name="Text 7"/>
          <p:cNvSpPr txBox="1"/>
          <p:nvPr/>
        </p:nvSpPr>
        <p:spPr>
          <a:xfrm>
            <a:off x="6579017" y="1575839"/>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Palatino Linotype" pitchFamily="34" charset="0"/>
                <a:ea typeface="Palatino Linotype" pitchFamily="34" charset="-122"/>
                <a:cs typeface="Palatino Linotype" pitchFamily="34" charset="-120"/>
              </a:rPr>
              <a:t>1</a:t>
            </a:r>
            <a:endParaRPr lang="en-US" sz="1200" dirty="0"/>
          </a:p>
        </p:txBody>
      </p:sp>
      <p:sp>
        <p:nvSpPr>
          <p:cNvPr id="11" name="Callout number 2"/>
          <p:cNvSpPr/>
          <p:nvPr/>
        </p:nvSpPr>
        <p:spPr>
          <a:xfrm>
            <a:off x="4477291" y="3788390"/>
            <a:ext cx="310896" cy="310896"/>
          </a:xfrm>
          <a:prstGeom prst="ellipse">
            <a:avLst/>
          </a:prstGeom>
          <a:solidFill>
            <a:srgbClr val="1B2A8F"/>
          </a:solidFill>
          <a:ln w="25400">
            <a:solidFill>
              <a:srgbClr val="EA580C"/>
            </a:solidFill>
            <a:prstDash val="solid"/>
          </a:ln>
        </p:spPr>
      </p:sp>
      <p:sp>
        <p:nvSpPr>
          <p:cNvPr id="12" name="Text 9"/>
          <p:cNvSpPr txBox="1"/>
          <p:nvPr/>
        </p:nvSpPr>
        <p:spPr>
          <a:xfrm>
            <a:off x="4477291" y="3788390"/>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Palatino Linotype" pitchFamily="34" charset="0"/>
                <a:ea typeface="Palatino Linotype" pitchFamily="34" charset="-122"/>
                <a:cs typeface="Palatino Linotype" pitchFamily="34" charset="-120"/>
              </a:rPr>
              <a:t>2</a:t>
            </a:r>
            <a:endParaRPr lang="en-US" sz="1200" dirty="0"/>
          </a:p>
        </p:txBody>
      </p:sp>
      <p:sp>
        <p:nvSpPr>
          <p:cNvPr id="13" name="Callout number 3"/>
          <p:cNvSpPr/>
          <p:nvPr/>
        </p:nvSpPr>
        <p:spPr>
          <a:xfrm>
            <a:off x="5513352" y="3788390"/>
            <a:ext cx="310896" cy="310896"/>
          </a:xfrm>
          <a:prstGeom prst="ellipse">
            <a:avLst/>
          </a:prstGeom>
          <a:solidFill>
            <a:srgbClr val="1B2A8F"/>
          </a:solidFill>
          <a:ln w="25400">
            <a:solidFill>
              <a:srgbClr val="EA580C"/>
            </a:solidFill>
            <a:prstDash val="solid"/>
          </a:ln>
        </p:spPr>
      </p:sp>
      <p:sp>
        <p:nvSpPr>
          <p:cNvPr id="14" name="Text 11"/>
          <p:cNvSpPr txBox="1"/>
          <p:nvPr/>
        </p:nvSpPr>
        <p:spPr>
          <a:xfrm>
            <a:off x="5513352" y="3788390"/>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Palatino Linotype" pitchFamily="34" charset="0"/>
                <a:ea typeface="Palatino Linotype" pitchFamily="34" charset="-122"/>
                <a:cs typeface="Palatino Linotype" pitchFamily="34" charset="-120"/>
              </a:rPr>
              <a:t>3</a:t>
            </a:r>
            <a:endParaRPr lang="en-US" sz="1200" dirty="0"/>
          </a:p>
        </p:txBody>
      </p:sp>
      <p:sp>
        <p:nvSpPr>
          <p:cNvPr id="15" name="Callout number 4"/>
          <p:cNvSpPr/>
          <p:nvPr/>
        </p:nvSpPr>
        <p:spPr>
          <a:xfrm>
            <a:off x="5499604" y="5052850"/>
            <a:ext cx="310896" cy="310896"/>
          </a:xfrm>
          <a:prstGeom prst="ellipse">
            <a:avLst/>
          </a:prstGeom>
          <a:solidFill>
            <a:srgbClr val="1B2A8F"/>
          </a:solidFill>
          <a:ln w="25400">
            <a:solidFill>
              <a:srgbClr val="EA580C"/>
            </a:solidFill>
            <a:prstDash val="solid"/>
          </a:ln>
        </p:spPr>
      </p:sp>
      <p:sp>
        <p:nvSpPr>
          <p:cNvPr id="16" name="Text 13"/>
          <p:cNvSpPr txBox="1"/>
          <p:nvPr/>
        </p:nvSpPr>
        <p:spPr>
          <a:xfrm>
            <a:off x="5499604" y="5052850"/>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Palatino Linotype" pitchFamily="34" charset="0"/>
                <a:ea typeface="Palatino Linotype" pitchFamily="34" charset="-122"/>
                <a:cs typeface="Palatino Linotype" pitchFamily="34" charset="-120"/>
              </a:rPr>
              <a:t>4</a:t>
            </a:r>
            <a:endParaRPr lang="en-US" sz="1200" dirty="0"/>
          </a:p>
        </p:txBody>
      </p:sp>
      <p:sp>
        <p:nvSpPr>
          <p:cNvPr id="17" name="Where to open"/>
          <p:cNvSpPr txBox="1"/>
          <p:nvPr/>
        </p:nvSpPr>
        <p:spPr>
          <a:xfrm>
            <a:off x="7818120" y="1325880"/>
            <a:ext cx="3840480" cy="365760"/>
          </a:xfrm>
          <a:prstGeom prst="rect">
            <a:avLst/>
          </a:prstGeom>
          <a:noFill/>
          <a:ln/>
        </p:spPr>
        <p:txBody>
          <a:bodyPr wrap="square" lIns="0" tIns="0" rIns="0" bIns="0" rtlCol="0" anchor="ctr"/>
          <a:lstStyle/>
          <a:p>
            <a:pPr indent="0" marL="0">
              <a:buNone/>
            </a:pPr>
            <a:r>
              <a:rPr lang="en-US" sz="1600" b="1" dirty="0">
                <a:solidFill>
                  <a:srgbClr val="1B2A8F"/>
                </a:solidFill>
                <a:latin typeface="Palatino Linotype" pitchFamily="34" charset="0"/>
                <a:ea typeface="Palatino Linotype" pitchFamily="34" charset="-122"/>
                <a:cs typeface="Palatino Linotype" pitchFamily="34" charset="-120"/>
              </a:rPr>
              <a:t>Open: </a:t>
            </a:r>
            <a:pPr indent="0" marL="0">
              <a:buNone/>
            </a:pPr>
            <a:r>
              <a:rPr lang="en-US" sz="1600" dirty="0">
                <a:solidFill>
                  <a:srgbClr val="1E293B"/>
                </a:solidFill>
                <a:latin typeface="Palatino Linotype" pitchFamily="34" charset="0"/>
                <a:ea typeface="Palatino Linotype" pitchFamily="34" charset="-122"/>
                <a:cs typeface="Palatino Linotype" pitchFamily="34" charset="-120"/>
              </a:rPr>
              <a:t>User Management</a:t>
            </a:r>
            <a:endParaRPr lang="en-US" sz="1600" dirty="0"/>
          </a:p>
        </p:txBody>
      </p:sp>
      <p:sp>
        <p:nvSpPr>
          <p:cNvPr id="18" name="Callout number 1"/>
          <p:cNvSpPr/>
          <p:nvPr/>
        </p:nvSpPr>
        <p:spPr>
          <a:xfrm>
            <a:off x="7818120" y="1847088"/>
            <a:ext cx="365760" cy="365760"/>
          </a:xfrm>
          <a:prstGeom prst="ellipse">
            <a:avLst/>
          </a:prstGeom>
          <a:solidFill>
            <a:srgbClr val="1B2A8F"/>
          </a:solidFill>
          <a:ln w="25400">
            <a:solidFill>
              <a:srgbClr val="EA580C"/>
            </a:solidFill>
            <a:prstDash val="solid"/>
          </a:ln>
        </p:spPr>
      </p:sp>
      <p:sp>
        <p:nvSpPr>
          <p:cNvPr id="19" name="Text 16"/>
          <p:cNvSpPr txBox="1"/>
          <p:nvPr/>
        </p:nvSpPr>
        <p:spPr>
          <a:xfrm>
            <a:off x="7818120" y="1847088"/>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1</a:t>
            </a:r>
            <a:endParaRPr lang="en-US" sz="1400" dirty="0"/>
          </a:p>
        </p:txBody>
      </p:sp>
      <p:sp>
        <p:nvSpPr>
          <p:cNvPr id="20" name="Legend 1"/>
          <p:cNvSpPr txBox="1"/>
          <p:nvPr/>
        </p:nvSpPr>
        <p:spPr>
          <a:xfrm>
            <a:off x="8348472" y="1828800"/>
            <a:ext cx="3310128" cy="710946"/>
          </a:xfrm>
          <a:prstGeom prst="rect">
            <a:avLst/>
          </a:prstGeom>
          <a:noFill/>
          <a:ln/>
        </p:spPr>
        <p:txBody>
          <a:bodyPr wrap="square" lIns="0" tIns="0" rIns="0" bIns="0" rtlCol="0" anchor="t"/>
          <a:lstStyle/>
          <a:p>
            <a:pPr indent="0" marL="0">
              <a:buNone/>
            </a:pPr>
            <a:r>
              <a:rPr lang="en-US" sz="1600" b="1" dirty="0">
                <a:solidFill>
                  <a:srgbClr val="1E293B"/>
                </a:solidFill>
                <a:latin typeface="Palatino Linotype" pitchFamily="34" charset="0"/>
                <a:ea typeface="Palatino Linotype" pitchFamily="34" charset="-122"/>
                <a:cs typeface="Palatino Linotype" pitchFamily="34" charset="-120"/>
              </a:rPr>
              <a:t>Invite User</a:t>
            </a:r>
            <a:endParaRPr lang="en-US" sz="1600" dirty="0"/>
          </a:p>
          <a:p>
            <a:pPr indent="0" marL="0">
              <a:buNone/>
            </a:pPr>
            <a:r>
              <a:rPr lang="en-US" sz="1400" dirty="0">
                <a:solidFill>
                  <a:srgbClr val="536379"/>
                </a:solidFill>
                <a:latin typeface="Palatino Linotype" pitchFamily="34" charset="0"/>
                <a:ea typeface="Palatino Linotype" pitchFamily="34" charset="-122"/>
                <a:cs typeface="Palatino Linotype" pitchFamily="34" charset="-120"/>
              </a:rPr>
              <a:t>Adds a new account.</a:t>
            </a:r>
            <a:endParaRPr lang="en-US" sz="1600" dirty="0"/>
          </a:p>
        </p:txBody>
      </p:sp>
      <p:sp>
        <p:nvSpPr>
          <p:cNvPr id="21" name="Callout number 2"/>
          <p:cNvSpPr/>
          <p:nvPr/>
        </p:nvSpPr>
        <p:spPr>
          <a:xfrm>
            <a:off x="7818120" y="2612898"/>
            <a:ext cx="365760" cy="365760"/>
          </a:xfrm>
          <a:prstGeom prst="ellipse">
            <a:avLst/>
          </a:prstGeom>
          <a:solidFill>
            <a:srgbClr val="1B2A8F"/>
          </a:solidFill>
          <a:ln w="25400">
            <a:solidFill>
              <a:srgbClr val="EA580C"/>
            </a:solidFill>
            <a:prstDash val="solid"/>
          </a:ln>
        </p:spPr>
      </p:sp>
      <p:sp>
        <p:nvSpPr>
          <p:cNvPr id="22" name="Text 19"/>
          <p:cNvSpPr txBox="1"/>
          <p:nvPr/>
        </p:nvSpPr>
        <p:spPr>
          <a:xfrm>
            <a:off x="7818120" y="2612898"/>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2</a:t>
            </a:r>
            <a:endParaRPr lang="en-US" sz="1400" dirty="0"/>
          </a:p>
        </p:txBody>
      </p:sp>
      <p:sp>
        <p:nvSpPr>
          <p:cNvPr id="23" name="Legend 2"/>
          <p:cNvSpPr txBox="1"/>
          <p:nvPr/>
        </p:nvSpPr>
        <p:spPr>
          <a:xfrm>
            <a:off x="8348472" y="2594610"/>
            <a:ext cx="3310128" cy="710946"/>
          </a:xfrm>
          <a:prstGeom prst="rect">
            <a:avLst/>
          </a:prstGeom>
          <a:noFill/>
          <a:ln/>
        </p:spPr>
        <p:txBody>
          <a:bodyPr wrap="square" lIns="0" tIns="0" rIns="0" bIns="0" rtlCol="0" anchor="t"/>
          <a:lstStyle/>
          <a:p>
            <a:pPr indent="0" marL="0">
              <a:buNone/>
            </a:pPr>
            <a:r>
              <a:rPr lang="en-US" sz="1600" b="1" dirty="0">
                <a:solidFill>
                  <a:srgbClr val="1E293B"/>
                </a:solidFill>
                <a:latin typeface="Palatino Linotype" pitchFamily="34" charset="0"/>
                <a:ea typeface="Palatino Linotype" pitchFamily="34" charset="-122"/>
                <a:cs typeface="Palatino Linotype" pitchFamily="34" charset="-120"/>
              </a:rPr>
              <a:t>Role</a:t>
            </a:r>
            <a:endParaRPr lang="en-US" sz="1600" dirty="0"/>
          </a:p>
          <a:p>
            <a:pPr indent="0" marL="0">
              <a:buNone/>
            </a:pPr>
            <a:r>
              <a:rPr lang="en-US" sz="1400" dirty="0">
                <a:solidFill>
                  <a:srgbClr val="536379"/>
                </a:solidFill>
                <a:latin typeface="Palatino Linotype" pitchFamily="34" charset="0"/>
                <a:ea typeface="Palatino Linotype" pitchFamily="34" charset="-122"/>
                <a:cs typeface="Palatino Linotype" pitchFamily="34" charset="-120"/>
              </a:rPr>
              <a:t>Change it here. The division adjusts to match.</a:t>
            </a:r>
            <a:endParaRPr lang="en-US" sz="1600" dirty="0"/>
          </a:p>
        </p:txBody>
      </p:sp>
      <p:sp>
        <p:nvSpPr>
          <p:cNvPr id="24" name="Callout number 3"/>
          <p:cNvSpPr/>
          <p:nvPr/>
        </p:nvSpPr>
        <p:spPr>
          <a:xfrm>
            <a:off x="7818120" y="3378708"/>
            <a:ext cx="365760" cy="365760"/>
          </a:xfrm>
          <a:prstGeom prst="ellipse">
            <a:avLst/>
          </a:prstGeom>
          <a:solidFill>
            <a:srgbClr val="1B2A8F"/>
          </a:solidFill>
          <a:ln w="25400">
            <a:solidFill>
              <a:srgbClr val="EA580C"/>
            </a:solidFill>
            <a:prstDash val="solid"/>
          </a:ln>
        </p:spPr>
      </p:sp>
      <p:sp>
        <p:nvSpPr>
          <p:cNvPr id="25" name="Text 22"/>
          <p:cNvSpPr txBox="1"/>
          <p:nvPr/>
        </p:nvSpPr>
        <p:spPr>
          <a:xfrm>
            <a:off x="7818120" y="3378708"/>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3</a:t>
            </a:r>
            <a:endParaRPr lang="en-US" sz="1400" dirty="0"/>
          </a:p>
        </p:txBody>
      </p:sp>
      <p:sp>
        <p:nvSpPr>
          <p:cNvPr id="26" name="Legend 3"/>
          <p:cNvSpPr txBox="1"/>
          <p:nvPr/>
        </p:nvSpPr>
        <p:spPr>
          <a:xfrm>
            <a:off x="8348472" y="3360420"/>
            <a:ext cx="3310128" cy="710946"/>
          </a:xfrm>
          <a:prstGeom prst="rect">
            <a:avLst/>
          </a:prstGeom>
          <a:noFill/>
          <a:ln/>
        </p:spPr>
        <p:txBody>
          <a:bodyPr wrap="square" lIns="0" tIns="0" rIns="0" bIns="0" rtlCol="0" anchor="t"/>
          <a:lstStyle/>
          <a:p>
            <a:pPr indent="0" marL="0">
              <a:buNone/>
            </a:pPr>
            <a:r>
              <a:rPr lang="en-US" sz="1600" b="1" dirty="0">
                <a:solidFill>
                  <a:srgbClr val="1E293B"/>
                </a:solidFill>
                <a:latin typeface="Palatino Linotype" pitchFamily="34" charset="0"/>
                <a:ea typeface="Palatino Linotype" pitchFamily="34" charset="-122"/>
                <a:cs typeface="Palatino Linotype" pitchFamily="34" charset="-120"/>
              </a:rPr>
              <a:t>Division</a:t>
            </a:r>
            <a:endParaRPr lang="en-US" sz="1600" dirty="0"/>
          </a:p>
          <a:p>
            <a:pPr indent="0" marL="0">
              <a:buNone/>
            </a:pPr>
            <a:r>
              <a:rPr lang="en-US" sz="1400" dirty="0">
                <a:solidFill>
                  <a:srgbClr val="536379"/>
                </a:solidFill>
                <a:latin typeface="Palatino Linotype" pitchFamily="34" charset="0"/>
                <a:ea typeface="Palatino Linotype" pitchFamily="34" charset="-122"/>
                <a:cs typeface="Palatino Linotype" pitchFamily="34" charset="-120"/>
              </a:rPr>
              <a:t>CID, SGOD or OSDS. A warning shows if it is missing.</a:t>
            </a:r>
            <a:endParaRPr lang="en-US" sz="1600" dirty="0"/>
          </a:p>
        </p:txBody>
      </p:sp>
      <p:sp>
        <p:nvSpPr>
          <p:cNvPr id="27" name="Callout number 4"/>
          <p:cNvSpPr/>
          <p:nvPr/>
        </p:nvSpPr>
        <p:spPr>
          <a:xfrm>
            <a:off x="7818120" y="4144518"/>
            <a:ext cx="365760" cy="365760"/>
          </a:xfrm>
          <a:prstGeom prst="ellipse">
            <a:avLst/>
          </a:prstGeom>
          <a:solidFill>
            <a:srgbClr val="1B2A8F"/>
          </a:solidFill>
          <a:ln w="25400">
            <a:solidFill>
              <a:srgbClr val="EA580C"/>
            </a:solidFill>
            <a:prstDash val="solid"/>
          </a:ln>
        </p:spPr>
      </p:sp>
      <p:sp>
        <p:nvSpPr>
          <p:cNvPr id="28" name="Text 25"/>
          <p:cNvSpPr txBox="1"/>
          <p:nvPr/>
        </p:nvSpPr>
        <p:spPr>
          <a:xfrm>
            <a:off x="7818120" y="4144518"/>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4</a:t>
            </a:r>
            <a:endParaRPr lang="en-US" sz="1400" dirty="0"/>
          </a:p>
        </p:txBody>
      </p:sp>
      <p:sp>
        <p:nvSpPr>
          <p:cNvPr id="29" name="Legend 4"/>
          <p:cNvSpPr txBox="1"/>
          <p:nvPr/>
        </p:nvSpPr>
        <p:spPr>
          <a:xfrm>
            <a:off x="8348472" y="4126230"/>
            <a:ext cx="3310128" cy="710946"/>
          </a:xfrm>
          <a:prstGeom prst="rect">
            <a:avLst/>
          </a:prstGeom>
          <a:noFill/>
          <a:ln/>
        </p:spPr>
        <p:txBody>
          <a:bodyPr wrap="square" lIns="0" tIns="0" rIns="0" bIns="0" rtlCol="0" anchor="t"/>
          <a:lstStyle/>
          <a:p>
            <a:pPr indent="0" marL="0">
              <a:buNone/>
            </a:pPr>
            <a:r>
              <a:rPr lang="en-US" sz="1600" b="1" dirty="0">
                <a:solidFill>
                  <a:srgbClr val="1E293B"/>
                </a:solidFill>
                <a:latin typeface="Palatino Linotype" pitchFamily="34" charset="0"/>
                <a:ea typeface="Palatino Linotype" pitchFamily="34" charset="-122"/>
                <a:cs typeface="Palatino Linotype" pitchFamily="34" charset="-120"/>
              </a:rPr>
              <a:t>All divisions</a:t>
            </a:r>
            <a:endParaRPr lang="en-US" sz="1600" dirty="0"/>
          </a:p>
          <a:p>
            <a:pPr indent="0" marL="0">
              <a:buNone/>
            </a:pPr>
            <a:r>
              <a:rPr lang="en-US" sz="1400" dirty="0">
                <a:solidFill>
                  <a:srgbClr val="536379"/>
                </a:solidFill>
                <a:latin typeface="Palatino Linotype" pitchFamily="34" charset="0"/>
                <a:ea typeface="Palatino Linotype" pitchFamily="34" charset="-122"/>
                <a:cs typeface="Palatino Linotype" pitchFamily="34" charset="-120"/>
              </a:rPr>
              <a:t>QA Assessors and administrators are not limited.</a:t>
            </a:r>
            <a:endParaRPr lang="en-US" sz="1600" dirty="0"/>
          </a:p>
        </p:txBody>
      </p:sp>
      <p:sp>
        <p:nvSpPr>
          <p:cNvPr id="30" name="Shape 27"/>
          <p:cNvSpPr/>
          <p:nvPr/>
        </p:nvSpPr>
        <p:spPr>
          <a:xfrm>
            <a:off x="7818120" y="5029200"/>
            <a:ext cx="3840480" cy="1097280"/>
          </a:xfrm>
          <a:prstGeom prst="roundRect">
            <a:avLst>
              <a:gd name="adj" fmla="val 6667"/>
            </a:avLst>
          </a:prstGeom>
          <a:solidFill>
            <a:srgbClr val="EEF2FF"/>
          </a:solidFill>
          <a:ln w="12700">
            <a:solidFill>
              <a:srgbClr val="EEF2FF"/>
            </a:solidFill>
            <a:prstDash val="solid"/>
          </a:ln>
        </p:spPr>
      </p:sp>
      <p:sp>
        <p:nvSpPr>
          <p:cNvPr id="31" name="Text 28"/>
          <p:cNvSpPr txBox="1"/>
          <p:nvPr/>
        </p:nvSpPr>
        <p:spPr>
          <a:xfrm>
            <a:off x="8019288" y="5120640"/>
            <a:ext cx="3438144" cy="914400"/>
          </a:xfrm>
          <a:prstGeom prst="rect">
            <a:avLst/>
          </a:prstGeom>
          <a:noFill/>
          <a:ln/>
        </p:spPr>
        <p:txBody>
          <a:bodyPr wrap="square" lIns="0" tIns="0" rIns="0" bIns="0" rtlCol="0" anchor="ctr"/>
          <a:lstStyle/>
          <a:p>
            <a:pPr indent="0" marL="0">
              <a:buNone/>
            </a:pPr>
            <a:r>
              <a:rPr lang="en-US" sz="1400" b="1" dirty="0">
                <a:solidFill>
                  <a:srgbClr val="1B2A8F"/>
                </a:solidFill>
                <a:latin typeface="Palatino Linotype" pitchFamily="34" charset="0"/>
                <a:ea typeface="Palatino Linotype" pitchFamily="34" charset="-122"/>
                <a:cs typeface="Palatino Linotype" pitchFamily="34" charset="-120"/>
              </a:rPr>
              <a:t>Tip: </a:t>
            </a:r>
            <a:pPr indent="0" marL="0">
              <a:buNone/>
            </a:pPr>
            <a:r>
              <a:rPr lang="en-US" sz="1400" dirty="0">
                <a:solidFill>
                  <a:srgbClr val="1E293B"/>
                </a:solidFill>
                <a:latin typeface="Palatino Linotype" pitchFamily="34" charset="0"/>
                <a:ea typeface="Palatino Linotype" pitchFamily="34" charset="-122"/>
                <a:cs typeface="Palatino Linotype" pitchFamily="34" charset="-120"/>
              </a:rPr>
              <a:t>every role and division change is recorded in the audit log.</a:t>
            </a:r>
            <a:endParaRPr lang="en-US" sz="1400" dirty="0"/>
          </a:p>
        </p:txBody>
      </p:sp>
      <p:sp>
        <p:nvSpPr>
          <p:cNvPr id="32" name="Text 29"/>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36379"/>
                </a:solidFill>
                <a:latin typeface="Palatino Linotype" pitchFamily="34" charset="0"/>
                <a:ea typeface="Palatino Linotype" pitchFamily="34" charset="-122"/>
                <a:cs typeface="Palatino Linotype" pitchFamily="34" charset="-120"/>
              </a:rPr>
              <a:t>DQAMP 2026 · Onboarding for Administrators</a:t>
            </a:r>
            <a:endParaRPr lang="en-US" sz="1000" dirty="0"/>
          </a:p>
        </p:txBody>
      </p:sp>
      <p:sp>
        <p:nvSpPr>
          <p:cNvPr id="33" name="Text 30"/>
          <p:cNvSpPr txBox="1"/>
          <p:nvPr/>
        </p:nvSpPr>
        <p:spPr>
          <a:xfrm>
            <a:off x="11155680" y="6400800"/>
            <a:ext cx="457200" cy="274320"/>
          </a:xfrm>
          <a:prstGeom prst="rect">
            <a:avLst/>
          </a:prstGeom>
          <a:noFill/>
          <a:ln/>
        </p:spPr>
        <p:txBody>
          <a:bodyPr wrap="square" lIns="0" tIns="0" rIns="0" bIns="0" rtlCol="0" anchor="ctr"/>
          <a:lstStyle/>
          <a:p>
            <a:pPr algn="r" indent="0" marL="0">
              <a:buNone/>
            </a:pPr>
            <a:r>
              <a:rPr lang="en-US" sz="1000" dirty="0">
                <a:solidFill>
                  <a:srgbClr val="536379"/>
                </a:solidFill>
                <a:latin typeface="Palatino Linotype" pitchFamily="34" charset="0"/>
                <a:ea typeface="Palatino Linotype" pitchFamily="34" charset="-122"/>
                <a:cs typeface="Palatino Linotype"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indent="0" marL="0">
              <a:buNone/>
            </a:pPr>
            <a:r>
              <a:rPr lang="en-US" sz="3400" b="1" dirty="0">
                <a:solidFill>
                  <a:srgbClr val="1B2A8F"/>
                </a:solidFill>
                <a:latin typeface="Century Gothic" pitchFamily="34" charset="0"/>
                <a:ea typeface="Century Gothic" pitchFamily="34" charset="-122"/>
                <a:cs typeface="Century Gothic" pitchFamily="34" charset="-120"/>
              </a:rPr>
              <a:t>Publish a reviewed activity</a:t>
            </a:r>
            <a:endParaRPr lang="en-US" sz="3400" dirty="0"/>
          </a:p>
        </p:txBody>
      </p:sp>
      <p:sp>
        <p:nvSpPr>
          <p:cNvPr id="3" name="a-publish frame"/>
          <p:cNvSpPr/>
          <p:nvPr/>
        </p:nvSpPr>
        <p:spPr>
          <a:xfrm>
            <a:off x="635619" y="1298448"/>
            <a:ext cx="6866922" cy="4901184"/>
          </a:xfrm>
          <a:prstGeom prst="roundRect">
            <a:avLst>
              <a:gd name="adj" fmla="val 560"/>
            </a:avLst>
          </a:prstGeom>
          <a:solidFill>
            <a:srgbClr val="FFFFFF"/>
          </a:solidFill>
          <a:ln w="12700">
            <a:solidFill>
              <a:srgbClr val="E2E8F0"/>
            </a:solidFill>
            <a:prstDash val="solid"/>
          </a:ln>
          <a:effectLst>
            <a:outerShdw sx="100000" sy="100000" kx="0" ky="0" algn="bl" rotWithShape="0" blurRad="101600" dist="25400" dir="5400000">
              <a:srgbClr val="1E293B">
                <a:alpha val="16000"/>
              </a:srgbClr>
            </a:outerShdw>
          </a:effectLst>
        </p:spPr>
      </p:sp>
      <p:pic>
        <p:nvPicPr>
          <p:cNvPr id="4" name="a-publish" descr="Activities list with an Under Review activity and its Publish button">    </p:cNvPr>
          <p:cNvPicPr>
            <a:picLocks noChangeAspect="1"/>
          </p:cNvPicPr>
          <p:nvPr/>
        </p:nvPicPr>
        <p:blipFill>
          <a:blip r:embed="rId1"/>
          <a:stretch>
            <a:fillRect/>
          </a:stretch>
        </p:blipFill>
        <p:spPr>
          <a:xfrm>
            <a:off x="708771" y="1371600"/>
            <a:ext cx="6720618" cy="4754880"/>
          </a:xfrm>
          <a:prstGeom prst="rect">
            <a:avLst/>
          </a:prstGeom>
        </p:spPr>
      </p:pic>
      <p:sp>
        <p:nvSpPr>
          <p:cNvPr id="5" name="Highlight 1"/>
          <p:cNvSpPr/>
          <p:nvPr/>
        </p:nvSpPr>
        <p:spPr>
          <a:xfrm>
            <a:off x="4039874" y="5480342"/>
            <a:ext cx="617074" cy="179740"/>
          </a:xfrm>
          <a:prstGeom prst="roundRect">
            <a:avLst>
              <a:gd name="adj" fmla="val 25437"/>
            </a:avLst>
          </a:prstGeom>
          <a:ln w="31750">
            <a:solidFill>
              <a:srgbClr val="EA580C"/>
            </a:solidFill>
            <a:prstDash val="solid"/>
          </a:ln>
        </p:spPr>
      </p:sp>
      <p:sp>
        <p:nvSpPr>
          <p:cNvPr id="6" name="Highlight 2"/>
          <p:cNvSpPr/>
          <p:nvPr/>
        </p:nvSpPr>
        <p:spPr>
          <a:xfrm>
            <a:off x="6385120" y="5451961"/>
            <a:ext cx="611930" cy="236502"/>
          </a:xfrm>
          <a:prstGeom prst="roundRect">
            <a:avLst>
              <a:gd name="adj" fmla="val 19332"/>
            </a:avLst>
          </a:prstGeom>
          <a:ln w="31750">
            <a:solidFill>
              <a:srgbClr val="EA580C"/>
            </a:solidFill>
            <a:prstDash val="solid"/>
          </a:ln>
        </p:spPr>
      </p:sp>
      <p:sp>
        <p:nvSpPr>
          <p:cNvPr id="7" name="Highlight 3"/>
          <p:cNvSpPr/>
          <p:nvPr/>
        </p:nvSpPr>
        <p:spPr>
          <a:xfrm>
            <a:off x="6964890" y="5440609"/>
            <a:ext cx="259207" cy="259207"/>
          </a:xfrm>
          <a:prstGeom prst="roundRect">
            <a:avLst>
              <a:gd name="adj" fmla="val 17638"/>
            </a:avLst>
          </a:prstGeom>
          <a:ln w="31750">
            <a:solidFill>
              <a:srgbClr val="EA580C"/>
            </a:solidFill>
            <a:prstDash val="solid"/>
          </a:ln>
        </p:spPr>
      </p:sp>
      <p:sp>
        <p:nvSpPr>
          <p:cNvPr id="8" name="Callout number 1"/>
          <p:cNvSpPr/>
          <p:nvPr/>
        </p:nvSpPr>
        <p:spPr>
          <a:xfrm>
            <a:off x="4192963" y="5123726"/>
            <a:ext cx="310896" cy="310896"/>
          </a:xfrm>
          <a:prstGeom prst="ellipse">
            <a:avLst/>
          </a:prstGeom>
          <a:solidFill>
            <a:srgbClr val="1B2A8F"/>
          </a:solidFill>
          <a:ln w="25400">
            <a:solidFill>
              <a:srgbClr val="EA580C"/>
            </a:solidFill>
            <a:prstDash val="solid"/>
          </a:ln>
        </p:spPr>
      </p:sp>
      <p:sp>
        <p:nvSpPr>
          <p:cNvPr id="9" name="Text 6"/>
          <p:cNvSpPr txBox="1"/>
          <p:nvPr/>
        </p:nvSpPr>
        <p:spPr>
          <a:xfrm>
            <a:off x="4192963" y="5123726"/>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Palatino Linotype" pitchFamily="34" charset="0"/>
                <a:ea typeface="Palatino Linotype" pitchFamily="34" charset="-122"/>
                <a:cs typeface="Palatino Linotype" pitchFamily="34" charset="-120"/>
              </a:rPr>
              <a:t>1</a:t>
            </a:r>
            <a:endParaRPr lang="en-US" sz="1200" dirty="0"/>
          </a:p>
        </p:txBody>
      </p:sp>
      <p:sp>
        <p:nvSpPr>
          <p:cNvPr id="10" name="Callout number 2"/>
          <p:cNvSpPr/>
          <p:nvPr/>
        </p:nvSpPr>
        <p:spPr>
          <a:xfrm>
            <a:off x="6535636" y="5095345"/>
            <a:ext cx="310896" cy="310896"/>
          </a:xfrm>
          <a:prstGeom prst="ellipse">
            <a:avLst/>
          </a:prstGeom>
          <a:solidFill>
            <a:srgbClr val="1B2A8F"/>
          </a:solidFill>
          <a:ln w="25400">
            <a:solidFill>
              <a:srgbClr val="EA580C"/>
            </a:solidFill>
            <a:prstDash val="solid"/>
          </a:ln>
        </p:spPr>
      </p:sp>
      <p:sp>
        <p:nvSpPr>
          <p:cNvPr id="11" name="Text 8"/>
          <p:cNvSpPr txBox="1"/>
          <p:nvPr/>
        </p:nvSpPr>
        <p:spPr>
          <a:xfrm>
            <a:off x="6535636" y="5095345"/>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Palatino Linotype" pitchFamily="34" charset="0"/>
                <a:ea typeface="Palatino Linotype" pitchFamily="34" charset="-122"/>
                <a:cs typeface="Palatino Linotype" pitchFamily="34" charset="-120"/>
              </a:rPr>
              <a:t>2</a:t>
            </a:r>
            <a:endParaRPr lang="en-US" sz="1200" dirty="0"/>
          </a:p>
        </p:txBody>
      </p:sp>
      <p:sp>
        <p:nvSpPr>
          <p:cNvPr id="12" name="Callout number 3"/>
          <p:cNvSpPr/>
          <p:nvPr/>
        </p:nvSpPr>
        <p:spPr>
          <a:xfrm>
            <a:off x="6939045" y="5083993"/>
            <a:ext cx="310896" cy="310896"/>
          </a:xfrm>
          <a:prstGeom prst="ellipse">
            <a:avLst/>
          </a:prstGeom>
          <a:solidFill>
            <a:srgbClr val="1B2A8F"/>
          </a:solidFill>
          <a:ln w="25400">
            <a:solidFill>
              <a:srgbClr val="EA580C"/>
            </a:solidFill>
            <a:prstDash val="solid"/>
          </a:ln>
        </p:spPr>
      </p:sp>
      <p:sp>
        <p:nvSpPr>
          <p:cNvPr id="13" name="Text 10"/>
          <p:cNvSpPr txBox="1"/>
          <p:nvPr/>
        </p:nvSpPr>
        <p:spPr>
          <a:xfrm>
            <a:off x="6939045" y="5083993"/>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Palatino Linotype" pitchFamily="34" charset="0"/>
                <a:ea typeface="Palatino Linotype" pitchFamily="34" charset="-122"/>
                <a:cs typeface="Palatino Linotype" pitchFamily="34" charset="-120"/>
              </a:rPr>
              <a:t>3</a:t>
            </a:r>
            <a:endParaRPr lang="en-US" sz="1200" dirty="0"/>
          </a:p>
        </p:txBody>
      </p:sp>
      <p:sp>
        <p:nvSpPr>
          <p:cNvPr id="14" name="Where to open"/>
          <p:cNvSpPr txBox="1"/>
          <p:nvPr/>
        </p:nvSpPr>
        <p:spPr>
          <a:xfrm>
            <a:off x="7818120" y="1325880"/>
            <a:ext cx="3840480" cy="365760"/>
          </a:xfrm>
          <a:prstGeom prst="rect">
            <a:avLst/>
          </a:prstGeom>
          <a:noFill/>
          <a:ln/>
        </p:spPr>
        <p:txBody>
          <a:bodyPr wrap="square" lIns="0" tIns="0" rIns="0" bIns="0" rtlCol="0" anchor="ctr"/>
          <a:lstStyle/>
          <a:p>
            <a:pPr indent="0" marL="0">
              <a:buNone/>
            </a:pPr>
            <a:r>
              <a:rPr lang="en-US" sz="1600" b="1" dirty="0">
                <a:solidFill>
                  <a:srgbClr val="1B2A8F"/>
                </a:solidFill>
                <a:latin typeface="Palatino Linotype" pitchFamily="34" charset="0"/>
                <a:ea typeface="Palatino Linotype" pitchFamily="34" charset="-122"/>
                <a:cs typeface="Palatino Linotype" pitchFamily="34" charset="-120"/>
              </a:rPr>
              <a:t>Open: </a:t>
            </a:r>
            <a:pPr indent="0" marL="0">
              <a:buNone/>
            </a:pPr>
            <a:r>
              <a:rPr lang="en-US" sz="1600" dirty="0">
                <a:solidFill>
                  <a:srgbClr val="1E293B"/>
                </a:solidFill>
                <a:latin typeface="Palatino Linotype" pitchFamily="34" charset="0"/>
                <a:ea typeface="Palatino Linotype" pitchFamily="34" charset="-122"/>
                <a:cs typeface="Palatino Linotype" pitchFamily="34" charset="-120"/>
              </a:rPr>
              <a:t>Activities</a:t>
            </a:r>
            <a:endParaRPr lang="en-US" sz="1600" dirty="0"/>
          </a:p>
        </p:txBody>
      </p:sp>
      <p:sp>
        <p:nvSpPr>
          <p:cNvPr id="15" name="Callout number 1"/>
          <p:cNvSpPr/>
          <p:nvPr/>
        </p:nvSpPr>
        <p:spPr>
          <a:xfrm>
            <a:off x="7818120" y="1847088"/>
            <a:ext cx="365760" cy="365760"/>
          </a:xfrm>
          <a:prstGeom prst="ellipse">
            <a:avLst/>
          </a:prstGeom>
          <a:solidFill>
            <a:srgbClr val="1B2A8F"/>
          </a:solidFill>
          <a:ln w="25400">
            <a:solidFill>
              <a:srgbClr val="EA580C"/>
            </a:solidFill>
            <a:prstDash val="solid"/>
          </a:ln>
        </p:spPr>
      </p:sp>
      <p:sp>
        <p:nvSpPr>
          <p:cNvPr id="16" name="Text 13"/>
          <p:cNvSpPr txBox="1"/>
          <p:nvPr/>
        </p:nvSpPr>
        <p:spPr>
          <a:xfrm>
            <a:off x="7818120" y="1847088"/>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1</a:t>
            </a:r>
            <a:endParaRPr lang="en-US" sz="1400" dirty="0"/>
          </a:p>
        </p:txBody>
      </p:sp>
      <p:sp>
        <p:nvSpPr>
          <p:cNvPr id="17" name="Legend 1"/>
          <p:cNvSpPr txBox="1"/>
          <p:nvPr/>
        </p:nvSpPr>
        <p:spPr>
          <a:xfrm>
            <a:off x="8348472" y="1828800"/>
            <a:ext cx="3310128" cy="786384"/>
          </a:xfrm>
          <a:prstGeom prst="rect">
            <a:avLst/>
          </a:prstGeom>
          <a:noFill/>
          <a:ln/>
        </p:spPr>
        <p:txBody>
          <a:bodyPr wrap="square" lIns="0" tIns="0" rIns="0" bIns="0" rtlCol="0" anchor="t"/>
          <a:lstStyle/>
          <a:p>
            <a:pPr indent="0" marL="0">
              <a:buNone/>
            </a:pPr>
            <a:r>
              <a:rPr lang="en-US" sz="1600" b="1" dirty="0">
                <a:solidFill>
                  <a:srgbClr val="1E293B"/>
                </a:solidFill>
                <a:latin typeface="Palatino Linotype" pitchFamily="34" charset="0"/>
                <a:ea typeface="Palatino Linotype" pitchFamily="34" charset="-122"/>
                <a:cs typeface="Palatino Linotype" pitchFamily="34" charset="-120"/>
              </a:rPr>
              <a:t>Under Review</a:t>
            </a:r>
            <a:endParaRPr lang="en-US" sz="1600" dirty="0"/>
          </a:p>
          <a:p>
            <a:pPr indent="0" marL="0">
              <a:buNone/>
            </a:pPr>
            <a:r>
              <a:rPr lang="en-US" sz="1400" dirty="0">
                <a:solidFill>
                  <a:srgbClr val="536379"/>
                </a:solidFill>
                <a:latin typeface="Palatino Linotype" pitchFamily="34" charset="0"/>
                <a:ea typeface="Palatino Linotype" pitchFamily="34" charset="-122"/>
                <a:cs typeface="Palatino Linotype" pitchFamily="34" charset="-120"/>
              </a:rPr>
              <a:t>The QA Assessor is reviewing or has reviewed it.</a:t>
            </a:r>
            <a:endParaRPr lang="en-US" sz="1600" dirty="0"/>
          </a:p>
        </p:txBody>
      </p:sp>
      <p:sp>
        <p:nvSpPr>
          <p:cNvPr id="18" name="Callout number 2"/>
          <p:cNvSpPr/>
          <p:nvPr/>
        </p:nvSpPr>
        <p:spPr>
          <a:xfrm>
            <a:off x="7818120" y="2688336"/>
            <a:ext cx="365760" cy="365760"/>
          </a:xfrm>
          <a:prstGeom prst="ellipse">
            <a:avLst/>
          </a:prstGeom>
          <a:solidFill>
            <a:srgbClr val="1B2A8F"/>
          </a:solidFill>
          <a:ln w="25400">
            <a:solidFill>
              <a:srgbClr val="EA580C"/>
            </a:solidFill>
            <a:prstDash val="solid"/>
          </a:ln>
        </p:spPr>
      </p:sp>
      <p:sp>
        <p:nvSpPr>
          <p:cNvPr id="19" name="Text 16"/>
          <p:cNvSpPr txBox="1"/>
          <p:nvPr/>
        </p:nvSpPr>
        <p:spPr>
          <a:xfrm>
            <a:off x="7818120" y="2688336"/>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2</a:t>
            </a:r>
            <a:endParaRPr lang="en-US" sz="1400" dirty="0"/>
          </a:p>
        </p:txBody>
      </p:sp>
      <p:sp>
        <p:nvSpPr>
          <p:cNvPr id="20" name="Legend 2"/>
          <p:cNvSpPr txBox="1"/>
          <p:nvPr/>
        </p:nvSpPr>
        <p:spPr>
          <a:xfrm>
            <a:off x="8348472" y="2670048"/>
            <a:ext cx="3310128" cy="786384"/>
          </a:xfrm>
          <a:prstGeom prst="rect">
            <a:avLst/>
          </a:prstGeom>
          <a:noFill/>
          <a:ln/>
        </p:spPr>
        <p:txBody>
          <a:bodyPr wrap="square" lIns="0" tIns="0" rIns="0" bIns="0" rtlCol="0" anchor="t"/>
          <a:lstStyle/>
          <a:p>
            <a:pPr indent="0" marL="0">
              <a:buNone/>
            </a:pPr>
            <a:r>
              <a:rPr lang="en-US" sz="1600" b="1" dirty="0">
                <a:solidFill>
                  <a:srgbClr val="1E293B"/>
                </a:solidFill>
                <a:latin typeface="Palatino Linotype" pitchFamily="34" charset="0"/>
                <a:ea typeface="Palatino Linotype" pitchFamily="34" charset="-122"/>
                <a:cs typeface="Palatino Linotype" pitchFamily="34" charset="-120"/>
              </a:rPr>
              <a:t>Publish</a:t>
            </a:r>
            <a:endParaRPr lang="en-US" sz="1600" dirty="0"/>
          </a:p>
          <a:p>
            <a:pPr indent="0" marL="0">
              <a:buNone/>
            </a:pPr>
            <a:r>
              <a:rPr lang="en-US" sz="1400" dirty="0">
                <a:solidFill>
                  <a:srgbClr val="536379"/>
                </a:solidFill>
                <a:latin typeface="Palatino Linotype" pitchFamily="34" charset="0"/>
                <a:ea typeface="Palatino Linotype" pitchFamily="34" charset="-122"/>
                <a:cs typeface="Palatino Linotype" pitchFamily="34" charset="-120"/>
              </a:rPr>
              <a:t>Moves it to Published. Only administrators can.</a:t>
            </a:r>
            <a:endParaRPr lang="en-US" sz="1600" dirty="0"/>
          </a:p>
        </p:txBody>
      </p:sp>
      <p:sp>
        <p:nvSpPr>
          <p:cNvPr id="21" name="Callout number 3"/>
          <p:cNvSpPr/>
          <p:nvPr/>
        </p:nvSpPr>
        <p:spPr>
          <a:xfrm>
            <a:off x="7818120" y="3529584"/>
            <a:ext cx="365760" cy="365760"/>
          </a:xfrm>
          <a:prstGeom prst="ellipse">
            <a:avLst/>
          </a:prstGeom>
          <a:solidFill>
            <a:srgbClr val="1B2A8F"/>
          </a:solidFill>
          <a:ln w="25400">
            <a:solidFill>
              <a:srgbClr val="EA580C"/>
            </a:solidFill>
            <a:prstDash val="solid"/>
          </a:ln>
        </p:spPr>
      </p:sp>
      <p:sp>
        <p:nvSpPr>
          <p:cNvPr id="22" name="Text 19"/>
          <p:cNvSpPr txBox="1"/>
          <p:nvPr/>
        </p:nvSpPr>
        <p:spPr>
          <a:xfrm>
            <a:off x="7818120" y="352958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3</a:t>
            </a:r>
            <a:endParaRPr lang="en-US" sz="1400" dirty="0"/>
          </a:p>
        </p:txBody>
      </p:sp>
      <p:sp>
        <p:nvSpPr>
          <p:cNvPr id="23" name="Legend 3"/>
          <p:cNvSpPr txBox="1"/>
          <p:nvPr/>
        </p:nvSpPr>
        <p:spPr>
          <a:xfrm>
            <a:off x="8348472" y="3511296"/>
            <a:ext cx="3310128" cy="786384"/>
          </a:xfrm>
          <a:prstGeom prst="rect">
            <a:avLst/>
          </a:prstGeom>
          <a:noFill/>
          <a:ln/>
        </p:spPr>
        <p:txBody>
          <a:bodyPr wrap="square" lIns="0" tIns="0" rIns="0" bIns="0" rtlCol="0" anchor="t"/>
          <a:lstStyle/>
          <a:p>
            <a:pPr indent="0" marL="0">
              <a:buNone/>
            </a:pPr>
            <a:r>
              <a:rPr lang="en-US" sz="1600" b="1" dirty="0">
                <a:solidFill>
                  <a:srgbClr val="1E293B"/>
                </a:solidFill>
                <a:latin typeface="Palatino Linotype" pitchFamily="34" charset="0"/>
                <a:ea typeface="Palatino Linotype" pitchFamily="34" charset="-122"/>
                <a:cs typeface="Palatino Linotype" pitchFamily="34" charset="-120"/>
              </a:rPr>
              <a:t>More actions</a:t>
            </a:r>
            <a:endParaRPr lang="en-US" sz="1600" dirty="0"/>
          </a:p>
          <a:p>
            <a:pPr indent="0" marL="0">
              <a:buNone/>
            </a:pPr>
            <a:r>
              <a:rPr lang="en-US" sz="1400" dirty="0">
                <a:solidFill>
                  <a:srgbClr val="536379"/>
                </a:solidFill>
                <a:latin typeface="Palatino Linotype" pitchFamily="34" charset="0"/>
                <a:ea typeface="Palatino Linotype" pitchFamily="34" charset="-122"/>
                <a:cs typeface="Palatino Linotype" pitchFamily="34" charset="-120"/>
              </a:rPr>
              <a:t>View details, download the report, edit or revert.</a:t>
            </a:r>
            <a:endParaRPr lang="en-US" sz="1600" dirty="0"/>
          </a:p>
        </p:txBody>
      </p:sp>
      <p:sp>
        <p:nvSpPr>
          <p:cNvPr id="24" name="Shape 21"/>
          <p:cNvSpPr/>
          <p:nvPr/>
        </p:nvSpPr>
        <p:spPr>
          <a:xfrm>
            <a:off x="7818120" y="5029200"/>
            <a:ext cx="3840480" cy="1097280"/>
          </a:xfrm>
          <a:prstGeom prst="roundRect">
            <a:avLst>
              <a:gd name="adj" fmla="val 6667"/>
            </a:avLst>
          </a:prstGeom>
          <a:solidFill>
            <a:srgbClr val="EEF2FF"/>
          </a:solidFill>
          <a:ln w="12700">
            <a:solidFill>
              <a:srgbClr val="EEF2FF"/>
            </a:solidFill>
            <a:prstDash val="solid"/>
          </a:ln>
        </p:spPr>
      </p:sp>
      <p:sp>
        <p:nvSpPr>
          <p:cNvPr id="25" name="Text 22"/>
          <p:cNvSpPr txBox="1"/>
          <p:nvPr/>
        </p:nvSpPr>
        <p:spPr>
          <a:xfrm>
            <a:off x="8019288" y="5120640"/>
            <a:ext cx="3438144" cy="914400"/>
          </a:xfrm>
          <a:prstGeom prst="rect">
            <a:avLst/>
          </a:prstGeom>
          <a:noFill/>
          <a:ln/>
        </p:spPr>
        <p:txBody>
          <a:bodyPr wrap="square" lIns="0" tIns="0" rIns="0" bIns="0" rtlCol="0" anchor="ctr"/>
          <a:lstStyle/>
          <a:p>
            <a:pPr indent="0" marL="0">
              <a:buNone/>
            </a:pPr>
            <a:r>
              <a:rPr lang="en-US" sz="1400" b="1" dirty="0">
                <a:solidFill>
                  <a:srgbClr val="1B2A8F"/>
                </a:solidFill>
                <a:latin typeface="Palatino Linotype" pitchFamily="34" charset="0"/>
                <a:ea typeface="Palatino Linotype" pitchFamily="34" charset="-122"/>
                <a:cs typeface="Palatino Linotype" pitchFamily="34" charset="-120"/>
              </a:rPr>
              <a:t>Rule: </a:t>
            </a:r>
            <a:pPr indent="0" marL="0">
              <a:buNone/>
            </a:pPr>
            <a:r>
              <a:rPr lang="en-US" sz="1400" dirty="0">
                <a:solidFill>
                  <a:srgbClr val="1E293B"/>
                </a:solidFill>
                <a:latin typeface="Palatino Linotype" pitchFamily="34" charset="0"/>
                <a:ea typeface="Palatino Linotype" pitchFamily="34" charset="-122"/>
                <a:cs typeface="Palatino Linotype" pitchFamily="34" charset="-120"/>
              </a:rPr>
              <a:t>published activities are locked. Only an administrator can revert one.</a:t>
            </a:r>
            <a:endParaRPr lang="en-US" sz="1400" dirty="0"/>
          </a:p>
        </p:txBody>
      </p:sp>
      <p:sp>
        <p:nvSpPr>
          <p:cNvPr id="26" name="Text 23"/>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36379"/>
                </a:solidFill>
                <a:latin typeface="Palatino Linotype" pitchFamily="34" charset="0"/>
                <a:ea typeface="Palatino Linotype" pitchFamily="34" charset="-122"/>
                <a:cs typeface="Palatino Linotype" pitchFamily="34" charset="-120"/>
              </a:rPr>
              <a:t>DQAMP 2026 · Onboarding for Administrators</a:t>
            </a:r>
            <a:endParaRPr lang="en-US" sz="1000" dirty="0"/>
          </a:p>
        </p:txBody>
      </p:sp>
      <p:sp>
        <p:nvSpPr>
          <p:cNvPr id="27" name="Text 24"/>
          <p:cNvSpPr txBox="1"/>
          <p:nvPr/>
        </p:nvSpPr>
        <p:spPr>
          <a:xfrm>
            <a:off x="11155680" y="6400800"/>
            <a:ext cx="457200" cy="274320"/>
          </a:xfrm>
          <a:prstGeom prst="rect">
            <a:avLst/>
          </a:prstGeom>
          <a:noFill/>
          <a:ln/>
        </p:spPr>
        <p:txBody>
          <a:bodyPr wrap="square" lIns="0" tIns="0" rIns="0" bIns="0" rtlCol="0" anchor="ctr"/>
          <a:lstStyle/>
          <a:p>
            <a:pPr algn="r" indent="0" marL="0">
              <a:buNone/>
            </a:pPr>
            <a:r>
              <a:rPr lang="en-US" sz="1000" dirty="0">
                <a:solidFill>
                  <a:srgbClr val="536379"/>
                </a:solidFill>
                <a:latin typeface="Palatino Linotype" pitchFamily="34" charset="0"/>
                <a:ea typeface="Palatino Linotype" pitchFamily="34" charset="-122"/>
                <a:cs typeface="Palatino Linotype"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indent="0" marL="0">
              <a:buNone/>
            </a:pPr>
            <a:r>
              <a:rPr lang="en-US" sz="3400" b="1" dirty="0">
                <a:solidFill>
                  <a:srgbClr val="1B2A8F"/>
                </a:solidFill>
                <a:latin typeface="Century Gothic" pitchFamily="34" charset="0"/>
                <a:ea typeface="Century Gothic" pitchFamily="34" charset="-122"/>
                <a:cs typeface="Century Gothic" pitchFamily="34" charset="-120"/>
              </a:rPr>
              <a:t>Correct a status</a:t>
            </a:r>
            <a:endParaRPr lang="en-US" sz="3400" dirty="0"/>
          </a:p>
        </p:txBody>
      </p:sp>
      <p:sp>
        <p:nvSpPr>
          <p:cNvPr id="3" name="a-more frame"/>
          <p:cNvSpPr/>
          <p:nvPr/>
        </p:nvSpPr>
        <p:spPr>
          <a:xfrm>
            <a:off x="635619" y="1298448"/>
            <a:ext cx="6866922" cy="4901184"/>
          </a:xfrm>
          <a:prstGeom prst="roundRect">
            <a:avLst>
              <a:gd name="adj" fmla="val 560"/>
            </a:avLst>
          </a:prstGeom>
          <a:solidFill>
            <a:srgbClr val="FFFFFF"/>
          </a:solidFill>
          <a:ln w="12700">
            <a:solidFill>
              <a:srgbClr val="E2E8F0"/>
            </a:solidFill>
            <a:prstDash val="solid"/>
          </a:ln>
          <a:effectLst>
            <a:outerShdw sx="100000" sy="100000" kx="0" ky="0" algn="bl" rotWithShape="0" blurRad="101600" dist="25400" dir="5400000">
              <a:srgbClr val="1E293B">
                <a:alpha val="16000"/>
              </a:srgbClr>
            </a:outerShdw>
          </a:effectLst>
        </p:spPr>
      </p:sp>
      <p:pic>
        <p:nvPicPr>
          <p:cNvPr id="4" name="a-more" descr="More actions menu with Revert status">    </p:cNvPr>
          <p:cNvPicPr>
            <a:picLocks noChangeAspect="1"/>
          </p:cNvPicPr>
          <p:nvPr/>
        </p:nvPicPr>
        <p:blipFill>
          <a:blip r:embed="rId1"/>
          <a:stretch>
            <a:fillRect/>
          </a:stretch>
        </p:blipFill>
        <p:spPr>
          <a:xfrm>
            <a:off x="708771" y="1371600"/>
            <a:ext cx="6720618" cy="4754880"/>
          </a:xfrm>
          <a:prstGeom prst="rect">
            <a:avLst/>
          </a:prstGeom>
        </p:spPr>
      </p:pic>
      <p:sp>
        <p:nvSpPr>
          <p:cNvPr id="5" name="Highlight 1"/>
          <p:cNvSpPr/>
          <p:nvPr/>
        </p:nvSpPr>
        <p:spPr>
          <a:xfrm>
            <a:off x="6177791" y="4165238"/>
            <a:ext cx="1019818" cy="259207"/>
          </a:xfrm>
          <a:prstGeom prst="roundRect">
            <a:avLst>
              <a:gd name="adj" fmla="val 17638"/>
            </a:avLst>
          </a:prstGeom>
          <a:ln w="31750">
            <a:solidFill>
              <a:srgbClr val="EA580C"/>
            </a:solidFill>
            <a:prstDash val="solid"/>
          </a:ln>
        </p:spPr>
      </p:sp>
      <p:sp>
        <p:nvSpPr>
          <p:cNvPr id="6" name="Callout number 1"/>
          <p:cNvSpPr/>
          <p:nvPr/>
        </p:nvSpPr>
        <p:spPr>
          <a:xfrm>
            <a:off x="6532252" y="3808622"/>
            <a:ext cx="310896" cy="310896"/>
          </a:xfrm>
          <a:prstGeom prst="ellipse">
            <a:avLst/>
          </a:prstGeom>
          <a:solidFill>
            <a:srgbClr val="1B2A8F"/>
          </a:solidFill>
          <a:ln w="25400">
            <a:solidFill>
              <a:srgbClr val="EA580C"/>
            </a:solidFill>
            <a:prstDash val="solid"/>
          </a:ln>
        </p:spPr>
      </p:sp>
      <p:sp>
        <p:nvSpPr>
          <p:cNvPr id="7" name="Text 4"/>
          <p:cNvSpPr txBox="1"/>
          <p:nvPr/>
        </p:nvSpPr>
        <p:spPr>
          <a:xfrm>
            <a:off x="6532252" y="3808622"/>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Palatino Linotype" pitchFamily="34" charset="0"/>
                <a:ea typeface="Palatino Linotype" pitchFamily="34" charset="-122"/>
                <a:cs typeface="Palatino Linotype" pitchFamily="34" charset="-120"/>
              </a:rPr>
              <a:t>1</a:t>
            </a:r>
            <a:endParaRPr lang="en-US" sz="1200" dirty="0"/>
          </a:p>
        </p:txBody>
      </p:sp>
      <p:sp>
        <p:nvSpPr>
          <p:cNvPr id="8" name="Where to open"/>
          <p:cNvSpPr txBox="1"/>
          <p:nvPr/>
        </p:nvSpPr>
        <p:spPr>
          <a:xfrm>
            <a:off x="7818120" y="1325880"/>
            <a:ext cx="3840480" cy="365760"/>
          </a:xfrm>
          <a:prstGeom prst="rect">
            <a:avLst/>
          </a:prstGeom>
          <a:noFill/>
          <a:ln/>
        </p:spPr>
        <p:txBody>
          <a:bodyPr wrap="square" lIns="0" tIns="0" rIns="0" bIns="0" rtlCol="0" anchor="ctr"/>
          <a:lstStyle/>
          <a:p>
            <a:pPr indent="0" marL="0">
              <a:buNone/>
            </a:pPr>
            <a:r>
              <a:rPr lang="en-US" sz="1600" b="1" dirty="0">
                <a:solidFill>
                  <a:srgbClr val="1B2A8F"/>
                </a:solidFill>
                <a:latin typeface="Palatino Linotype" pitchFamily="34" charset="0"/>
                <a:ea typeface="Palatino Linotype" pitchFamily="34" charset="-122"/>
                <a:cs typeface="Palatino Linotype" pitchFamily="34" charset="-120"/>
              </a:rPr>
              <a:t>Open: </a:t>
            </a:r>
            <a:pPr indent="0" marL="0">
              <a:buNone/>
            </a:pPr>
            <a:r>
              <a:rPr lang="en-US" sz="1600" dirty="0">
                <a:solidFill>
                  <a:srgbClr val="1E293B"/>
                </a:solidFill>
                <a:latin typeface="Palatino Linotype" pitchFamily="34" charset="0"/>
                <a:ea typeface="Palatino Linotype" pitchFamily="34" charset="-122"/>
                <a:cs typeface="Palatino Linotype" pitchFamily="34" charset="-120"/>
              </a:rPr>
              <a:t>Activities → More actions</a:t>
            </a:r>
            <a:endParaRPr lang="en-US" sz="1600" dirty="0"/>
          </a:p>
        </p:txBody>
      </p:sp>
      <p:sp>
        <p:nvSpPr>
          <p:cNvPr id="9" name="Callout number 1"/>
          <p:cNvSpPr/>
          <p:nvPr/>
        </p:nvSpPr>
        <p:spPr>
          <a:xfrm>
            <a:off x="7818120" y="1847088"/>
            <a:ext cx="365760" cy="365760"/>
          </a:xfrm>
          <a:prstGeom prst="ellipse">
            <a:avLst/>
          </a:prstGeom>
          <a:solidFill>
            <a:srgbClr val="1B2A8F"/>
          </a:solidFill>
          <a:ln w="25400">
            <a:solidFill>
              <a:srgbClr val="EA580C"/>
            </a:solidFill>
            <a:prstDash val="solid"/>
          </a:ln>
        </p:spPr>
      </p:sp>
      <p:sp>
        <p:nvSpPr>
          <p:cNvPr id="10" name="Text 7"/>
          <p:cNvSpPr txBox="1"/>
          <p:nvPr/>
        </p:nvSpPr>
        <p:spPr>
          <a:xfrm>
            <a:off x="7818120" y="1847088"/>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1</a:t>
            </a:r>
            <a:endParaRPr lang="en-US" sz="1400" dirty="0"/>
          </a:p>
        </p:txBody>
      </p:sp>
      <p:sp>
        <p:nvSpPr>
          <p:cNvPr id="11" name="Legend 1"/>
          <p:cNvSpPr txBox="1"/>
          <p:nvPr/>
        </p:nvSpPr>
        <p:spPr>
          <a:xfrm>
            <a:off x="8348472" y="1828800"/>
            <a:ext cx="3310128" cy="786384"/>
          </a:xfrm>
          <a:prstGeom prst="rect">
            <a:avLst/>
          </a:prstGeom>
          <a:noFill/>
          <a:ln/>
        </p:spPr>
        <p:txBody>
          <a:bodyPr wrap="square" lIns="0" tIns="0" rIns="0" bIns="0" rtlCol="0" anchor="t"/>
          <a:lstStyle/>
          <a:p>
            <a:pPr indent="0" marL="0">
              <a:buNone/>
            </a:pPr>
            <a:r>
              <a:rPr lang="en-US" sz="1600" b="1" dirty="0">
                <a:solidFill>
                  <a:srgbClr val="1E293B"/>
                </a:solidFill>
                <a:latin typeface="Palatino Linotype" pitchFamily="34" charset="0"/>
                <a:ea typeface="Palatino Linotype" pitchFamily="34" charset="-122"/>
                <a:cs typeface="Palatino Linotype" pitchFamily="34" charset="-120"/>
              </a:rPr>
              <a:t>Revert status</a:t>
            </a:r>
            <a:endParaRPr lang="en-US" sz="1600" dirty="0"/>
          </a:p>
          <a:p>
            <a:pPr indent="0" marL="0">
              <a:buNone/>
            </a:pPr>
            <a:r>
              <a:rPr lang="en-US" sz="1400" dirty="0">
                <a:solidFill>
                  <a:srgbClr val="536379"/>
                </a:solidFill>
                <a:latin typeface="Palatino Linotype" pitchFamily="34" charset="0"/>
                <a:ea typeface="Palatino Linotype" pitchFamily="34" charset="-122"/>
                <a:cs typeface="Palatino Linotype" pitchFamily="34" charset="-120"/>
              </a:rPr>
              <a:t>Moves the activity back one step, for example from Published to Under Review.</a:t>
            </a:r>
            <a:endParaRPr lang="en-US" sz="1600" dirty="0"/>
          </a:p>
        </p:txBody>
      </p:sp>
      <p:sp>
        <p:nvSpPr>
          <p:cNvPr id="12" name="Shape 9"/>
          <p:cNvSpPr/>
          <p:nvPr/>
        </p:nvSpPr>
        <p:spPr>
          <a:xfrm>
            <a:off x="7818120" y="5029200"/>
            <a:ext cx="3840480" cy="1097280"/>
          </a:xfrm>
          <a:prstGeom prst="roundRect">
            <a:avLst>
              <a:gd name="adj" fmla="val 6667"/>
            </a:avLst>
          </a:prstGeom>
          <a:solidFill>
            <a:srgbClr val="EEF2FF"/>
          </a:solidFill>
          <a:ln w="12700">
            <a:solidFill>
              <a:srgbClr val="EEF2FF"/>
            </a:solidFill>
            <a:prstDash val="solid"/>
          </a:ln>
        </p:spPr>
      </p:sp>
      <p:sp>
        <p:nvSpPr>
          <p:cNvPr id="13" name="Text 10"/>
          <p:cNvSpPr txBox="1"/>
          <p:nvPr/>
        </p:nvSpPr>
        <p:spPr>
          <a:xfrm>
            <a:off x="8019288" y="5120640"/>
            <a:ext cx="3438144" cy="914400"/>
          </a:xfrm>
          <a:prstGeom prst="rect">
            <a:avLst/>
          </a:prstGeom>
          <a:noFill/>
          <a:ln/>
        </p:spPr>
        <p:txBody>
          <a:bodyPr wrap="square" lIns="0" tIns="0" rIns="0" bIns="0" rtlCol="0" anchor="ctr"/>
          <a:lstStyle/>
          <a:p>
            <a:pPr indent="0" marL="0">
              <a:buNone/>
            </a:pPr>
            <a:r>
              <a:rPr lang="en-US" sz="1400" b="1" dirty="0">
                <a:solidFill>
                  <a:srgbClr val="1B2A8F"/>
                </a:solidFill>
                <a:latin typeface="Palatino Linotype" pitchFamily="34" charset="0"/>
                <a:ea typeface="Palatino Linotype" pitchFamily="34" charset="-122"/>
                <a:cs typeface="Palatino Linotype" pitchFamily="34" charset="-120"/>
              </a:rPr>
              <a:t>Tip: </a:t>
            </a:r>
            <a:pPr indent="0" marL="0">
              <a:buNone/>
            </a:pPr>
            <a:r>
              <a:rPr lang="en-US" sz="1400" dirty="0">
                <a:solidFill>
                  <a:srgbClr val="1E293B"/>
                </a:solidFill>
                <a:latin typeface="Palatino Linotype" pitchFamily="34" charset="0"/>
                <a:ea typeface="Palatino Linotype" pitchFamily="34" charset="-122"/>
                <a:cs typeface="Palatino Linotype" pitchFamily="34" charset="-120"/>
              </a:rPr>
              <a:t>use revert only to correct a mistake. It is logged.</a:t>
            </a:r>
            <a:endParaRPr lang="en-US" sz="1400" dirty="0"/>
          </a:p>
        </p:txBody>
      </p:sp>
      <p:sp>
        <p:nvSpPr>
          <p:cNvPr id="14" name="Text 11"/>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36379"/>
                </a:solidFill>
                <a:latin typeface="Palatino Linotype" pitchFamily="34" charset="0"/>
                <a:ea typeface="Palatino Linotype" pitchFamily="34" charset="-122"/>
                <a:cs typeface="Palatino Linotype" pitchFamily="34" charset="-120"/>
              </a:rPr>
              <a:t>DQAMP 2026 · Onboarding for Administrators</a:t>
            </a:r>
            <a:endParaRPr lang="en-US" sz="1000" dirty="0"/>
          </a:p>
        </p:txBody>
      </p:sp>
      <p:sp>
        <p:nvSpPr>
          <p:cNvPr id="15" name="Text 12"/>
          <p:cNvSpPr txBox="1"/>
          <p:nvPr/>
        </p:nvSpPr>
        <p:spPr>
          <a:xfrm>
            <a:off x="11155680" y="6400800"/>
            <a:ext cx="457200" cy="274320"/>
          </a:xfrm>
          <a:prstGeom prst="rect">
            <a:avLst/>
          </a:prstGeom>
          <a:noFill/>
          <a:ln/>
        </p:spPr>
        <p:txBody>
          <a:bodyPr wrap="square" lIns="0" tIns="0" rIns="0" bIns="0" rtlCol="0" anchor="ctr"/>
          <a:lstStyle/>
          <a:p>
            <a:pPr algn="r" indent="0" marL="0">
              <a:buNone/>
            </a:pPr>
            <a:r>
              <a:rPr lang="en-US" sz="1000" dirty="0">
                <a:solidFill>
                  <a:srgbClr val="536379"/>
                </a:solidFill>
                <a:latin typeface="Palatino Linotype" pitchFamily="34" charset="0"/>
                <a:ea typeface="Palatino Linotype" pitchFamily="34" charset="-122"/>
                <a:cs typeface="Palatino Linotype"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indent="0" marL="0">
              <a:buNone/>
            </a:pPr>
            <a:r>
              <a:rPr lang="en-US" sz="3400" b="1" dirty="0">
                <a:solidFill>
                  <a:srgbClr val="1B2A8F"/>
                </a:solidFill>
                <a:latin typeface="Century Gothic" pitchFamily="34" charset="0"/>
                <a:ea typeface="Century Gothic" pitchFamily="34" charset="-122"/>
                <a:cs typeface="Century Gothic" pitchFamily="34" charset="-120"/>
              </a:rPr>
              <a:t>Fixing mistakes</a:t>
            </a:r>
            <a:endParaRPr lang="en-US" sz="3400" dirty="0"/>
          </a:p>
        </p:txBody>
      </p:sp>
      <p:sp>
        <p:nvSpPr>
          <p:cNvPr id="3" name="Shape 1"/>
          <p:cNvSpPr/>
          <p:nvPr/>
        </p:nvSpPr>
        <p:spPr>
          <a:xfrm>
            <a:off x="548640" y="1371600"/>
            <a:ext cx="3566160" cy="3108960"/>
          </a:xfrm>
          <a:prstGeom prst="roundRect">
            <a:avLst>
              <a:gd name="adj" fmla="val 1765"/>
            </a:avLst>
          </a:prstGeom>
          <a:solidFill>
            <a:srgbClr val="F5F7FA"/>
          </a:solidFill>
          <a:ln w="12700">
            <a:solidFill>
              <a:srgbClr val="E2E8F0"/>
            </a:solidFill>
            <a:prstDash val="solid"/>
          </a:ln>
        </p:spPr>
      </p:sp>
      <p:sp>
        <p:nvSpPr>
          <p:cNvPr id="4" name="Callout number 1"/>
          <p:cNvSpPr/>
          <p:nvPr/>
        </p:nvSpPr>
        <p:spPr>
          <a:xfrm>
            <a:off x="822960" y="1627632"/>
            <a:ext cx="457200" cy="457200"/>
          </a:xfrm>
          <a:prstGeom prst="ellipse">
            <a:avLst/>
          </a:prstGeom>
          <a:solidFill>
            <a:srgbClr val="1B2A8F"/>
          </a:solidFill>
          <a:ln w="25400">
            <a:solidFill>
              <a:srgbClr val="EA580C"/>
            </a:solidFill>
            <a:prstDash val="solid"/>
          </a:ln>
        </p:spPr>
      </p:sp>
      <p:sp>
        <p:nvSpPr>
          <p:cNvPr id="5" name="Text 3"/>
          <p:cNvSpPr txBox="1"/>
          <p:nvPr/>
        </p:nvSpPr>
        <p:spPr>
          <a:xfrm>
            <a:off x="822960" y="1627632"/>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Palatino Linotype" pitchFamily="34" charset="0"/>
                <a:ea typeface="Palatino Linotype" pitchFamily="34" charset="-122"/>
                <a:cs typeface="Palatino Linotype" pitchFamily="34" charset="-120"/>
              </a:rPr>
              <a:t>1</a:t>
            </a:r>
            <a:endParaRPr lang="en-US" sz="1600" dirty="0"/>
          </a:p>
        </p:txBody>
      </p:sp>
      <p:sp>
        <p:nvSpPr>
          <p:cNvPr id="6" name="Text 4"/>
          <p:cNvSpPr txBox="1"/>
          <p:nvPr/>
        </p:nvSpPr>
        <p:spPr>
          <a:xfrm>
            <a:off x="822960" y="2240280"/>
            <a:ext cx="3017520" cy="685800"/>
          </a:xfrm>
          <a:prstGeom prst="rect">
            <a:avLst/>
          </a:prstGeom>
          <a:noFill/>
          <a:ln/>
        </p:spPr>
        <p:txBody>
          <a:bodyPr wrap="square" lIns="0" tIns="0" rIns="0" bIns="0" rtlCol="0" anchor="t"/>
          <a:lstStyle/>
          <a:p>
            <a:pPr indent="0" marL="0">
              <a:buNone/>
            </a:pPr>
            <a:r>
              <a:rPr lang="en-US" sz="1700" b="1" dirty="0">
                <a:solidFill>
                  <a:srgbClr val="1E293B"/>
                </a:solidFill>
                <a:latin typeface="Palatino Linotype" pitchFamily="34" charset="0"/>
                <a:ea typeface="Palatino Linotype" pitchFamily="34" charset="-122"/>
                <a:cs typeface="Palatino Linotype" pitchFamily="34" charset="-120"/>
              </a:rPr>
              <a:t>Wrong role or division</a:t>
            </a:r>
            <a:endParaRPr lang="en-US" sz="1700" dirty="0"/>
          </a:p>
        </p:txBody>
      </p:sp>
      <p:sp>
        <p:nvSpPr>
          <p:cNvPr id="7" name="Text 5"/>
          <p:cNvSpPr txBox="1"/>
          <p:nvPr/>
        </p:nvSpPr>
        <p:spPr>
          <a:xfrm>
            <a:off x="822960" y="2926080"/>
            <a:ext cx="3017520" cy="1463040"/>
          </a:xfrm>
          <a:prstGeom prst="rect">
            <a:avLst/>
          </a:prstGeom>
          <a:noFill/>
          <a:ln/>
        </p:spPr>
        <p:txBody>
          <a:bodyPr wrap="square" lIns="0" tIns="0" rIns="0" bIns="0" rtlCol="0" anchor="t"/>
          <a:lstStyle/>
          <a:p>
            <a:pPr indent="0" marL="0">
              <a:buNone/>
            </a:pPr>
            <a:r>
              <a:rPr lang="en-US" sz="1400" dirty="0">
                <a:solidFill>
                  <a:srgbClr val="536379"/>
                </a:solidFill>
                <a:latin typeface="Palatino Linotype" pitchFamily="34" charset="0"/>
                <a:ea typeface="Palatino Linotype" pitchFamily="34" charset="-122"/>
                <a:cs typeface="Palatino Linotype" pitchFamily="34" charset="-120"/>
              </a:rPr>
              <a:t>Change it in User Management. It takes effect the next time they open a page.</a:t>
            </a:r>
            <a:endParaRPr lang="en-US" sz="1400" dirty="0"/>
          </a:p>
        </p:txBody>
      </p:sp>
      <p:sp>
        <p:nvSpPr>
          <p:cNvPr id="8" name="Shape 6"/>
          <p:cNvSpPr/>
          <p:nvPr/>
        </p:nvSpPr>
        <p:spPr>
          <a:xfrm>
            <a:off x="4297680" y="1371600"/>
            <a:ext cx="3566160" cy="3108960"/>
          </a:xfrm>
          <a:prstGeom prst="roundRect">
            <a:avLst>
              <a:gd name="adj" fmla="val 1765"/>
            </a:avLst>
          </a:prstGeom>
          <a:solidFill>
            <a:srgbClr val="F5F7FA"/>
          </a:solidFill>
          <a:ln w="12700">
            <a:solidFill>
              <a:srgbClr val="E2E8F0"/>
            </a:solidFill>
            <a:prstDash val="solid"/>
          </a:ln>
        </p:spPr>
      </p:sp>
      <p:sp>
        <p:nvSpPr>
          <p:cNvPr id="9" name="Callout number 2"/>
          <p:cNvSpPr/>
          <p:nvPr/>
        </p:nvSpPr>
        <p:spPr>
          <a:xfrm>
            <a:off x="4572000" y="1627632"/>
            <a:ext cx="457200" cy="457200"/>
          </a:xfrm>
          <a:prstGeom prst="ellipse">
            <a:avLst/>
          </a:prstGeom>
          <a:solidFill>
            <a:srgbClr val="1B2A8F"/>
          </a:solidFill>
          <a:ln w="25400">
            <a:solidFill>
              <a:srgbClr val="EA580C"/>
            </a:solidFill>
            <a:prstDash val="solid"/>
          </a:ln>
        </p:spPr>
      </p:sp>
      <p:sp>
        <p:nvSpPr>
          <p:cNvPr id="10" name="Text 8"/>
          <p:cNvSpPr txBox="1"/>
          <p:nvPr/>
        </p:nvSpPr>
        <p:spPr>
          <a:xfrm>
            <a:off x="4572000" y="1627632"/>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Palatino Linotype" pitchFamily="34" charset="0"/>
                <a:ea typeface="Palatino Linotype" pitchFamily="34" charset="-122"/>
                <a:cs typeface="Palatino Linotype" pitchFamily="34" charset="-120"/>
              </a:rPr>
              <a:t>2</a:t>
            </a:r>
            <a:endParaRPr lang="en-US" sz="1600" dirty="0"/>
          </a:p>
        </p:txBody>
      </p:sp>
      <p:sp>
        <p:nvSpPr>
          <p:cNvPr id="11" name="Text 9"/>
          <p:cNvSpPr txBox="1"/>
          <p:nvPr/>
        </p:nvSpPr>
        <p:spPr>
          <a:xfrm>
            <a:off x="4572000" y="2240280"/>
            <a:ext cx="3017520" cy="685800"/>
          </a:xfrm>
          <a:prstGeom prst="rect">
            <a:avLst/>
          </a:prstGeom>
          <a:noFill/>
          <a:ln/>
        </p:spPr>
        <p:txBody>
          <a:bodyPr wrap="square" lIns="0" tIns="0" rIns="0" bIns="0" rtlCol="0" anchor="t"/>
          <a:lstStyle/>
          <a:p>
            <a:pPr indent="0" marL="0">
              <a:buNone/>
            </a:pPr>
            <a:r>
              <a:rPr lang="en-US" sz="1700" b="1" dirty="0">
                <a:solidFill>
                  <a:srgbClr val="1E293B"/>
                </a:solidFill>
                <a:latin typeface="Palatino Linotype" pitchFamily="34" charset="0"/>
                <a:ea typeface="Palatino Linotype" pitchFamily="34" charset="-122"/>
                <a:cs typeface="Palatino Linotype" pitchFamily="34" charset="-120"/>
              </a:rPr>
              <a:t>Published too early</a:t>
            </a:r>
            <a:endParaRPr lang="en-US" sz="1700" dirty="0"/>
          </a:p>
        </p:txBody>
      </p:sp>
      <p:sp>
        <p:nvSpPr>
          <p:cNvPr id="12" name="Text 10"/>
          <p:cNvSpPr txBox="1"/>
          <p:nvPr/>
        </p:nvSpPr>
        <p:spPr>
          <a:xfrm>
            <a:off x="4572000" y="2926080"/>
            <a:ext cx="3017520" cy="1463040"/>
          </a:xfrm>
          <a:prstGeom prst="rect">
            <a:avLst/>
          </a:prstGeom>
          <a:noFill/>
          <a:ln/>
        </p:spPr>
        <p:txBody>
          <a:bodyPr wrap="square" lIns="0" tIns="0" rIns="0" bIns="0" rtlCol="0" anchor="t"/>
          <a:lstStyle/>
          <a:p>
            <a:pPr indent="0" marL="0">
              <a:buNone/>
            </a:pPr>
            <a:r>
              <a:rPr lang="en-US" sz="1400" dirty="0">
                <a:solidFill>
                  <a:srgbClr val="536379"/>
                </a:solidFill>
                <a:latin typeface="Palatino Linotype" pitchFamily="34" charset="0"/>
                <a:ea typeface="Palatino Linotype" pitchFamily="34" charset="-122"/>
                <a:cs typeface="Palatino Linotype" pitchFamily="34" charset="-120"/>
              </a:rPr>
              <a:t>More actions → Revert status moves it back to Under Review.</a:t>
            </a:r>
            <a:endParaRPr lang="en-US" sz="1400" dirty="0"/>
          </a:p>
        </p:txBody>
      </p:sp>
      <p:sp>
        <p:nvSpPr>
          <p:cNvPr id="13" name="Shape 11"/>
          <p:cNvSpPr/>
          <p:nvPr/>
        </p:nvSpPr>
        <p:spPr>
          <a:xfrm>
            <a:off x="8046720" y="1371600"/>
            <a:ext cx="3566160" cy="3108960"/>
          </a:xfrm>
          <a:prstGeom prst="roundRect">
            <a:avLst>
              <a:gd name="adj" fmla="val 1765"/>
            </a:avLst>
          </a:prstGeom>
          <a:solidFill>
            <a:srgbClr val="F5F7FA"/>
          </a:solidFill>
          <a:ln w="12700">
            <a:solidFill>
              <a:srgbClr val="E2E8F0"/>
            </a:solidFill>
            <a:prstDash val="solid"/>
          </a:ln>
        </p:spPr>
      </p:sp>
      <p:sp>
        <p:nvSpPr>
          <p:cNvPr id="14" name="Callout number 3"/>
          <p:cNvSpPr/>
          <p:nvPr/>
        </p:nvSpPr>
        <p:spPr>
          <a:xfrm>
            <a:off x="8321040" y="1627632"/>
            <a:ext cx="457200" cy="457200"/>
          </a:xfrm>
          <a:prstGeom prst="ellipse">
            <a:avLst/>
          </a:prstGeom>
          <a:solidFill>
            <a:srgbClr val="1B2A8F"/>
          </a:solidFill>
          <a:ln w="25400">
            <a:solidFill>
              <a:srgbClr val="EA580C"/>
            </a:solidFill>
            <a:prstDash val="solid"/>
          </a:ln>
        </p:spPr>
      </p:sp>
      <p:sp>
        <p:nvSpPr>
          <p:cNvPr id="15" name="Text 13"/>
          <p:cNvSpPr txBox="1"/>
          <p:nvPr/>
        </p:nvSpPr>
        <p:spPr>
          <a:xfrm>
            <a:off x="8321040" y="1627632"/>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Palatino Linotype" pitchFamily="34" charset="0"/>
                <a:ea typeface="Palatino Linotype" pitchFamily="34" charset="-122"/>
                <a:cs typeface="Palatino Linotype" pitchFamily="34" charset="-120"/>
              </a:rPr>
              <a:t>3</a:t>
            </a:r>
            <a:endParaRPr lang="en-US" sz="1600" dirty="0"/>
          </a:p>
        </p:txBody>
      </p:sp>
      <p:sp>
        <p:nvSpPr>
          <p:cNvPr id="16" name="Text 14"/>
          <p:cNvSpPr txBox="1"/>
          <p:nvPr/>
        </p:nvSpPr>
        <p:spPr>
          <a:xfrm>
            <a:off x="8321040" y="2240280"/>
            <a:ext cx="3017520" cy="685800"/>
          </a:xfrm>
          <a:prstGeom prst="rect">
            <a:avLst/>
          </a:prstGeom>
          <a:noFill/>
          <a:ln/>
        </p:spPr>
        <p:txBody>
          <a:bodyPr wrap="square" lIns="0" tIns="0" rIns="0" bIns="0" rtlCol="0" anchor="t"/>
          <a:lstStyle/>
          <a:p>
            <a:pPr indent="0" marL="0">
              <a:buNone/>
            </a:pPr>
            <a:r>
              <a:rPr lang="en-US" sz="1700" b="1" dirty="0">
                <a:solidFill>
                  <a:srgbClr val="1E293B"/>
                </a:solidFill>
                <a:latin typeface="Palatino Linotype" pitchFamily="34" charset="0"/>
                <a:ea typeface="Palatino Linotype" pitchFamily="34" charset="-122"/>
                <a:cs typeface="Palatino Linotype" pitchFamily="34" charset="-120"/>
              </a:rPr>
              <a:t>Forgotten password</a:t>
            </a:r>
            <a:endParaRPr lang="en-US" sz="1700" dirty="0"/>
          </a:p>
        </p:txBody>
      </p:sp>
      <p:sp>
        <p:nvSpPr>
          <p:cNvPr id="17" name="Text 15"/>
          <p:cNvSpPr txBox="1"/>
          <p:nvPr/>
        </p:nvSpPr>
        <p:spPr>
          <a:xfrm>
            <a:off x="8321040" y="2926080"/>
            <a:ext cx="3017520" cy="1463040"/>
          </a:xfrm>
          <a:prstGeom prst="rect">
            <a:avLst/>
          </a:prstGeom>
          <a:noFill/>
          <a:ln/>
        </p:spPr>
        <p:txBody>
          <a:bodyPr wrap="square" lIns="0" tIns="0" rIns="0" bIns="0" rtlCol="0" anchor="t"/>
          <a:lstStyle/>
          <a:p>
            <a:pPr indent="0" marL="0">
              <a:buNone/>
            </a:pPr>
            <a:r>
              <a:rPr lang="en-US" sz="1400" dirty="0">
                <a:solidFill>
                  <a:srgbClr val="536379"/>
                </a:solidFill>
                <a:latin typeface="Palatino Linotype" pitchFamily="34" charset="0"/>
                <a:ea typeface="Palatino Linotype" pitchFamily="34" charset="-122"/>
                <a:cs typeface="Palatino Linotype" pitchFamily="34" charset="-120"/>
              </a:rPr>
              <a:t>On the DQAMP computer run: npm run set-password -- email "new password".</a:t>
            </a:r>
            <a:endParaRPr lang="en-US" sz="1400" dirty="0"/>
          </a:p>
        </p:txBody>
      </p:sp>
      <p:sp>
        <p:nvSpPr>
          <p:cNvPr id="18" name="Shape 16"/>
          <p:cNvSpPr/>
          <p:nvPr/>
        </p:nvSpPr>
        <p:spPr>
          <a:xfrm>
            <a:off x="548640" y="4800600"/>
            <a:ext cx="11064240" cy="822960"/>
          </a:xfrm>
          <a:prstGeom prst="roundRect">
            <a:avLst>
              <a:gd name="adj" fmla="val 8889"/>
            </a:avLst>
          </a:prstGeom>
          <a:solidFill>
            <a:srgbClr val="EEF2FF"/>
          </a:solidFill>
          <a:ln w="12700">
            <a:solidFill>
              <a:srgbClr val="EEF2FF"/>
            </a:solidFill>
            <a:prstDash val="solid"/>
          </a:ln>
        </p:spPr>
      </p:sp>
      <p:sp>
        <p:nvSpPr>
          <p:cNvPr id="19" name="Text 17"/>
          <p:cNvSpPr txBox="1"/>
          <p:nvPr/>
        </p:nvSpPr>
        <p:spPr>
          <a:xfrm>
            <a:off x="749808" y="4892040"/>
            <a:ext cx="10661904" cy="640080"/>
          </a:xfrm>
          <a:prstGeom prst="rect">
            <a:avLst/>
          </a:prstGeom>
          <a:noFill/>
          <a:ln/>
        </p:spPr>
        <p:txBody>
          <a:bodyPr wrap="square" lIns="0" tIns="0" rIns="0" bIns="0" rtlCol="0" anchor="ctr"/>
          <a:lstStyle/>
          <a:p>
            <a:pPr indent="0" marL="0">
              <a:buNone/>
            </a:pPr>
            <a:r>
              <a:rPr lang="en-US" sz="1400" b="1" dirty="0">
                <a:solidFill>
                  <a:srgbClr val="1B2A8F"/>
                </a:solidFill>
                <a:latin typeface="Palatino Linotype" pitchFamily="34" charset="0"/>
                <a:ea typeface="Palatino Linotype" pitchFamily="34" charset="-122"/>
                <a:cs typeface="Palatino Linotype" pitchFamily="34" charset="-120"/>
              </a:rPr>
              <a:t>Rules: </a:t>
            </a:r>
            <a:pPr indent="0" marL="0">
              <a:buNone/>
            </a:pPr>
            <a:r>
              <a:rPr lang="en-US" sz="1400" dirty="0">
                <a:solidFill>
                  <a:srgbClr val="1E293B"/>
                </a:solidFill>
                <a:latin typeface="Palatino Linotype" pitchFamily="34" charset="0"/>
                <a:ea typeface="Palatino Linotype" pitchFamily="34" charset="-122"/>
                <a:cs typeface="Palatino Linotype" pitchFamily="34" charset="-120"/>
              </a:rPr>
              <a:t>users cannot be deleted in this version. Change their role if they leave, and keep at least one other administrator.</a:t>
            </a:r>
            <a:endParaRPr lang="en-US" sz="1400" dirty="0"/>
          </a:p>
        </p:txBody>
      </p:sp>
      <p:sp>
        <p:nvSpPr>
          <p:cNvPr id="20" name="Text 18"/>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36379"/>
                </a:solidFill>
                <a:latin typeface="Palatino Linotype" pitchFamily="34" charset="0"/>
                <a:ea typeface="Palatino Linotype" pitchFamily="34" charset="-122"/>
                <a:cs typeface="Palatino Linotype" pitchFamily="34" charset="-120"/>
              </a:rPr>
              <a:t>DQAMP 2026 · Onboarding for Administrators</a:t>
            </a:r>
            <a:endParaRPr lang="en-US" sz="1000" dirty="0"/>
          </a:p>
        </p:txBody>
      </p:sp>
      <p:sp>
        <p:nvSpPr>
          <p:cNvPr id="21" name="Text 19"/>
          <p:cNvSpPr txBox="1"/>
          <p:nvPr/>
        </p:nvSpPr>
        <p:spPr>
          <a:xfrm>
            <a:off x="11155680" y="6400800"/>
            <a:ext cx="457200" cy="274320"/>
          </a:xfrm>
          <a:prstGeom prst="rect">
            <a:avLst/>
          </a:prstGeom>
          <a:noFill/>
          <a:ln/>
        </p:spPr>
        <p:txBody>
          <a:bodyPr wrap="square" lIns="0" tIns="0" rIns="0" bIns="0" rtlCol="0" anchor="ctr"/>
          <a:lstStyle/>
          <a:p>
            <a:pPr algn="r" indent="0" marL="0">
              <a:buNone/>
            </a:pPr>
            <a:r>
              <a:rPr lang="en-US" sz="1000" dirty="0">
                <a:solidFill>
                  <a:srgbClr val="536379"/>
                </a:solidFill>
                <a:latin typeface="Palatino Linotype" pitchFamily="34" charset="0"/>
                <a:ea typeface="Palatino Linotype" pitchFamily="34" charset="-122"/>
                <a:cs typeface="Palatino Linotype"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indent="0" marL="0">
              <a:buNone/>
            </a:pPr>
            <a:r>
              <a:rPr lang="en-US" sz="3400" b="1" dirty="0">
                <a:solidFill>
                  <a:srgbClr val="1B2A8F"/>
                </a:solidFill>
                <a:latin typeface="Century Gothic" pitchFamily="34" charset="0"/>
                <a:ea typeface="Century Gothic" pitchFamily="34" charset="-122"/>
                <a:cs typeface="Century Gothic" pitchFamily="34" charset="-120"/>
              </a:rPr>
              <a:t>Common problems and fixes</a:t>
            </a:r>
            <a:endParaRPr lang="en-US" sz="34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64240" cy="914400"/>
        </p:xfrm>
        <a:graphic>
          <a:graphicData uri="http://schemas.openxmlformats.org/drawingml/2006/table">
            <a:tbl>
              <a:tblPr/>
              <a:tblGrid>
                <a:gridCol w="4023360"/>
                <a:gridCol w="7040880"/>
              </a:tblGrid>
              <a:tr h="566928">
                <a:tc>
                  <a:txBody>
                    <a:bodyPr/>
                    <a:lstStyle/>
                    <a:p>
                      <a:pPr indent="0" marL="0">
                        <a:buNone/>
                      </a:pPr>
                      <a:r>
                        <a:rPr lang="en-US" sz="1400" b="1" dirty="0">
                          <a:solidFill>
                            <a:srgbClr val="FFFFFF"/>
                          </a:solidFill>
                          <a:latin typeface="Palatino Linotype" pitchFamily="34" charset="0"/>
                          <a:ea typeface="Palatino Linotype" pitchFamily="34" charset="-122"/>
                          <a:cs typeface="Palatino Linotype" pitchFamily="34" charset="-120"/>
                        </a:rPr>
                        <a:t>Problem</a:t>
                      </a:r>
                      <a:endParaRPr lang="en-US" sz="1400" dirty="0">
                        <a:latin typeface="Palatino Linotype" charset="0"/>
                        <a:ea typeface="Palatino Linotype" charset="0"/>
                        <a:cs typeface="Palatino Linotype" charset="0"/>
                      </a:endParaRPr>
                    </a:p>
                  </a:txBody>
                  <a:tcPr marL="109728" marR="109728" marT="54864" marB="54864"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1B2A8F"/>
                    </a:solidFill>
                  </a:tcPr>
                </a:tc>
                <a:tc>
                  <a:txBody>
                    <a:bodyPr/>
                    <a:lstStyle/>
                    <a:p>
                      <a:pPr indent="0" marL="0">
                        <a:buNone/>
                      </a:pPr>
                      <a:r>
                        <a:rPr lang="en-US" sz="1400" b="1" dirty="0">
                          <a:solidFill>
                            <a:srgbClr val="FFFFFF"/>
                          </a:solidFill>
                          <a:latin typeface="Palatino Linotype" pitchFamily="34" charset="0"/>
                          <a:ea typeface="Palatino Linotype" pitchFamily="34" charset="-122"/>
                          <a:cs typeface="Palatino Linotype" pitchFamily="34" charset="-120"/>
                        </a:rPr>
                        <a:t>What to do</a:t>
                      </a:r>
                      <a:endParaRPr lang="en-US" sz="1400" dirty="0">
                        <a:latin typeface="Palatino Linotype" charset="0"/>
                        <a:ea typeface="Palatino Linotype" charset="0"/>
                        <a:cs typeface="Palatino Linotype" charset="0"/>
                      </a:endParaRPr>
                    </a:p>
                  </a:txBody>
                  <a:tcPr marL="109728" marR="109728" marT="54864" marB="54864"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1B2A8F"/>
                    </a:solidFill>
                  </a:tcPr>
                </a:tc>
              </a:tr>
              <a:tr h="566928">
                <a:tc>
                  <a:txBody>
                    <a:bodyPr/>
                    <a:lstStyle/>
                    <a:p>
                      <a:pPr indent="0" marL="0">
                        <a:buNone/>
                      </a:pPr>
                      <a:r>
                        <a:rPr lang="en-US" sz="1400" b="1" dirty="0">
                          <a:solidFill>
                            <a:srgbClr val="1E293B"/>
                          </a:solidFill>
                          <a:latin typeface="Palatino Linotype" pitchFamily="34" charset="0"/>
                          <a:ea typeface="Palatino Linotype" pitchFamily="34" charset="-122"/>
                          <a:cs typeface="Palatino Linotype" pitchFamily="34" charset="-120"/>
                        </a:rPr>
                        <a:t>A user sees no activities</a:t>
                      </a:r>
                      <a:endParaRPr lang="en-US" sz="1400" dirty="0">
                        <a:latin typeface="Palatino Linotype" charset="0"/>
                        <a:ea typeface="Palatino Linotype" charset="0"/>
                        <a:cs typeface="Palatino Linotype" charset="0"/>
                      </a:endParaRPr>
                    </a:p>
                  </a:txBody>
                  <a:tcPr marL="109728" marR="109728" marT="54864" marB="54864"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400" dirty="0">
                          <a:solidFill>
                            <a:srgbClr val="1E293B"/>
                          </a:solidFill>
                          <a:latin typeface="Palatino Linotype" pitchFamily="34" charset="0"/>
                          <a:ea typeface="Palatino Linotype" pitchFamily="34" charset="-122"/>
                          <a:cs typeface="Palatino Linotype" pitchFamily="34" charset="-120"/>
                        </a:rPr>
                        <a:t>Their division is not set. Set it in User Management.</a:t>
                      </a:r>
                      <a:endParaRPr lang="en-US" sz="1400" dirty="0">
                        <a:latin typeface="Palatino Linotype" charset="0"/>
                        <a:ea typeface="Palatino Linotype" charset="0"/>
                        <a:cs typeface="Palatino Linotype" charset="0"/>
                      </a:endParaRPr>
                    </a:p>
                  </a:txBody>
                  <a:tcPr marL="109728" marR="109728" marT="54864" marB="54864"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r h="566928">
                <a:tc>
                  <a:txBody>
                    <a:bodyPr/>
                    <a:lstStyle/>
                    <a:p>
                      <a:pPr indent="0" marL="0">
                        <a:buNone/>
                      </a:pPr>
                      <a:r>
                        <a:rPr lang="en-US" sz="1400" b="1" dirty="0">
                          <a:solidFill>
                            <a:srgbClr val="1E293B"/>
                          </a:solidFill>
                          <a:latin typeface="Palatino Linotype" pitchFamily="34" charset="0"/>
                          <a:ea typeface="Palatino Linotype" pitchFamily="34" charset="-122"/>
                          <a:cs typeface="Palatino Linotype" pitchFamily="34" charset="-120"/>
                        </a:rPr>
                        <a:t>Someone forgot their password</a:t>
                      </a:r>
                      <a:endParaRPr lang="en-US" sz="1400" dirty="0">
                        <a:latin typeface="Palatino Linotype" charset="0"/>
                        <a:ea typeface="Palatino Linotype" charset="0"/>
                        <a:cs typeface="Palatino Linotype" charset="0"/>
                      </a:endParaRPr>
                    </a:p>
                  </a:txBody>
                  <a:tcPr marL="109728" marR="109728" marT="54864" marB="54864"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400" dirty="0">
                          <a:solidFill>
                            <a:srgbClr val="1E293B"/>
                          </a:solidFill>
                          <a:latin typeface="Palatino Linotype" pitchFamily="34" charset="0"/>
                          <a:ea typeface="Palatino Linotype" pitchFamily="34" charset="-122"/>
                          <a:cs typeface="Palatino Linotype" pitchFamily="34" charset="-120"/>
                        </a:rPr>
                        <a:t>Run npm run set-password on the DQAMP computer.</a:t>
                      </a:r>
                      <a:endParaRPr lang="en-US" sz="1400" dirty="0">
                        <a:latin typeface="Palatino Linotype" charset="0"/>
                        <a:ea typeface="Palatino Linotype" charset="0"/>
                        <a:cs typeface="Palatino Linotype" charset="0"/>
                      </a:endParaRPr>
                    </a:p>
                  </a:txBody>
                  <a:tcPr marL="109728" marR="109728" marT="54864" marB="54864"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r h="566928">
                <a:tc>
                  <a:txBody>
                    <a:bodyPr/>
                    <a:lstStyle/>
                    <a:p>
                      <a:pPr indent="0" marL="0">
                        <a:buNone/>
                      </a:pPr>
                      <a:r>
                        <a:rPr lang="en-US" sz="1400" b="1" dirty="0">
                          <a:solidFill>
                            <a:srgbClr val="1E293B"/>
                          </a:solidFill>
                          <a:latin typeface="Palatino Linotype" pitchFamily="34" charset="0"/>
                          <a:ea typeface="Palatino Linotype" pitchFamily="34" charset="-122"/>
                          <a:cs typeface="Palatino Linotype" pitchFamily="34" charset="-120"/>
                        </a:rPr>
                        <a:t>A change is refused</a:t>
                      </a:r>
                      <a:endParaRPr lang="en-US" sz="1400" dirty="0">
                        <a:latin typeface="Palatino Linotype" charset="0"/>
                        <a:ea typeface="Palatino Linotype" charset="0"/>
                        <a:cs typeface="Palatino Linotype" charset="0"/>
                      </a:endParaRPr>
                    </a:p>
                  </a:txBody>
                  <a:tcPr marL="109728" marR="109728" marT="54864" marB="54864"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400" dirty="0">
                          <a:solidFill>
                            <a:srgbClr val="1E293B"/>
                          </a:solidFill>
                          <a:latin typeface="Palatino Linotype" pitchFamily="34" charset="0"/>
                          <a:ea typeface="Palatino Linotype" pitchFamily="34" charset="-122"/>
                          <a:cs typeface="Palatino Linotype" pitchFamily="34" charset="-120"/>
                        </a:rPr>
                        <a:t>Their role or division does not allow it. Check User Management.</a:t>
                      </a:r>
                      <a:endParaRPr lang="en-US" sz="1400" dirty="0">
                        <a:latin typeface="Palatino Linotype" charset="0"/>
                        <a:ea typeface="Palatino Linotype" charset="0"/>
                        <a:cs typeface="Palatino Linotype" charset="0"/>
                      </a:endParaRPr>
                    </a:p>
                  </a:txBody>
                  <a:tcPr marL="109728" marR="109728" marT="54864" marB="54864"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r h="566928">
                <a:tc>
                  <a:txBody>
                    <a:bodyPr/>
                    <a:lstStyle/>
                    <a:p>
                      <a:pPr indent="0" marL="0">
                        <a:buNone/>
                      </a:pPr>
                      <a:r>
                        <a:rPr lang="en-US" sz="1400" b="1" dirty="0">
                          <a:solidFill>
                            <a:srgbClr val="1E293B"/>
                          </a:solidFill>
                          <a:latin typeface="Palatino Linotype" pitchFamily="34" charset="0"/>
                          <a:ea typeface="Palatino Linotype" pitchFamily="34" charset="-122"/>
                          <a:cs typeface="Palatino Linotype" pitchFamily="34" charset="-120"/>
                        </a:rPr>
                        <a:t>DQAMP will not load</a:t>
                      </a:r>
                      <a:endParaRPr lang="en-US" sz="1400" dirty="0">
                        <a:latin typeface="Palatino Linotype" charset="0"/>
                        <a:ea typeface="Palatino Linotype" charset="0"/>
                        <a:cs typeface="Palatino Linotype" charset="0"/>
                      </a:endParaRPr>
                    </a:p>
                  </a:txBody>
                  <a:tcPr marL="109728" marR="109728" marT="54864" marB="54864"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400" dirty="0">
                          <a:solidFill>
                            <a:srgbClr val="1E293B"/>
                          </a:solidFill>
                          <a:latin typeface="Palatino Linotype" pitchFamily="34" charset="0"/>
                          <a:ea typeface="Palatino Linotype" pitchFamily="34" charset="-122"/>
                          <a:cs typeface="Palatino Linotype" pitchFamily="34" charset="-120"/>
                        </a:rPr>
                        <a:t>Keep the DQAMP window open on the host computer. Run start-dqamp.cmd.</a:t>
                      </a:r>
                      <a:endParaRPr lang="en-US" sz="1400" dirty="0">
                        <a:latin typeface="Palatino Linotype" charset="0"/>
                        <a:ea typeface="Palatino Linotype" charset="0"/>
                        <a:cs typeface="Palatino Linotype" charset="0"/>
                      </a:endParaRPr>
                    </a:p>
                  </a:txBody>
                  <a:tcPr marL="109728" marR="109728" marT="54864" marB="54864"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r h="566928">
                <a:tc>
                  <a:txBody>
                    <a:bodyPr/>
                    <a:lstStyle/>
                    <a:p>
                      <a:pPr indent="0" marL="0">
                        <a:buNone/>
                      </a:pPr>
                      <a:r>
                        <a:rPr lang="en-US" sz="1400" b="1" dirty="0">
                          <a:solidFill>
                            <a:srgbClr val="1E293B"/>
                          </a:solidFill>
                          <a:latin typeface="Palatino Linotype" pitchFamily="34" charset="0"/>
                          <a:ea typeface="Palatino Linotype" pitchFamily="34" charset="-122"/>
                          <a:cs typeface="Palatino Linotype" pitchFamily="34" charset="-120"/>
                        </a:rPr>
                        <a:t>The seal is missing</a:t>
                      </a:r>
                      <a:endParaRPr lang="en-US" sz="1400" dirty="0">
                        <a:latin typeface="Palatino Linotype" charset="0"/>
                        <a:ea typeface="Palatino Linotype" charset="0"/>
                        <a:cs typeface="Palatino Linotype" charset="0"/>
                      </a:endParaRPr>
                    </a:p>
                  </a:txBody>
                  <a:tcPr marL="109728" marR="109728" marT="54864" marB="54864"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400" dirty="0">
                          <a:solidFill>
                            <a:srgbClr val="1E293B"/>
                          </a:solidFill>
                          <a:latin typeface="Palatino Linotype" pitchFamily="34" charset="0"/>
                          <a:ea typeface="Palatino Linotype" pitchFamily="34" charset="-122"/>
                          <a:cs typeface="Palatino Linotype" pitchFamily="34" charset="-120"/>
                        </a:rPr>
                        <a:t>Save it as public\deped-lucena-logo.jpg and restart DQAMP.</a:t>
                      </a:r>
                      <a:endParaRPr lang="en-US" sz="1400" dirty="0">
                        <a:latin typeface="Palatino Linotype" charset="0"/>
                        <a:ea typeface="Palatino Linotype" charset="0"/>
                        <a:cs typeface="Palatino Linotype" charset="0"/>
                      </a:endParaRPr>
                    </a:p>
                  </a:txBody>
                  <a:tcPr marL="109728" marR="109728" marT="54864" marB="54864"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bl>
          </a:graphicData>
        </a:graphic>
      </p:graphicFrame>
      <p:sp>
        <p:nvSpPr>
          <p:cNvPr id="4" name="Text 1"/>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36379"/>
                </a:solidFill>
                <a:latin typeface="Palatino Linotype" pitchFamily="34" charset="0"/>
                <a:ea typeface="Palatino Linotype" pitchFamily="34" charset="-122"/>
                <a:cs typeface="Palatino Linotype" pitchFamily="34" charset="-120"/>
              </a:rPr>
              <a:t>DQAMP 2026 · Onboarding for Administrators</a:t>
            </a:r>
            <a:endParaRPr lang="en-US" sz="1000" dirty="0"/>
          </a:p>
        </p:txBody>
      </p:sp>
      <p:sp>
        <p:nvSpPr>
          <p:cNvPr id="5" name="Text 2"/>
          <p:cNvSpPr txBox="1"/>
          <p:nvPr/>
        </p:nvSpPr>
        <p:spPr>
          <a:xfrm>
            <a:off x="11155680" y="6400800"/>
            <a:ext cx="457200" cy="274320"/>
          </a:xfrm>
          <a:prstGeom prst="rect">
            <a:avLst/>
          </a:prstGeom>
          <a:noFill/>
          <a:ln/>
        </p:spPr>
        <p:txBody>
          <a:bodyPr wrap="square" lIns="0" tIns="0" rIns="0" bIns="0" rtlCol="0" anchor="ctr"/>
          <a:lstStyle/>
          <a:p>
            <a:pPr algn="r" indent="0" marL="0">
              <a:buNone/>
            </a:pPr>
            <a:r>
              <a:rPr lang="en-US" sz="1000" dirty="0">
                <a:solidFill>
                  <a:srgbClr val="536379"/>
                </a:solidFill>
                <a:latin typeface="Palatino Linotype" pitchFamily="34" charset="0"/>
                <a:ea typeface="Palatino Linotype" pitchFamily="34" charset="-122"/>
                <a:cs typeface="Palatino Linotype"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indent="0" marL="0">
              <a:buNone/>
            </a:pPr>
            <a:r>
              <a:rPr lang="en-US" sz="3400" b="1" dirty="0">
                <a:solidFill>
                  <a:srgbClr val="1B2A8F"/>
                </a:solidFill>
                <a:latin typeface="Century Gothic" pitchFamily="34" charset="0"/>
                <a:ea typeface="Century Gothic" pitchFamily="34" charset="-122"/>
                <a:cs typeface="Century Gothic" pitchFamily="34" charset="-120"/>
              </a:rPr>
              <a:t>Practice: set up a user and publish</a:t>
            </a:r>
            <a:endParaRPr lang="en-US" sz="3400" dirty="0"/>
          </a:p>
        </p:txBody>
      </p:sp>
      <p:sp>
        <p:nvSpPr>
          <p:cNvPr id="3" name="Shape 1"/>
          <p:cNvSpPr/>
          <p:nvPr/>
        </p:nvSpPr>
        <p:spPr>
          <a:xfrm>
            <a:off x="548640" y="1325880"/>
            <a:ext cx="4206240" cy="4480560"/>
          </a:xfrm>
          <a:prstGeom prst="roundRect">
            <a:avLst>
              <a:gd name="adj" fmla="val 1304"/>
            </a:avLst>
          </a:prstGeom>
          <a:solidFill>
            <a:srgbClr val="1B2A8F"/>
          </a:solidFill>
          <a:ln w="12700">
            <a:solidFill>
              <a:srgbClr val="1B2A8F"/>
            </a:solidFill>
            <a:prstDash val="solid"/>
          </a:ln>
        </p:spPr>
      </p:sp>
      <p:sp>
        <p:nvSpPr>
          <p:cNvPr id="4" name="Text 2"/>
          <p:cNvSpPr txBox="1"/>
          <p:nvPr/>
        </p:nvSpPr>
        <p:spPr>
          <a:xfrm>
            <a:off x="822960" y="1554480"/>
            <a:ext cx="3657600" cy="411480"/>
          </a:xfrm>
          <a:prstGeom prst="rect">
            <a:avLst/>
          </a:prstGeom>
          <a:noFill/>
          <a:ln/>
        </p:spPr>
        <p:txBody>
          <a:bodyPr wrap="square" lIns="0" tIns="0" rIns="0" bIns="0" rtlCol="0" anchor="ctr"/>
          <a:lstStyle/>
          <a:p>
            <a:pPr indent="0" marL="0">
              <a:buNone/>
            </a:pPr>
            <a:r>
              <a:rPr lang="en-US" sz="1800" b="1" dirty="0">
                <a:solidFill>
                  <a:srgbClr val="F2B705"/>
                </a:solidFill>
                <a:latin typeface="Palatino Linotype" pitchFamily="34" charset="0"/>
                <a:ea typeface="Palatino Linotype" pitchFamily="34" charset="-122"/>
                <a:cs typeface="Palatino Linotype" pitchFamily="34" charset="-120"/>
              </a:rPr>
              <a:t>Scenario (fictional)</a:t>
            </a:r>
            <a:endParaRPr lang="en-US" sz="1800" dirty="0"/>
          </a:p>
        </p:txBody>
      </p:sp>
      <p:sp>
        <p:nvSpPr>
          <p:cNvPr id="5" name="Text 3"/>
          <p:cNvSpPr txBox="1"/>
          <p:nvPr/>
        </p:nvSpPr>
        <p:spPr>
          <a:xfrm>
            <a:off x="822960" y="2057400"/>
            <a:ext cx="3657600" cy="2377440"/>
          </a:xfrm>
          <a:prstGeom prst="rect">
            <a:avLst/>
          </a:prstGeom>
          <a:noFill/>
          <a:ln/>
        </p:spPr>
        <p:txBody>
          <a:bodyPr wrap="square" lIns="0" tIns="0" rIns="0" bIns="0" rtlCol="0" anchor="t"/>
          <a:lstStyle/>
          <a:p>
            <a:pPr indent="0" marL="0">
              <a:buNone/>
            </a:pPr>
            <a:r>
              <a:rPr lang="en-US" sz="1500" dirty="0">
                <a:solidFill>
                  <a:srgbClr val="FFFFFF"/>
                </a:solidFill>
                <a:latin typeface="Palatino Linotype" pitchFamily="34" charset="0"/>
                <a:ea typeface="Palatino Linotype" pitchFamily="34" charset="-122"/>
                <a:cs typeface="Palatino Linotype" pitchFamily="34" charset="-120"/>
              </a:rPr>
              <a:t>A new SGOD Implementer, Grace Lim, starts today. Set up her account, then publish an activity that QA has reviewed.</a:t>
            </a:r>
            <a:endParaRPr lang="en-US" sz="1500" dirty="0"/>
          </a:p>
          <a:p>
            <a:pPr indent="0" marL="0">
              <a:buNone/>
            </a:pPr>
            <a:endParaRPr lang="en-US" sz="1500" dirty="0"/>
          </a:p>
          <a:p>
            <a:pPr indent="0" marL="0">
              <a:buNone/>
            </a:pPr>
            <a:r>
              <a:rPr lang="en-US" sz="1500" dirty="0">
                <a:solidFill>
                  <a:srgbClr val="FFFFFF"/>
                </a:solidFill>
                <a:latin typeface="Palatino Linotype" pitchFamily="34" charset="0"/>
                <a:ea typeface="Palatino Linotype" pitchFamily="34" charset="-122"/>
                <a:cs typeface="Palatino Linotype" pitchFamily="34" charset="-120"/>
              </a:rPr>
              <a:t>Use the practice accounts your facilitator gives you.</a:t>
            </a:r>
            <a:endParaRPr lang="en-US" sz="1500" dirty="0"/>
          </a:p>
        </p:txBody>
      </p:sp>
      <p:sp>
        <p:nvSpPr>
          <p:cNvPr id="6" name="Shape 4"/>
          <p:cNvSpPr/>
          <p:nvPr/>
        </p:nvSpPr>
        <p:spPr>
          <a:xfrm>
            <a:off x="777240" y="4800600"/>
            <a:ext cx="3749040" cy="777240"/>
          </a:xfrm>
          <a:prstGeom prst="roundRect">
            <a:avLst>
              <a:gd name="adj" fmla="val 7059"/>
            </a:avLst>
          </a:prstGeom>
          <a:solidFill>
            <a:srgbClr val="15338A"/>
          </a:solidFill>
          <a:ln w="12700">
            <a:solidFill>
              <a:srgbClr val="15338A"/>
            </a:solidFill>
            <a:prstDash val="solid"/>
          </a:ln>
        </p:spPr>
      </p:sp>
      <p:sp>
        <p:nvSpPr>
          <p:cNvPr id="7" name="Text 5"/>
          <p:cNvSpPr txBox="1"/>
          <p:nvPr/>
        </p:nvSpPr>
        <p:spPr>
          <a:xfrm>
            <a:off x="960120" y="4846320"/>
            <a:ext cx="3474720" cy="685800"/>
          </a:xfrm>
          <a:prstGeom prst="rect">
            <a:avLst/>
          </a:prstGeom>
          <a:noFill/>
          <a:ln/>
        </p:spPr>
        <p:txBody>
          <a:bodyPr wrap="square" lIns="0" tIns="0" rIns="0" bIns="0" rtlCol="0" anchor="ctr"/>
          <a:lstStyle/>
          <a:p>
            <a:pPr indent="0" marL="0">
              <a:buNone/>
            </a:pPr>
            <a:r>
              <a:rPr lang="en-US" sz="1500" b="1" dirty="0">
                <a:solidFill>
                  <a:srgbClr val="FFFFFF"/>
                </a:solidFill>
                <a:latin typeface="Palatino Linotype" pitchFamily="34" charset="0"/>
                <a:ea typeface="Palatino Linotype" pitchFamily="34" charset="-122"/>
                <a:cs typeface="Palatino Linotype" pitchFamily="34" charset="-120"/>
              </a:rPr>
              <a:t>About 10 minutes</a:t>
            </a:r>
            <a:endParaRPr lang="en-US" sz="1500" dirty="0"/>
          </a:p>
          <a:p>
            <a:pPr indent="0" marL="0">
              <a:buNone/>
            </a:pPr>
            <a:r>
              <a:rPr lang="en-US" sz="1200" dirty="0">
                <a:solidFill>
                  <a:srgbClr val="CADCFC"/>
                </a:solidFill>
                <a:latin typeface="Palatino Linotype" pitchFamily="34" charset="0"/>
                <a:ea typeface="Palatino Linotype" pitchFamily="34" charset="-122"/>
                <a:cs typeface="Palatino Linotype" pitchFamily="34" charset="-120"/>
              </a:rPr>
              <a:t>Work in pairs if computers are limited</a:t>
            </a:r>
            <a:endParaRPr lang="en-US" sz="1500" dirty="0"/>
          </a:p>
        </p:txBody>
      </p:sp>
      <p:sp>
        <p:nvSpPr>
          <p:cNvPr id="8" name="Callout number 1"/>
          <p:cNvSpPr/>
          <p:nvPr/>
        </p:nvSpPr>
        <p:spPr>
          <a:xfrm>
            <a:off x="5166360" y="1344168"/>
            <a:ext cx="365760" cy="365760"/>
          </a:xfrm>
          <a:prstGeom prst="ellipse">
            <a:avLst/>
          </a:prstGeom>
          <a:solidFill>
            <a:srgbClr val="1B2A8F"/>
          </a:solidFill>
          <a:ln w="25400">
            <a:solidFill>
              <a:srgbClr val="EA580C"/>
            </a:solidFill>
            <a:prstDash val="solid"/>
          </a:ln>
        </p:spPr>
      </p:sp>
      <p:sp>
        <p:nvSpPr>
          <p:cNvPr id="9" name="Text 7"/>
          <p:cNvSpPr txBox="1"/>
          <p:nvPr/>
        </p:nvSpPr>
        <p:spPr>
          <a:xfrm>
            <a:off x="5166360" y="1344168"/>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1</a:t>
            </a:r>
            <a:endParaRPr lang="en-US" sz="1400" dirty="0"/>
          </a:p>
        </p:txBody>
      </p:sp>
      <p:sp>
        <p:nvSpPr>
          <p:cNvPr id="10" name="Legend 1"/>
          <p:cNvSpPr txBox="1"/>
          <p:nvPr/>
        </p:nvSpPr>
        <p:spPr>
          <a:xfrm>
            <a:off x="5696712" y="1325880"/>
            <a:ext cx="5916168" cy="676656"/>
          </a:xfrm>
          <a:prstGeom prst="rect">
            <a:avLst/>
          </a:prstGeom>
          <a:noFill/>
          <a:ln/>
        </p:spPr>
        <p:txBody>
          <a:bodyPr wrap="square" lIns="0" tIns="0" rIns="0" bIns="0" rtlCol="0" anchor="t"/>
          <a:lstStyle/>
          <a:p>
            <a:pPr indent="0" marL="0">
              <a:buNone/>
            </a:pPr>
            <a:r>
              <a:rPr lang="en-US" sz="1600" b="1" dirty="0">
                <a:solidFill>
                  <a:srgbClr val="1E293B"/>
                </a:solidFill>
                <a:latin typeface="Palatino Linotype" pitchFamily="34" charset="0"/>
                <a:ea typeface="Palatino Linotype" pitchFamily="34" charset="-122"/>
                <a:cs typeface="Palatino Linotype" pitchFamily="34" charset="-120"/>
              </a:rPr>
              <a:t>Invite Grace</a:t>
            </a:r>
            <a:endParaRPr lang="en-US" sz="1600" dirty="0"/>
          </a:p>
          <a:p>
            <a:pPr indent="0" marL="0">
              <a:buNone/>
            </a:pPr>
            <a:r>
              <a:rPr lang="en-US" sz="1400" dirty="0">
                <a:solidFill>
                  <a:srgbClr val="536379"/>
                </a:solidFill>
                <a:latin typeface="Palatino Linotype" pitchFamily="34" charset="0"/>
                <a:ea typeface="Palatino Linotype" pitchFamily="34" charset="-122"/>
                <a:cs typeface="Palatino Linotype" pitchFamily="34" charset="-120"/>
              </a:rPr>
              <a:t>Implementer, division SGOD.</a:t>
            </a:r>
            <a:endParaRPr lang="en-US" sz="1600" dirty="0"/>
          </a:p>
        </p:txBody>
      </p:sp>
      <p:sp>
        <p:nvSpPr>
          <p:cNvPr id="11" name="Callout number 2"/>
          <p:cNvSpPr/>
          <p:nvPr/>
        </p:nvSpPr>
        <p:spPr>
          <a:xfrm>
            <a:off x="5166360" y="2075688"/>
            <a:ext cx="365760" cy="365760"/>
          </a:xfrm>
          <a:prstGeom prst="ellipse">
            <a:avLst/>
          </a:prstGeom>
          <a:solidFill>
            <a:srgbClr val="1B2A8F"/>
          </a:solidFill>
          <a:ln w="25400">
            <a:solidFill>
              <a:srgbClr val="EA580C"/>
            </a:solidFill>
            <a:prstDash val="solid"/>
          </a:ln>
        </p:spPr>
      </p:sp>
      <p:sp>
        <p:nvSpPr>
          <p:cNvPr id="12" name="Text 10"/>
          <p:cNvSpPr txBox="1"/>
          <p:nvPr/>
        </p:nvSpPr>
        <p:spPr>
          <a:xfrm>
            <a:off x="5166360" y="2075688"/>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2</a:t>
            </a:r>
            <a:endParaRPr lang="en-US" sz="1400" dirty="0"/>
          </a:p>
        </p:txBody>
      </p:sp>
      <p:sp>
        <p:nvSpPr>
          <p:cNvPr id="13" name="Legend 2"/>
          <p:cNvSpPr txBox="1"/>
          <p:nvPr/>
        </p:nvSpPr>
        <p:spPr>
          <a:xfrm>
            <a:off x="5696712" y="2057400"/>
            <a:ext cx="5916168" cy="676656"/>
          </a:xfrm>
          <a:prstGeom prst="rect">
            <a:avLst/>
          </a:prstGeom>
          <a:noFill/>
          <a:ln/>
        </p:spPr>
        <p:txBody>
          <a:bodyPr wrap="square" lIns="0" tIns="0" rIns="0" bIns="0" rtlCol="0" anchor="t"/>
          <a:lstStyle/>
          <a:p>
            <a:pPr indent="0" marL="0">
              <a:buNone/>
            </a:pPr>
            <a:r>
              <a:rPr lang="en-US" sz="1600" b="1" dirty="0">
                <a:solidFill>
                  <a:srgbClr val="1E293B"/>
                </a:solidFill>
                <a:latin typeface="Palatino Linotype" pitchFamily="34" charset="0"/>
                <a:ea typeface="Palatino Linotype" pitchFamily="34" charset="-122"/>
                <a:cs typeface="Palatino Linotype" pitchFamily="34" charset="-120"/>
              </a:rPr>
              <a:t>Copy the temporary password</a:t>
            </a:r>
            <a:endParaRPr lang="en-US" sz="1600" dirty="0"/>
          </a:p>
          <a:p>
            <a:pPr indent="0" marL="0">
              <a:buNone/>
            </a:pPr>
            <a:r>
              <a:rPr lang="en-US" sz="1400" dirty="0">
                <a:solidFill>
                  <a:srgbClr val="536379"/>
                </a:solidFill>
                <a:latin typeface="Palatino Linotype" pitchFamily="34" charset="0"/>
                <a:ea typeface="Palatino Linotype" pitchFamily="34" charset="-122"/>
                <a:cs typeface="Palatino Linotype" pitchFamily="34" charset="-120"/>
              </a:rPr>
              <a:t>Paste it into a note for her.</a:t>
            </a:r>
            <a:endParaRPr lang="en-US" sz="1600" dirty="0"/>
          </a:p>
        </p:txBody>
      </p:sp>
      <p:sp>
        <p:nvSpPr>
          <p:cNvPr id="14" name="Callout number 3"/>
          <p:cNvSpPr/>
          <p:nvPr/>
        </p:nvSpPr>
        <p:spPr>
          <a:xfrm>
            <a:off x="5166360" y="2807208"/>
            <a:ext cx="365760" cy="365760"/>
          </a:xfrm>
          <a:prstGeom prst="ellipse">
            <a:avLst/>
          </a:prstGeom>
          <a:solidFill>
            <a:srgbClr val="1B2A8F"/>
          </a:solidFill>
          <a:ln w="25400">
            <a:solidFill>
              <a:srgbClr val="EA580C"/>
            </a:solidFill>
            <a:prstDash val="solid"/>
          </a:ln>
        </p:spPr>
      </p:sp>
      <p:sp>
        <p:nvSpPr>
          <p:cNvPr id="15" name="Text 13"/>
          <p:cNvSpPr txBox="1"/>
          <p:nvPr/>
        </p:nvSpPr>
        <p:spPr>
          <a:xfrm>
            <a:off x="5166360" y="2807208"/>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3</a:t>
            </a:r>
            <a:endParaRPr lang="en-US" sz="1400" dirty="0"/>
          </a:p>
        </p:txBody>
      </p:sp>
      <p:sp>
        <p:nvSpPr>
          <p:cNvPr id="16" name="Legend 3"/>
          <p:cNvSpPr txBox="1"/>
          <p:nvPr/>
        </p:nvSpPr>
        <p:spPr>
          <a:xfrm>
            <a:off x="5696712" y="2788920"/>
            <a:ext cx="5916168" cy="676656"/>
          </a:xfrm>
          <a:prstGeom prst="rect">
            <a:avLst/>
          </a:prstGeom>
          <a:noFill/>
          <a:ln/>
        </p:spPr>
        <p:txBody>
          <a:bodyPr wrap="square" lIns="0" tIns="0" rIns="0" bIns="0" rtlCol="0" anchor="t"/>
          <a:lstStyle/>
          <a:p>
            <a:pPr indent="0" marL="0">
              <a:buNone/>
            </a:pPr>
            <a:r>
              <a:rPr lang="en-US" sz="1600" b="1" dirty="0">
                <a:solidFill>
                  <a:srgbClr val="1E293B"/>
                </a:solidFill>
                <a:latin typeface="Palatino Linotype" pitchFamily="34" charset="0"/>
                <a:ea typeface="Palatino Linotype" pitchFamily="34" charset="-122"/>
                <a:cs typeface="Palatino Linotype" pitchFamily="34" charset="-120"/>
              </a:rPr>
              <a:t>Change her division</a:t>
            </a:r>
            <a:endParaRPr lang="en-US" sz="1600" dirty="0"/>
          </a:p>
          <a:p>
            <a:pPr indent="0" marL="0">
              <a:buNone/>
            </a:pPr>
            <a:r>
              <a:rPr lang="en-US" sz="1400" dirty="0">
                <a:solidFill>
                  <a:srgbClr val="536379"/>
                </a:solidFill>
                <a:latin typeface="Palatino Linotype" pitchFamily="34" charset="0"/>
                <a:ea typeface="Palatino Linotype" pitchFamily="34" charset="-122"/>
                <a:cs typeface="Palatino Linotype" pitchFamily="34" charset="-120"/>
              </a:rPr>
              <a:t>Set CID, then back to SGOD.</a:t>
            </a:r>
            <a:endParaRPr lang="en-US" sz="1600" dirty="0"/>
          </a:p>
        </p:txBody>
      </p:sp>
      <p:sp>
        <p:nvSpPr>
          <p:cNvPr id="17" name="Callout number 4"/>
          <p:cNvSpPr/>
          <p:nvPr/>
        </p:nvSpPr>
        <p:spPr>
          <a:xfrm>
            <a:off x="5166360" y="3538728"/>
            <a:ext cx="365760" cy="365760"/>
          </a:xfrm>
          <a:prstGeom prst="ellipse">
            <a:avLst/>
          </a:prstGeom>
          <a:solidFill>
            <a:srgbClr val="1B2A8F"/>
          </a:solidFill>
          <a:ln w="25400">
            <a:solidFill>
              <a:srgbClr val="EA580C"/>
            </a:solidFill>
            <a:prstDash val="solid"/>
          </a:ln>
        </p:spPr>
      </p:sp>
      <p:sp>
        <p:nvSpPr>
          <p:cNvPr id="18" name="Text 16"/>
          <p:cNvSpPr txBox="1"/>
          <p:nvPr/>
        </p:nvSpPr>
        <p:spPr>
          <a:xfrm>
            <a:off x="5166360" y="3538728"/>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4</a:t>
            </a:r>
            <a:endParaRPr lang="en-US" sz="1400" dirty="0"/>
          </a:p>
        </p:txBody>
      </p:sp>
      <p:sp>
        <p:nvSpPr>
          <p:cNvPr id="19" name="Legend 4"/>
          <p:cNvSpPr txBox="1"/>
          <p:nvPr/>
        </p:nvSpPr>
        <p:spPr>
          <a:xfrm>
            <a:off x="5696712" y="3520440"/>
            <a:ext cx="5916168" cy="676656"/>
          </a:xfrm>
          <a:prstGeom prst="rect">
            <a:avLst/>
          </a:prstGeom>
          <a:noFill/>
          <a:ln/>
        </p:spPr>
        <p:txBody>
          <a:bodyPr wrap="square" lIns="0" tIns="0" rIns="0" bIns="0" rtlCol="0" anchor="t"/>
          <a:lstStyle/>
          <a:p>
            <a:pPr indent="0" marL="0">
              <a:buNone/>
            </a:pPr>
            <a:r>
              <a:rPr lang="en-US" sz="1600" b="1" dirty="0">
                <a:solidFill>
                  <a:srgbClr val="1E293B"/>
                </a:solidFill>
                <a:latin typeface="Palatino Linotype" pitchFamily="34" charset="0"/>
                <a:ea typeface="Palatino Linotype" pitchFamily="34" charset="-122"/>
                <a:cs typeface="Palatino Linotype" pitchFamily="34" charset="-120"/>
              </a:rPr>
              <a:t>Publish an activity</a:t>
            </a:r>
            <a:endParaRPr lang="en-US" sz="1600" dirty="0"/>
          </a:p>
          <a:p>
            <a:pPr indent="0" marL="0">
              <a:buNone/>
            </a:pPr>
            <a:r>
              <a:rPr lang="en-US" sz="1400" dirty="0">
                <a:solidFill>
                  <a:srgbClr val="536379"/>
                </a:solidFill>
                <a:latin typeface="Palatino Linotype" pitchFamily="34" charset="0"/>
                <a:ea typeface="Palatino Linotype" pitchFamily="34" charset="-122"/>
                <a:cs typeface="Palatino Linotype" pitchFamily="34" charset="-120"/>
              </a:rPr>
              <a:t>Division Orientation on Learner Support.</a:t>
            </a:r>
            <a:endParaRPr lang="en-US" sz="1600" dirty="0"/>
          </a:p>
        </p:txBody>
      </p:sp>
      <p:sp>
        <p:nvSpPr>
          <p:cNvPr id="20" name="Callout number 5"/>
          <p:cNvSpPr/>
          <p:nvPr/>
        </p:nvSpPr>
        <p:spPr>
          <a:xfrm>
            <a:off x="5166360" y="4270248"/>
            <a:ext cx="365760" cy="365760"/>
          </a:xfrm>
          <a:prstGeom prst="ellipse">
            <a:avLst/>
          </a:prstGeom>
          <a:solidFill>
            <a:srgbClr val="1B2A8F"/>
          </a:solidFill>
          <a:ln w="25400">
            <a:solidFill>
              <a:srgbClr val="EA580C"/>
            </a:solidFill>
            <a:prstDash val="solid"/>
          </a:ln>
        </p:spPr>
      </p:sp>
      <p:sp>
        <p:nvSpPr>
          <p:cNvPr id="21" name="Text 19"/>
          <p:cNvSpPr txBox="1"/>
          <p:nvPr/>
        </p:nvSpPr>
        <p:spPr>
          <a:xfrm>
            <a:off x="5166360" y="4270248"/>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5</a:t>
            </a:r>
            <a:endParaRPr lang="en-US" sz="1400" dirty="0"/>
          </a:p>
        </p:txBody>
      </p:sp>
      <p:sp>
        <p:nvSpPr>
          <p:cNvPr id="22" name="Legend 5"/>
          <p:cNvSpPr txBox="1"/>
          <p:nvPr/>
        </p:nvSpPr>
        <p:spPr>
          <a:xfrm>
            <a:off x="5696712" y="4251960"/>
            <a:ext cx="5916168" cy="676656"/>
          </a:xfrm>
          <a:prstGeom prst="rect">
            <a:avLst/>
          </a:prstGeom>
          <a:noFill/>
          <a:ln/>
        </p:spPr>
        <p:txBody>
          <a:bodyPr wrap="square" lIns="0" tIns="0" rIns="0" bIns="0" rtlCol="0" anchor="t"/>
          <a:lstStyle/>
          <a:p>
            <a:pPr indent="0" marL="0">
              <a:buNone/>
            </a:pPr>
            <a:r>
              <a:rPr lang="en-US" sz="1600" b="1" dirty="0">
                <a:solidFill>
                  <a:srgbClr val="1E293B"/>
                </a:solidFill>
                <a:latin typeface="Palatino Linotype" pitchFamily="34" charset="0"/>
                <a:ea typeface="Palatino Linotype" pitchFamily="34" charset="-122"/>
                <a:cs typeface="Palatino Linotype" pitchFamily="34" charset="-120"/>
              </a:rPr>
              <a:t>Revert it</a:t>
            </a:r>
            <a:endParaRPr lang="en-US" sz="1600" dirty="0"/>
          </a:p>
          <a:p>
            <a:pPr indent="0" marL="0">
              <a:buNone/>
            </a:pPr>
            <a:r>
              <a:rPr lang="en-US" sz="1400" dirty="0">
                <a:solidFill>
                  <a:srgbClr val="536379"/>
                </a:solidFill>
                <a:latin typeface="Palatino Linotype" pitchFamily="34" charset="0"/>
                <a:ea typeface="Palatino Linotype" pitchFamily="34" charset="-122"/>
                <a:cs typeface="Palatino Linotype" pitchFamily="34" charset="-120"/>
              </a:rPr>
              <a:t>Move it back to Under Review.</a:t>
            </a:r>
            <a:endParaRPr lang="en-US" sz="1600" dirty="0"/>
          </a:p>
        </p:txBody>
      </p:sp>
      <p:sp>
        <p:nvSpPr>
          <p:cNvPr id="23" name="Shape 21"/>
          <p:cNvSpPr/>
          <p:nvPr/>
        </p:nvSpPr>
        <p:spPr>
          <a:xfrm>
            <a:off x="5166360" y="5074920"/>
            <a:ext cx="6446520" cy="731520"/>
          </a:xfrm>
          <a:prstGeom prst="roundRect">
            <a:avLst>
              <a:gd name="adj" fmla="val 10000"/>
            </a:avLst>
          </a:prstGeom>
          <a:solidFill>
            <a:srgbClr val="EEF2FF"/>
          </a:solidFill>
          <a:ln w="12700">
            <a:solidFill>
              <a:srgbClr val="EEF2FF"/>
            </a:solidFill>
            <a:prstDash val="solid"/>
          </a:ln>
        </p:spPr>
      </p:sp>
      <p:sp>
        <p:nvSpPr>
          <p:cNvPr id="24" name="Text 22"/>
          <p:cNvSpPr txBox="1"/>
          <p:nvPr/>
        </p:nvSpPr>
        <p:spPr>
          <a:xfrm>
            <a:off x="5367528" y="5166360"/>
            <a:ext cx="6044184" cy="548640"/>
          </a:xfrm>
          <a:prstGeom prst="rect">
            <a:avLst/>
          </a:prstGeom>
          <a:noFill/>
          <a:ln/>
        </p:spPr>
        <p:txBody>
          <a:bodyPr wrap="square" lIns="0" tIns="0" rIns="0" bIns="0" rtlCol="0" anchor="ctr"/>
          <a:lstStyle/>
          <a:p>
            <a:pPr indent="0" marL="0">
              <a:buNone/>
            </a:pPr>
            <a:r>
              <a:rPr lang="en-US" sz="1400" b="1" dirty="0">
                <a:solidFill>
                  <a:srgbClr val="1B2A8F"/>
                </a:solidFill>
                <a:latin typeface="Palatino Linotype" pitchFamily="34" charset="0"/>
                <a:ea typeface="Palatino Linotype" pitchFamily="34" charset="-122"/>
                <a:cs typeface="Palatino Linotype" pitchFamily="34" charset="-120"/>
              </a:rPr>
              <a:t>Done when: </a:t>
            </a:r>
            <a:pPr indent="0" marL="0">
              <a:buNone/>
            </a:pPr>
            <a:r>
              <a:rPr lang="en-US" sz="1400" dirty="0">
                <a:solidFill>
                  <a:srgbClr val="1E293B"/>
                </a:solidFill>
                <a:latin typeface="Palatino Linotype" pitchFamily="34" charset="0"/>
                <a:ea typeface="Palatino Linotype" pitchFamily="34" charset="-122"/>
                <a:cs typeface="Palatino Linotype" pitchFamily="34" charset="-120"/>
              </a:rPr>
              <a:t>Grace shows division SGOD, and the activity is back to Under Review.</a:t>
            </a:r>
            <a:endParaRPr lang="en-US" sz="1400" dirty="0"/>
          </a:p>
        </p:txBody>
      </p:sp>
      <p:sp>
        <p:nvSpPr>
          <p:cNvPr id="25" name="Text 23"/>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36379"/>
                </a:solidFill>
                <a:latin typeface="Palatino Linotype" pitchFamily="34" charset="0"/>
                <a:ea typeface="Palatino Linotype" pitchFamily="34" charset="-122"/>
                <a:cs typeface="Palatino Linotype" pitchFamily="34" charset="-120"/>
              </a:rPr>
              <a:t>DQAMP 2026 · Onboarding for Administrators</a:t>
            </a:r>
            <a:endParaRPr lang="en-US" sz="1000" dirty="0"/>
          </a:p>
        </p:txBody>
      </p:sp>
      <p:sp>
        <p:nvSpPr>
          <p:cNvPr id="26" name="Text 24"/>
          <p:cNvSpPr txBox="1"/>
          <p:nvPr/>
        </p:nvSpPr>
        <p:spPr>
          <a:xfrm>
            <a:off x="11155680" y="6400800"/>
            <a:ext cx="457200" cy="274320"/>
          </a:xfrm>
          <a:prstGeom prst="rect">
            <a:avLst/>
          </a:prstGeom>
          <a:noFill/>
          <a:ln/>
        </p:spPr>
        <p:txBody>
          <a:bodyPr wrap="square" lIns="0" tIns="0" rIns="0" bIns="0" rtlCol="0" anchor="ctr"/>
          <a:lstStyle/>
          <a:p>
            <a:pPr algn="r" indent="0" marL="0">
              <a:buNone/>
            </a:pPr>
            <a:r>
              <a:rPr lang="en-US" sz="1000" dirty="0">
                <a:solidFill>
                  <a:srgbClr val="536379"/>
                </a:solidFill>
                <a:latin typeface="Palatino Linotype" pitchFamily="34" charset="0"/>
                <a:ea typeface="Palatino Linotype" pitchFamily="34" charset="-122"/>
                <a:cs typeface="Palatino Linotype"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indent="0" marL="0">
              <a:buNone/>
            </a:pPr>
            <a:r>
              <a:rPr lang="en-US" sz="3400" b="1" dirty="0">
                <a:solidFill>
                  <a:srgbClr val="1B2A8F"/>
                </a:solidFill>
                <a:latin typeface="Century Gothic" pitchFamily="34" charset="0"/>
                <a:ea typeface="Century Gothic" pitchFamily="34" charset="-122"/>
                <a:cs typeface="Century Gothic" pitchFamily="34" charset="-120"/>
              </a:rPr>
              <a:t>Where to get help</a:t>
            </a:r>
            <a:endParaRPr lang="en-US" sz="3400" dirty="0"/>
          </a:p>
        </p:txBody>
      </p:sp>
      <p:sp>
        <p:nvSpPr>
          <p:cNvPr id="3" name="Shape 1"/>
          <p:cNvSpPr/>
          <p:nvPr/>
        </p:nvSpPr>
        <p:spPr>
          <a:xfrm>
            <a:off x="548640" y="1371600"/>
            <a:ext cx="3566160" cy="3108960"/>
          </a:xfrm>
          <a:prstGeom prst="roundRect">
            <a:avLst>
              <a:gd name="adj" fmla="val 1765"/>
            </a:avLst>
          </a:prstGeom>
          <a:solidFill>
            <a:srgbClr val="F5F7FA"/>
          </a:solidFill>
          <a:ln w="12700">
            <a:solidFill>
              <a:srgbClr val="E2E8F0"/>
            </a:solidFill>
            <a:prstDash val="solid"/>
          </a:ln>
        </p:spPr>
      </p:sp>
      <p:sp>
        <p:nvSpPr>
          <p:cNvPr id="4" name="Callout number 1"/>
          <p:cNvSpPr/>
          <p:nvPr/>
        </p:nvSpPr>
        <p:spPr>
          <a:xfrm>
            <a:off x="822960" y="1627632"/>
            <a:ext cx="457200" cy="457200"/>
          </a:xfrm>
          <a:prstGeom prst="ellipse">
            <a:avLst/>
          </a:prstGeom>
          <a:solidFill>
            <a:srgbClr val="1B2A8F"/>
          </a:solidFill>
          <a:ln w="25400">
            <a:solidFill>
              <a:srgbClr val="EA580C"/>
            </a:solidFill>
            <a:prstDash val="solid"/>
          </a:ln>
        </p:spPr>
      </p:sp>
      <p:sp>
        <p:nvSpPr>
          <p:cNvPr id="5" name="Text 3"/>
          <p:cNvSpPr txBox="1"/>
          <p:nvPr/>
        </p:nvSpPr>
        <p:spPr>
          <a:xfrm>
            <a:off x="822960" y="1627632"/>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Palatino Linotype" pitchFamily="34" charset="0"/>
                <a:ea typeface="Palatino Linotype" pitchFamily="34" charset="-122"/>
                <a:cs typeface="Palatino Linotype" pitchFamily="34" charset="-120"/>
              </a:rPr>
              <a:t>1</a:t>
            </a:r>
            <a:endParaRPr lang="en-US" sz="1600" dirty="0"/>
          </a:p>
        </p:txBody>
      </p:sp>
      <p:sp>
        <p:nvSpPr>
          <p:cNvPr id="6" name="Text 4"/>
          <p:cNvSpPr txBox="1"/>
          <p:nvPr/>
        </p:nvSpPr>
        <p:spPr>
          <a:xfrm>
            <a:off x="822960" y="2240280"/>
            <a:ext cx="3017520" cy="685800"/>
          </a:xfrm>
          <a:prstGeom prst="rect">
            <a:avLst/>
          </a:prstGeom>
          <a:noFill/>
          <a:ln/>
        </p:spPr>
        <p:txBody>
          <a:bodyPr wrap="square" lIns="0" tIns="0" rIns="0" bIns="0" rtlCol="0" anchor="t"/>
          <a:lstStyle/>
          <a:p>
            <a:pPr indent="0" marL="0">
              <a:buNone/>
            </a:pPr>
            <a:r>
              <a:rPr lang="en-US" sz="1700" b="1" dirty="0">
                <a:solidFill>
                  <a:srgbClr val="1E293B"/>
                </a:solidFill>
                <a:latin typeface="Palatino Linotype" pitchFamily="34" charset="0"/>
                <a:ea typeface="Palatino Linotype" pitchFamily="34" charset="-122"/>
                <a:cs typeface="Palatino Linotype" pitchFamily="34" charset="-120"/>
              </a:rPr>
              <a:t>Your administrator</a:t>
            </a:r>
            <a:endParaRPr lang="en-US" sz="1700" dirty="0"/>
          </a:p>
        </p:txBody>
      </p:sp>
      <p:sp>
        <p:nvSpPr>
          <p:cNvPr id="7" name="Text 5"/>
          <p:cNvSpPr txBox="1"/>
          <p:nvPr/>
        </p:nvSpPr>
        <p:spPr>
          <a:xfrm>
            <a:off x="822960" y="2926080"/>
            <a:ext cx="3017520" cy="1463040"/>
          </a:xfrm>
          <a:prstGeom prst="rect">
            <a:avLst/>
          </a:prstGeom>
          <a:noFill/>
          <a:ln/>
        </p:spPr>
        <p:txBody>
          <a:bodyPr wrap="square" lIns="0" tIns="0" rIns="0" bIns="0" rtlCol="0" anchor="t"/>
          <a:lstStyle/>
          <a:p>
            <a:pPr indent="0" marL="0">
              <a:buNone/>
            </a:pPr>
            <a:r>
              <a:rPr lang="en-US" sz="1400" dirty="0">
                <a:solidFill>
                  <a:srgbClr val="536379"/>
                </a:solidFill>
                <a:latin typeface="Palatino Linotype" pitchFamily="34" charset="0"/>
                <a:ea typeface="Palatino Linotype" pitchFamily="34" charset="-122"/>
                <a:cs typeface="Palatino Linotype" pitchFamily="34" charset="-120"/>
              </a:rPr>
              <a:t>Accounts, passwords, roles, divisions, and anything DQAMP will not let you change.</a:t>
            </a:r>
            <a:endParaRPr lang="en-US" sz="1400" dirty="0"/>
          </a:p>
        </p:txBody>
      </p:sp>
      <p:sp>
        <p:nvSpPr>
          <p:cNvPr id="8" name="Shape 6"/>
          <p:cNvSpPr/>
          <p:nvPr/>
        </p:nvSpPr>
        <p:spPr>
          <a:xfrm>
            <a:off x="4297680" y="1371600"/>
            <a:ext cx="3566160" cy="3108960"/>
          </a:xfrm>
          <a:prstGeom prst="roundRect">
            <a:avLst>
              <a:gd name="adj" fmla="val 1765"/>
            </a:avLst>
          </a:prstGeom>
          <a:solidFill>
            <a:srgbClr val="F5F7FA"/>
          </a:solidFill>
          <a:ln w="12700">
            <a:solidFill>
              <a:srgbClr val="E2E8F0"/>
            </a:solidFill>
            <a:prstDash val="solid"/>
          </a:ln>
        </p:spPr>
      </p:sp>
      <p:sp>
        <p:nvSpPr>
          <p:cNvPr id="9" name="Callout number 2"/>
          <p:cNvSpPr/>
          <p:nvPr/>
        </p:nvSpPr>
        <p:spPr>
          <a:xfrm>
            <a:off x="4572000" y="1627632"/>
            <a:ext cx="457200" cy="457200"/>
          </a:xfrm>
          <a:prstGeom prst="ellipse">
            <a:avLst/>
          </a:prstGeom>
          <a:solidFill>
            <a:srgbClr val="1B2A8F"/>
          </a:solidFill>
          <a:ln w="25400">
            <a:solidFill>
              <a:srgbClr val="EA580C"/>
            </a:solidFill>
            <a:prstDash val="solid"/>
          </a:ln>
        </p:spPr>
      </p:sp>
      <p:sp>
        <p:nvSpPr>
          <p:cNvPr id="10" name="Text 8"/>
          <p:cNvSpPr txBox="1"/>
          <p:nvPr/>
        </p:nvSpPr>
        <p:spPr>
          <a:xfrm>
            <a:off x="4572000" y="1627632"/>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Palatino Linotype" pitchFamily="34" charset="0"/>
                <a:ea typeface="Palatino Linotype" pitchFamily="34" charset="-122"/>
                <a:cs typeface="Palatino Linotype" pitchFamily="34" charset="-120"/>
              </a:rPr>
              <a:t>2</a:t>
            </a:r>
            <a:endParaRPr lang="en-US" sz="1600" dirty="0"/>
          </a:p>
        </p:txBody>
      </p:sp>
      <p:sp>
        <p:nvSpPr>
          <p:cNvPr id="11" name="Text 9"/>
          <p:cNvSpPr txBox="1"/>
          <p:nvPr/>
        </p:nvSpPr>
        <p:spPr>
          <a:xfrm>
            <a:off x="4572000" y="2240280"/>
            <a:ext cx="3017520" cy="685800"/>
          </a:xfrm>
          <a:prstGeom prst="rect">
            <a:avLst/>
          </a:prstGeom>
          <a:noFill/>
          <a:ln/>
        </p:spPr>
        <p:txBody>
          <a:bodyPr wrap="square" lIns="0" tIns="0" rIns="0" bIns="0" rtlCol="0" anchor="t"/>
          <a:lstStyle/>
          <a:p>
            <a:pPr indent="0" marL="0">
              <a:buNone/>
            </a:pPr>
            <a:r>
              <a:rPr lang="en-US" sz="1700" b="1" dirty="0">
                <a:solidFill>
                  <a:srgbClr val="1E293B"/>
                </a:solidFill>
                <a:latin typeface="Palatino Linotype" pitchFamily="34" charset="0"/>
                <a:ea typeface="Palatino Linotype" pitchFamily="34" charset="-122"/>
                <a:cs typeface="Palatino Linotype" pitchFamily="34" charset="-120"/>
              </a:rPr>
              <a:t>This guide</a:t>
            </a:r>
            <a:endParaRPr lang="en-US" sz="1700" dirty="0"/>
          </a:p>
        </p:txBody>
      </p:sp>
      <p:sp>
        <p:nvSpPr>
          <p:cNvPr id="12" name="Text 10"/>
          <p:cNvSpPr txBox="1"/>
          <p:nvPr/>
        </p:nvSpPr>
        <p:spPr>
          <a:xfrm>
            <a:off x="4572000" y="2926080"/>
            <a:ext cx="3017520" cy="1463040"/>
          </a:xfrm>
          <a:prstGeom prst="rect">
            <a:avLst/>
          </a:prstGeom>
          <a:noFill/>
          <a:ln/>
        </p:spPr>
        <p:txBody>
          <a:bodyPr wrap="square" lIns="0" tIns="0" rIns="0" bIns="0" rtlCol="0" anchor="t"/>
          <a:lstStyle/>
          <a:p>
            <a:pPr indent="0" marL="0">
              <a:buNone/>
            </a:pPr>
            <a:r>
              <a:rPr lang="en-US" sz="1400" dirty="0">
                <a:solidFill>
                  <a:srgbClr val="536379"/>
                </a:solidFill>
                <a:latin typeface="Palatino Linotype" pitchFamily="34" charset="0"/>
                <a:ea typeface="Palatino Linotype" pitchFamily="34" charset="-122"/>
                <a:cs typeface="Palatino Linotype" pitchFamily="34" charset="-120"/>
              </a:rPr>
              <a:t>Keep the checklist on the last slide beside you. Print it if that helps.</a:t>
            </a:r>
            <a:endParaRPr lang="en-US" sz="1400" dirty="0"/>
          </a:p>
        </p:txBody>
      </p:sp>
      <p:sp>
        <p:nvSpPr>
          <p:cNvPr id="13" name="Shape 11"/>
          <p:cNvSpPr/>
          <p:nvPr/>
        </p:nvSpPr>
        <p:spPr>
          <a:xfrm>
            <a:off x="8046720" y="1371600"/>
            <a:ext cx="3566160" cy="3108960"/>
          </a:xfrm>
          <a:prstGeom prst="roundRect">
            <a:avLst>
              <a:gd name="adj" fmla="val 1765"/>
            </a:avLst>
          </a:prstGeom>
          <a:solidFill>
            <a:srgbClr val="F5F7FA"/>
          </a:solidFill>
          <a:ln w="12700">
            <a:solidFill>
              <a:srgbClr val="E2E8F0"/>
            </a:solidFill>
            <a:prstDash val="solid"/>
          </a:ln>
        </p:spPr>
      </p:sp>
      <p:sp>
        <p:nvSpPr>
          <p:cNvPr id="14" name="Callout number 3"/>
          <p:cNvSpPr/>
          <p:nvPr/>
        </p:nvSpPr>
        <p:spPr>
          <a:xfrm>
            <a:off x="8321040" y="1627632"/>
            <a:ext cx="457200" cy="457200"/>
          </a:xfrm>
          <a:prstGeom prst="ellipse">
            <a:avLst/>
          </a:prstGeom>
          <a:solidFill>
            <a:srgbClr val="1B2A8F"/>
          </a:solidFill>
          <a:ln w="25400">
            <a:solidFill>
              <a:srgbClr val="EA580C"/>
            </a:solidFill>
            <a:prstDash val="solid"/>
          </a:ln>
        </p:spPr>
      </p:sp>
      <p:sp>
        <p:nvSpPr>
          <p:cNvPr id="15" name="Text 13"/>
          <p:cNvSpPr txBox="1"/>
          <p:nvPr/>
        </p:nvSpPr>
        <p:spPr>
          <a:xfrm>
            <a:off x="8321040" y="1627632"/>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Palatino Linotype" pitchFamily="34" charset="0"/>
                <a:ea typeface="Palatino Linotype" pitchFamily="34" charset="-122"/>
                <a:cs typeface="Palatino Linotype" pitchFamily="34" charset="-120"/>
              </a:rPr>
              <a:t>3</a:t>
            </a:r>
            <a:endParaRPr lang="en-US" sz="1600" dirty="0"/>
          </a:p>
        </p:txBody>
      </p:sp>
      <p:sp>
        <p:nvSpPr>
          <p:cNvPr id="16" name="Text 14"/>
          <p:cNvSpPr txBox="1"/>
          <p:nvPr/>
        </p:nvSpPr>
        <p:spPr>
          <a:xfrm>
            <a:off x="8321040" y="2240280"/>
            <a:ext cx="3017520" cy="685800"/>
          </a:xfrm>
          <a:prstGeom prst="rect">
            <a:avLst/>
          </a:prstGeom>
          <a:noFill/>
          <a:ln/>
        </p:spPr>
        <p:txBody>
          <a:bodyPr wrap="square" lIns="0" tIns="0" rIns="0" bIns="0" rtlCol="0" anchor="t"/>
          <a:lstStyle/>
          <a:p>
            <a:pPr indent="0" marL="0">
              <a:buNone/>
            </a:pPr>
            <a:r>
              <a:rPr lang="en-US" sz="1700" b="1" dirty="0">
                <a:solidFill>
                  <a:srgbClr val="1E293B"/>
                </a:solidFill>
                <a:latin typeface="Palatino Linotype" pitchFamily="34" charset="0"/>
                <a:ea typeface="Palatino Linotype" pitchFamily="34" charset="-122"/>
                <a:cs typeface="Palatino Linotype" pitchFamily="34" charset="-120"/>
              </a:rPr>
              <a:t>Your DQAMP support contact</a:t>
            </a:r>
            <a:endParaRPr lang="en-US" sz="1700" dirty="0"/>
          </a:p>
        </p:txBody>
      </p:sp>
      <p:sp>
        <p:nvSpPr>
          <p:cNvPr id="17" name="Text 15"/>
          <p:cNvSpPr txBox="1"/>
          <p:nvPr/>
        </p:nvSpPr>
        <p:spPr>
          <a:xfrm>
            <a:off x="8321040" y="2926080"/>
            <a:ext cx="3017520" cy="1463040"/>
          </a:xfrm>
          <a:prstGeom prst="rect">
            <a:avLst/>
          </a:prstGeom>
          <a:noFill/>
          <a:ln/>
        </p:spPr>
        <p:txBody>
          <a:bodyPr wrap="square" lIns="0" tIns="0" rIns="0" bIns="0" rtlCol="0" anchor="t"/>
          <a:lstStyle/>
          <a:p>
            <a:pPr indent="0" marL="0">
              <a:buNone/>
            </a:pPr>
            <a:r>
              <a:rPr lang="en-US" sz="1400" dirty="0">
                <a:solidFill>
                  <a:srgbClr val="536379"/>
                </a:solidFill>
                <a:latin typeface="Palatino Linotype" pitchFamily="34" charset="0"/>
                <a:ea typeface="Palatino Linotype" pitchFamily="34" charset="-122"/>
                <a:cs typeface="Palatino Linotype" pitchFamily="34" charset="-120"/>
              </a:rPr>
              <a:t>Name: ____________________</a:t>
            </a:r>
            <a:endParaRPr lang="en-US" sz="1400" dirty="0"/>
          </a:p>
          <a:p>
            <a:pPr indent="0" marL="0">
              <a:buNone/>
            </a:pPr>
            <a:r>
              <a:rPr lang="en-US" sz="1400" dirty="0">
                <a:solidFill>
                  <a:srgbClr val="536379"/>
                </a:solidFill>
                <a:latin typeface="Palatino Linotype" pitchFamily="34" charset="0"/>
                <a:ea typeface="Palatino Linotype" pitchFamily="34" charset="-122"/>
                <a:cs typeface="Palatino Linotype" pitchFamily="34" charset="-120"/>
              </a:rPr>
              <a:t>Contact: __________________</a:t>
            </a:r>
            <a:endParaRPr lang="en-US" sz="1400" dirty="0"/>
          </a:p>
        </p:txBody>
      </p:sp>
      <p:sp>
        <p:nvSpPr>
          <p:cNvPr id="18" name="Text 16"/>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36379"/>
                </a:solidFill>
                <a:latin typeface="Palatino Linotype" pitchFamily="34" charset="0"/>
                <a:ea typeface="Palatino Linotype" pitchFamily="34" charset="-122"/>
                <a:cs typeface="Palatino Linotype" pitchFamily="34" charset="-120"/>
              </a:rPr>
              <a:t>DQAMP 2026 · Onboarding for Administrators</a:t>
            </a:r>
            <a:endParaRPr lang="en-US" sz="1000" dirty="0"/>
          </a:p>
        </p:txBody>
      </p:sp>
      <p:sp>
        <p:nvSpPr>
          <p:cNvPr id="19" name="Text 17"/>
          <p:cNvSpPr txBox="1"/>
          <p:nvPr/>
        </p:nvSpPr>
        <p:spPr>
          <a:xfrm>
            <a:off x="11155680" y="6400800"/>
            <a:ext cx="457200" cy="274320"/>
          </a:xfrm>
          <a:prstGeom prst="rect">
            <a:avLst/>
          </a:prstGeom>
          <a:noFill/>
          <a:ln/>
        </p:spPr>
        <p:txBody>
          <a:bodyPr wrap="square" lIns="0" tIns="0" rIns="0" bIns="0" rtlCol="0" anchor="ctr"/>
          <a:lstStyle/>
          <a:p>
            <a:pPr algn="r" indent="0" marL="0">
              <a:buNone/>
            </a:pPr>
            <a:r>
              <a:rPr lang="en-US" sz="1000" dirty="0">
                <a:solidFill>
                  <a:srgbClr val="536379"/>
                </a:solidFill>
                <a:latin typeface="Palatino Linotype" pitchFamily="34" charset="0"/>
                <a:ea typeface="Palatino Linotype" pitchFamily="34" charset="-122"/>
                <a:cs typeface="Palatino Linotype" pitchFamily="34" charset="-120"/>
              </a:rPr>
              <a:t>15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indent="0" marL="0">
              <a:buNone/>
            </a:pPr>
            <a:r>
              <a:rPr lang="en-US" sz="3400" b="1" dirty="0">
                <a:solidFill>
                  <a:srgbClr val="1B2A8F"/>
                </a:solidFill>
                <a:latin typeface="Century Gothic" pitchFamily="34" charset="0"/>
                <a:ea typeface="Century Gothic" pitchFamily="34" charset="-122"/>
                <a:cs typeface="Century Gothic" pitchFamily="34" charset="-120"/>
              </a:rPr>
              <a:t>Quick-start checklist</a:t>
            </a:r>
            <a:endParaRPr lang="en-US" sz="3400" dirty="0"/>
          </a:p>
        </p:txBody>
      </p:sp>
      <p:sp>
        <p:nvSpPr>
          <p:cNvPr id="3" name="Text 1"/>
          <p:cNvSpPr txBox="1"/>
          <p:nvPr/>
        </p:nvSpPr>
        <p:spPr>
          <a:xfrm>
            <a:off x="548640" y="1325880"/>
            <a:ext cx="5303520" cy="365760"/>
          </a:xfrm>
          <a:prstGeom prst="rect">
            <a:avLst/>
          </a:prstGeom>
          <a:noFill/>
          <a:ln/>
        </p:spPr>
        <p:txBody>
          <a:bodyPr wrap="square" lIns="0" tIns="0" rIns="0" bIns="0" rtlCol="0" anchor="ctr"/>
          <a:lstStyle/>
          <a:p>
            <a:pPr indent="0" marL="0">
              <a:buNone/>
            </a:pPr>
            <a:r>
              <a:rPr lang="en-US" sz="1700" b="1" dirty="0">
                <a:solidFill>
                  <a:srgbClr val="1B2A8F"/>
                </a:solidFill>
                <a:latin typeface="Palatino Linotype" pitchFamily="34" charset="0"/>
                <a:ea typeface="Palatino Linotype" pitchFamily="34" charset="-122"/>
                <a:cs typeface="Palatino Linotype" pitchFamily="34" charset="-120"/>
              </a:rPr>
              <a:t>Before you start</a:t>
            </a:r>
            <a:endParaRPr lang="en-US" sz="1700" dirty="0"/>
          </a:p>
        </p:txBody>
      </p:sp>
      <p:sp>
        <p:nvSpPr>
          <p:cNvPr id="4" name="Shape 2"/>
          <p:cNvSpPr/>
          <p:nvPr/>
        </p:nvSpPr>
        <p:spPr>
          <a:xfrm>
            <a:off x="548640" y="1828800"/>
            <a:ext cx="201168" cy="201168"/>
          </a:xfrm>
          <a:prstGeom prst="rect">
            <a:avLst/>
          </a:prstGeom>
          <a:solidFill>
            <a:srgbClr val="FFFFFF"/>
          </a:solidFill>
          <a:ln w="12700">
            <a:solidFill>
              <a:srgbClr val="536379"/>
            </a:solidFill>
            <a:prstDash val="solid"/>
          </a:ln>
        </p:spPr>
      </p:sp>
      <p:sp>
        <p:nvSpPr>
          <p:cNvPr id="5" name="Text 3"/>
          <p:cNvSpPr txBox="1"/>
          <p:nvPr/>
        </p:nvSpPr>
        <p:spPr>
          <a:xfrm>
            <a:off x="896112" y="1783080"/>
            <a:ext cx="4937760" cy="457200"/>
          </a:xfrm>
          <a:prstGeom prst="rect">
            <a:avLst/>
          </a:prstGeom>
          <a:noFill/>
          <a:ln/>
        </p:spPr>
        <p:txBody>
          <a:bodyPr wrap="square" lIns="0" tIns="0" rIns="0" bIns="0" rtlCol="0" anchor="t"/>
          <a:lstStyle/>
          <a:p>
            <a:pPr indent="0" marL="0">
              <a:buNone/>
            </a:pPr>
            <a:r>
              <a:rPr lang="en-US" sz="1350" dirty="0">
                <a:solidFill>
                  <a:srgbClr val="1E293B"/>
                </a:solidFill>
                <a:latin typeface="Palatino Linotype" pitchFamily="34" charset="0"/>
                <a:ea typeface="Palatino Linotype" pitchFamily="34" charset="-122"/>
                <a:cs typeface="Palatino Linotype" pitchFamily="34" charset="-120"/>
              </a:rPr>
              <a:t>I can open DQAMP at http://127.0.0.1:3002</a:t>
            </a:r>
            <a:endParaRPr lang="en-US" sz="1350" dirty="0"/>
          </a:p>
        </p:txBody>
      </p:sp>
      <p:sp>
        <p:nvSpPr>
          <p:cNvPr id="6" name="Shape 4"/>
          <p:cNvSpPr/>
          <p:nvPr/>
        </p:nvSpPr>
        <p:spPr>
          <a:xfrm>
            <a:off x="548640" y="2331720"/>
            <a:ext cx="201168" cy="201168"/>
          </a:xfrm>
          <a:prstGeom prst="rect">
            <a:avLst/>
          </a:prstGeom>
          <a:solidFill>
            <a:srgbClr val="FFFFFF"/>
          </a:solidFill>
          <a:ln w="12700">
            <a:solidFill>
              <a:srgbClr val="536379"/>
            </a:solidFill>
            <a:prstDash val="solid"/>
          </a:ln>
        </p:spPr>
      </p:sp>
      <p:sp>
        <p:nvSpPr>
          <p:cNvPr id="7" name="Text 5"/>
          <p:cNvSpPr txBox="1"/>
          <p:nvPr/>
        </p:nvSpPr>
        <p:spPr>
          <a:xfrm>
            <a:off x="896112" y="2286000"/>
            <a:ext cx="4937760" cy="457200"/>
          </a:xfrm>
          <a:prstGeom prst="rect">
            <a:avLst/>
          </a:prstGeom>
          <a:noFill/>
          <a:ln/>
        </p:spPr>
        <p:txBody>
          <a:bodyPr wrap="square" lIns="0" tIns="0" rIns="0" bIns="0" rtlCol="0" anchor="t"/>
          <a:lstStyle/>
          <a:p>
            <a:pPr indent="0" marL="0">
              <a:buNone/>
            </a:pPr>
            <a:r>
              <a:rPr lang="en-US" sz="1350" dirty="0">
                <a:solidFill>
                  <a:srgbClr val="1E293B"/>
                </a:solidFill>
                <a:latin typeface="Palatino Linotype" pitchFamily="34" charset="0"/>
                <a:ea typeface="Palatino Linotype" pitchFamily="34" charset="-122"/>
                <a:cs typeface="Palatino Linotype" pitchFamily="34" charset="-120"/>
              </a:rPr>
              <a:t>I have my own administrator account</a:t>
            </a:r>
            <a:endParaRPr lang="en-US" sz="1350" dirty="0"/>
          </a:p>
        </p:txBody>
      </p:sp>
      <p:sp>
        <p:nvSpPr>
          <p:cNvPr id="8" name="Shape 6"/>
          <p:cNvSpPr/>
          <p:nvPr/>
        </p:nvSpPr>
        <p:spPr>
          <a:xfrm>
            <a:off x="548640" y="2834640"/>
            <a:ext cx="201168" cy="201168"/>
          </a:xfrm>
          <a:prstGeom prst="rect">
            <a:avLst/>
          </a:prstGeom>
          <a:solidFill>
            <a:srgbClr val="FFFFFF"/>
          </a:solidFill>
          <a:ln w="12700">
            <a:solidFill>
              <a:srgbClr val="536379"/>
            </a:solidFill>
            <a:prstDash val="solid"/>
          </a:ln>
        </p:spPr>
      </p:sp>
      <p:sp>
        <p:nvSpPr>
          <p:cNvPr id="9" name="Text 7"/>
          <p:cNvSpPr txBox="1"/>
          <p:nvPr/>
        </p:nvSpPr>
        <p:spPr>
          <a:xfrm>
            <a:off x="896112" y="2788920"/>
            <a:ext cx="4937760" cy="457200"/>
          </a:xfrm>
          <a:prstGeom prst="rect">
            <a:avLst/>
          </a:prstGeom>
          <a:noFill/>
          <a:ln/>
        </p:spPr>
        <p:txBody>
          <a:bodyPr wrap="square" lIns="0" tIns="0" rIns="0" bIns="0" rtlCol="0" anchor="t"/>
          <a:lstStyle/>
          <a:p>
            <a:pPr indent="0" marL="0">
              <a:buNone/>
            </a:pPr>
            <a:r>
              <a:rPr lang="en-US" sz="1350" dirty="0">
                <a:solidFill>
                  <a:srgbClr val="1E293B"/>
                </a:solidFill>
                <a:latin typeface="Palatino Linotype" pitchFamily="34" charset="0"/>
                <a:ea typeface="Palatino Linotype" pitchFamily="34" charset="-122"/>
                <a:cs typeface="Palatino Linotype" pitchFamily="34" charset="-120"/>
              </a:rPr>
              <a:t>I know where the data folder is</a:t>
            </a:r>
            <a:endParaRPr lang="en-US" sz="1350" dirty="0"/>
          </a:p>
        </p:txBody>
      </p:sp>
      <p:sp>
        <p:nvSpPr>
          <p:cNvPr id="10" name="Text 8"/>
          <p:cNvSpPr txBox="1"/>
          <p:nvPr/>
        </p:nvSpPr>
        <p:spPr>
          <a:xfrm>
            <a:off x="548640" y="3520440"/>
            <a:ext cx="5303520" cy="365760"/>
          </a:xfrm>
          <a:prstGeom prst="rect">
            <a:avLst/>
          </a:prstGeom>
          <a:noFill/>
          <a:ln/>
        </p:spPr>
        <p:txBody>
          <a:bodyPr wrap="square" lIns="0" tIns="0" rIns="0" bIns="0" rtlCol="0" anchor="ctr"/>
          <a:lstStyle/>
          <a:p>
            <a:pPr indent="0" marL="0">
              <a:buNone/>
            </a:pPr>
            <a:r>
              <a:rPr lang="en-US" sz="1700" b="1" dirty="0">
                <a:solidFill>
                  <a:srgbClr val="1B2A8F"/>
                </a:solidFill>
                <a:latin typeface="Palatino Linotype" pitchFamily="34" charset="0"/>
                <a:ea typeface="Palatino Linotype" pitchFamily="34" charset="-122"/>
                <a:cs typeface="Palatino Linotype" pitchFamily="34" charset="-120"/>
              </a:rPr>
              <a:t>Every week</a:t>
            </a:r>
            <a:endParaRPr lang="en-US" sz="1700" dirty="0"/>
          </a:p>
        </p:txBody>
      </p:sp>
      <p:sp>
        <p:nvSpPr>
          <p:cNvPr id="11" name="Shape 9"/>
          <p:cNvSpPr/>
          <p:nvPr/>
        </p:nvSpPr>
        <p:spPr>
          <a:xfrm>
            <a:off x="548640" y="4023360"/>
            <a:ext cx="201168" cy="201168"/>
          </a:xfrm>
          <a:prstGeom prst="rect">
            <a:avLst/>
          </a:prstGeom>
          <a:solidFill>
            <a:srgbClr val="FFFFFF"/>
          </a:solidFill>
          <a:ln w="12700">
            <a:solidFill>
              <a:srgbClr val="536379"/>
            </a:solidFill>
            <a:prstDash val="solid"/>
          </a:ln>
        </p:spPr>
      </p:sp>
      <p:sp>
        <p:nvSpPr>
          <p:cNvPr id="12" name="Text 10"/>
          <p:cNvSpPr txBox="1"/>
          <p:nvPr/>
        </p:nvSpPr>
        <p:spPr>
          <a:xfrm>
            <a:off x="896112" y="3977640"/>
            <a:ext cx="4937760" cy="457200"/>
          </a:xfrm>
          <a:prstGeom prst="rect">
            <a:avLst/>
          </a:prstGeom>
          <a:noFill/>
          <a:ln/>
        </p:spPr>
        <p:txBody>
          <a:bodyPr wrap="square" lIns="0" tIns="0" rIns="0" bIns="0" rtlCol="0" anchor="t"/>
          <a:lstStyle/>
          <a:p>
            <a:pPr indent="0" marL="0">
              <a:buNone/>
            </a:pPr>
            <a:r>
              <a:rPr lang="en-US" sz="1350" dirty="0">
                <a:solidFill>
                  <a:srgbClr val="1E293B"/>
                </a:solidFill>
                <a:latin typeface="Palatino Linotype" pitchFamily="34" charset="0"/>
                <a:ea typeface="Palatino Linotype" pitchFamily="34" charset="-122"/>
                <a:cs typeface="Palatino Linotype" pitchFamily="34" charset="-120"/>
              </a:rPr>
              <a:t>Publish activities QA has reviewed</a:t>
            </a:r>
            <a:endParaRPr lang="en-US" sz="1350" dirty="0"/>
          </a:p>
        </p:txBody>
      </p:sp>
      <p:sp>
        <p:nvSpPr>
          <p:cNvPr id="13" name="Shape 11"/>
          <p:cNvSpPr/>
          <p:nvPr/>
        </p:nvSpPr>
        <p:spPr>
          <a:xfrm>
            <a:off x="548640" y="4526280"/>
            <a:ext cx="201168" cy="201168"/>
          </a:xfrm>
          <a:prstGeom prst="rect">
            <a:avLst/>
          </a:prstGeom>
          <a:solidFill>
            <a:srgbClr val="FFFFFF"/>
          </a:solidFill>
          <a:ln w="12700">
            <a:solidFill>
              <a:srgbClr val="536379"/>
            </a:solidFill>
            <a:prstDash val="solid"/>
          </a:ln>
        </p:spPr>
      </p:sp>
      <p:sp>
        <p:nvSpPr>
          <p:cNvPr id="14" name="Text 12"/>
          <p:cNvSpPr txBox="1"/>
          <p:nvPr/>
        </p:nvSpPr>
        <p:spPr>
          <a:xfrm>
            <a:off x="896112" y="4480560"/>
            <a:ext cx="4937760" cy="457200"/>
          </a:xfrm>
          <a:prstGeom prst="rect">
            <a:avLst/>
          </a:prstGeom>
          <a:noFill/>
          <a:ln/>
        </p:spPr>
        <p:txBody>
          <a:bodyPr wrap="square" lIns="0" tIns="0" rIns="0" bIns="0" rtlCol="0" anchor="t"/>
          <a:lstStyle/>
          <a:p>
            <a:pPr indent="0" marL="0">
              <a:buNone/>
            </a:pPr>
            <a:r>
              <a:rPr lang="en-US" sz="1350" dirty="0">
                <a:solidFill>
                  <a:srgbClr val="1E293B"/>
                </a:solidFill>
                <a:latin typeface="Palatino Linotype" pitchFamily="34" charset="0"/>
                <a:ea typeface="Palatino Linotype" pitchFamily="34" charset="-122"/>
                <a:cs typeface="Palatino Linotype" pitchFamily="34" charset="-120"/>
              </a:rPr>
              <a:t>Check every Implementer and Planning Admin has a division</a:t>
            </a:r>
            <a:endParaRPr lang="en-US" sz="1350" dirty="0"/>
          </a:p>
        </p:txBody>
      </p:sp>
      <p:sp>
        <p:nvSpPr>
          <p:cNvPr id="15" name="Shape 13"/>
          <p:cNvSpPr/>
          <p:nvPr/>
        </p:nvSpPr>
        <p:spPr>
          <a:xfrm>
            <a:off x="548640" y="5029200"/>
            <a:ext cx="201168" cy="201168"/>
          </a:xfrm>
          <a:prstGeom prst="rect">
            <a:avLst/>
          </a:prstGeom>
          <a:solidFill>
            <a:srgbClr val="FFFFFF"/>
          </a:solidFill>
          <a:ln w="12700">
            <a:solidFill>
              <a:srgbClr val="536379"/>
            </a:solidFill>
            <a:prstDash val="solid"/>
          </a:ln>
        </p:spPr>
      </p:sp>
      <p:sp>
        <p:nvSpPr>
          <p:cNvPr id="16" name="Text 14"/>
          <p:cNvSpPr txBox="1"/>
          <p:nvPr/>
        </p:nvSpPr>
        <p:spPr>
          <a:xfrm>
            <a:off x="896112" y="4983480"/>
            <a:ext cx="4937760" cy="457200"/>
          </a:xfrm>
          <a:prstGeom prst="rect">
            <a:avLst/>
          </a:prstGeom>
          <a:noFill/>
          <a:ln/>
        </p:spPr>
        <p:txBody>
          <a:bodyPr wrap="square" lIns="0" tIns="0" rIns="0" bIns="0" rtlCol="0" anchor="t"/>
          <a:lstStyle/>
          <a:p>
            <a:pPr indent="0" marL="0">
              <a:buNone/>
            </a:pPr>
            <a:r>
              <a:rPr lang="en-US" sz="1350" dirty="0">
                <a:solidFill>
                  <a:srgbClr val="1E293B"/>
                </a:solidFill>
                <a:latin typeface="Palatino Linotype" pitchFamily="34" charset="0"/>
                <a:ea typeface="Palatino Linotype" pitchFamily="34" charset="-122"/>
                <a:cs typeface="Palatino Linotype" pitchFamily="34" charset="-120"/>
              </a:rPr>
              <a:t>Back up the data folder while DQAMP is closed</a:t>
            </a:r>
            <a:endParaRPr lang="en-US" sz="1350" dirty="0"/>
          </a:p>
        </p:txBody>
      </p:sp>
      <p:sp>
        <p:nvSpPr>
          <p:cNvPr id="17" name="Text 15"/>
          <p:cNvSpPr txBox="1"/>
          <p:nvPr/>
        </p:nvSpPr>
        <p:spPr>
          <a:xfrm>
            <a:off x="6309360" y="1325880"/>
            <a:ext cx="5303520" cy="365760"/>
          </a:xfrm>
          <a:prstGeom prst="rect">
            <a:avLst/>
          </a:prstGeom>
          <a:noFill/>
          <a:ln/>
        </p:spPr>
        <p:txBody>
          <a:bodyPr wrap="square" lIns="0" tIns="0" rIns="0" bIns="0" rtlCol="0" anchor="ctr"/>
          <a:lstStyle/>
          <a:p>
            <a:pPr indent="0" marL="0">
              <a:buNone/>
            </a:pPr>
            <a:r>
              <a:rPr lang="en-US" sz="1700" b="1" dirty="0">
                <a:solidFill>
                  <a:srgbClr val="1B2A8F"/>
                </a:solidFill>
                <a:latin typeface="Palatino Linotype" pitchFamily="34" charset="0"/>
                <a:ea typeface="Palatino Linotype" pitchFamily="34" charset="-122"/>
                <a:cs typeface="Palatino Linotype" pitchFamily="34" charset="-120"/>
              </a:rPr>
              <a:t>For each new user</a:t>
            </a:r>
            <a:endParaRPr lang="en-US" sz="1700" dirty="0"/>
          </a:p>
        </p:txBody>
      </p:sp>
      <p:sp>
        <p:nvSpPr>
          <p:cNvPr id="18" name="Shape 16"/>
          <p:cNvSpPr/>
          <p:nvPr/>
        </p:nvSpPr>
        <p:spPr>
          <a:xfrm>
            <a:off x="6309360" y="1828800"/>
            <a:ext cx="201168" cy="201168"/>
          </a:xfrm>
          <a:prstGeom prst="rect">
            <a:avLst/>
          </a:prstGeom>
          <a:solidFill>
            <a:srgbClr val="FFFFFF"/>
          </a:solidFill>
          <a:ln w="12700">
            <a:solidFill>
              <a:srgbClr val="536379"/>
            </a:solidFill>
            <a:prstDash val="solid"/>
          </a:ln>
        </p:spPr>
      </p:sp>
      <p:sp>
        <p:nvSpPr>
          <p:cNvPr id="19" name="Text 17"/>
          <p:cNvSpPr txBox="1"/>
          <p:nvPr/>
        </p:nvSpPr>
        <p:spPr>
          <a:xfrm>
            <a:off x="6656832" y="1783080"/>
            <a:ext cx="4937760" cy="457200"/>
          </a:xfrm>
          <a:prstGeom prst="rect">
            <a:avLst/>
          </a:prstGeom>
          <a:noFill/>
          <a:ln/>
        </p:spPr>
        <p:txBody>
          <a:bodyPr wrap="square" lIns="0" tIns="0" rIns="0" bIns="0" rtlCol="0" anchor="t"/>
          <a:lstStyle/>
          <a:p>
            <a:pPr indent="0" marL="0">
              <a:buNone/>
            </a:pPr>
            <a:r>
              <a:rPr lang="en-US" sz="1350" dirty="0">
                <a:solidFill>
                  <a:srgbClr val="1E293B"/>
                </a:solidFill>
                <a:latin typeface="Palatino Linotype" pitchFamily="34" charset="0"/>
                <a:ea typeface="Palatino Linotype" pitchFamily="34" charset="-122"/>
                <a:cs typeface="Palatino Linotype" pitchFamily="34" charset="-120"/>
              </a:rPr>
              <a:t>User Management → Invite User</a:t>
            </a:r>
            <a:endParaRPr lang="en-US" sz="1350" dirty="0"/>
          </a:p>
        </p:txBody>
      </p:sp>
      <p:sp>
        <p:nvSpPr>
          <p:cNvPr id="20" name="Shape 18"/>
          <p:cNvSpPr/>
          <p:nvPr/>
        </p:nvSpPr>
        <p:spPr>
          <a:xfrm>
            <a:off x="6309360" y="2331720"/>
            <a:ext cx="201168" cy="201168"/>
          </a:xfrm>
          <a:prstGeom prst="rect">
            <a:avLst/>
          </a:prstGeom>
          <a:solidFill>
            <a:srgbClr val="FFFFFF"/>
          </a:solidFill>
          <a:ln w="12700">
            <a:solidFill>
              <a:srgbClr val="536379"/>
            </a:solidFill>
            <a:prstDash val="solid"/>
          </a:ln>
        </p:spPr>
      </p:sp>
      <p:sp>
        <p:nvSpPr>
          <p:cNvPr id="21" name="Text 19"/>
          <p:cNvSpPr txBox="1"/>
          <p:nvPr/>
        </p:nvSpPr>
        <p:spPr>
          <a:xfrm>
            <a:off x="6656832" y="2286000"/>
            <a:ext cx="4937760" cy="457200"/>
          </a:xfrm>
          <a:prstGeom prst="rect">
            <a:avLst/>
          </a:prstGeom>
          <a:noFill/>
          <a:ln/>
        </p:spPr>
        <p:txBody>
          <a:bodyPr wrap="square" lIns="0" tIns="0" rIns="0" bIns="0" rtlCol="0" anchor="t"/>
          <a:lstStyle/>
          <a:p>
            <a:pPr indent="0" marL="0">
              <a:buNone/>
            </a:pPr>
            <a:r>
              <a:rPr lang="en-US" sz="1350" dirty="0">
                <a:solidFill>
                  <a:srgbClr val="1E293B"/>
                </a:solidFill>
                <a:latin typeface="Palatino Linotype" pitchFamily="34" charset="0"/>
                <a:ea typeface="Palatino Linotype" pitchFamily="34" charset="-122"/>
                <a:cs typeface="Palatino Linotype" pitchFamily="34" charset="-120"/>
              </a:rPr>
              <a:t>Choose role, and division for Implementers and Planning Admins</a:t>
            </a:r>
            <a:endParaRPr lang="en-US" sz="1350" dirty="0"/>
          </a:p>
        </p:txBody>
      </p:sp>
      <p:sp>
        <p:nvSpPr>
          <p:cNvPr id="22" name="Shape 20"/>
          <p:cNvSpPr/>
          <p:nvPr/>
        </p:nvSpPr>
        <p:spPr>
          <a:xfrm>
            <a:off x="6309360" y="2834640"/>
            <a:ext cx="201168" cy="201168"/>
          </a:xfrm>
          <a:prstGeom prst="rect">
            <a:avLst/>
          </a:prstGeom>
          <a:solidFill>
            <a:srgbClr val="FFFFFF"/>
          </a:solidFill>
          <a:ln w="12700">
            <a:solidFill>
              <a:srgbClr val="536379"/>
            </a:solidFill>
            <a:prstDash val="solid"/>
          </a:ln>
        </p:spPr>
      </p:sp>
      <p:sp>
        <p:nvSpPr>
          <p:cNvPr id="23" name="Text 21"/>
          <p:cNvSpPr txBox="1"/>
          <p:nvPr/>
        </p:nvSpPr>
        <p:spPr>
          <a:xfrm>
            <a:off x="6656832" y="2788920"/>
            <a:ext cx="4937760" cy="457200"/>
          </a:xfrm>
          <a:prstGeom prst="rect">
            <a:avLst/>
          </a:prstGeom>
          <a:noFill/>
          <a:ln/>
        </p:spPr>
        <p:txBody>
          <a:bodyPr wrap="square" lIns="0" tIns="0" rIns="0" bIns="0" rtlCol="0" anchor="t"/>
          <a:lstStyle/>
          <a:p>
            <a:pPr indent="0" marL="0">
              <a:buNone/>
            </a:pPr>
            <a:r>
              <a:rPr lang="en-US" sz="1350" dirty="0">
                <a:solidFill>
                  <a:srgbClr val="1E293B"/>
                </a:solidFill>
                <a:latin typeface="Palatino Linotype" pitchFamily="34" charset="0"/>
                <a:ea typeface="Palatino Linotype" pitchFamily="34" charset="-122"/>
                <a:cs typeface="Palatino Linotype" pitchFamily="34" charset="-120"/>
              </a:rPr>
              <a:t>Create Account → Copy password → Done</a:t>
            </a:r>
            <a:endParaRPr lang="en-US" sz="1350" dirty="0"/>
          </a:p>
        </p:txBody>
      </p:sp>
      <p:sp>
        <p:nvSpPr>
          <p:cNvPr id="24" name="Shape 22"/>
          <p:cNvSpPr/>
          <p:nvPr/>
        </p:nvSpPr>
        <p:spPr>
          <a:xfrm>
            <a:off x="6309360" y="3337560"/>
            <a:ext cx="201168" cy="201168"/>
          </a:xfrm>
          <a:prstGeom prst="rect">
            <a:avLst/>
          </a:prstGeom>
          <a:solidFill>
            <a:srgbClr val="FFFFFF"/>
          </a:solidFill>
          <a:ln w="12700">
            <a:solidFill>
              <a:srgbClr val="536379"/>
            </a:solidFill>
            <a:prstDash val="solid"/>
          </a:ln>
        </p:spPr>
      </p:sp>
      <p:sp>
        <p:nvSpPr>
          <p:cNvPr id="25" name="Text 23"/>
          <p:cNvSpPr txBox="1"/>
          <p:nvPr/>
        </p:nvSpPr>
        <p:spPr>
          <a:xfrm>
            <a:off x="6656832" y="3291840"/>
            <a:ext cx="4937760" cy="457200"/>
          </a:xfrm>
          <a:prstGeom prst="rect">
            <a:avLst/>
          </a:prstGeom>
          <a:noFill/>
          <a:ln/>
        </p:spPr>
        <p:txBody>
          <a:bodyPr wrap="square" lIns="0" tIns="0" rIns="0" bIns="0" rtlCol="0" anchor="t"/>
          <a:lstStyle/>
          <a:p>
            <a:pPr indent="0" marL="0">
              <a:buNone/>
            </a:pPr>
            <a:r>
              <a:rPr lang="en-US" sz="1350" dirty="0">
                <a:solidFill>
                  <a:srgbClr val="1E293B"/>
                </a:solidFill>
                <a:latin typeface="Palatino Linotype" pitchFamily="34" charset="0"/>
                <a:ea typeface="Palatino Linotype" pitchFamily="34" charset="-122"/>
                <a:cs typeface="Palatino Linotype" pitchFamily="34" charset="-120"/>
              </a:rPr>
              <a:t>Share the password privately</a:t>
            </a:r>
            <a:endParaRPr lang="en-US" sz="1350" dirty="0"/>
          </a:p>
        </p:txBody>
      </p:sp>
      <p:sp>
        <p:nvSpPr>
          <p:cNvPr id="26" name="Text 24"/>
          <p:cNvSpPr txBox="1"/>
          <p:nvPr/>
        </p:nvSpPr>
        <p:spPr>
          <a:xfrm>
            <a:off x="548640" y="5989320"/>
            <a:ext cx="11064240" cy="274320"/>
          </a:xfrm>
          <a:prstGeom prst="rect">
            <a:avLst/>
          </a:prstGeom>
          <a:noFill/>
          <a:ln/>
        </p:spPr>
        <p:txBody>
          <a:bodyPr wrap="square" lIns="0" tIns="0" rIns="0" bIns="0" rtlCol="0" anchor="ctr"/>
          <a:lstStyle/>
          <a:p>
            <a:pPr indent="0" marL="0">
              <a:buNone/>
            </a:pPr>
            <a:r>
              <a:rPr lang="en-US" sz="1200" dirty="0">
                <a:solidFill>
                  <a:srgbClr val="536379"/>
                </a:solidFill>
                <a:latin typeface="Palatino Linotype" pitchFamily="34" charset="0"/>
                <a:ea typeface="Palatino Linotype" pitchFamily="34" charset="-122"/>
                <a:cs typeface="Palatino Linotype" pitchFamily="34" charset="-120"/>
              </a:rPr>
              <a:t>Help: your DQAMP administrator · README.md beside the launcher · http://127.0.0.1:3002</a:t>
            </a:r>
            <a:endParaRPr lang="en-US" sz="1200" dirty="0"/>
          </a:p>
        </p:txBody>
      </p:sp>
      <p:sp>
        <p:nvSpPr>
          <p:cNvPr id="27" name="Text 25"/>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36379"/>
                </a:solidFill>
                <a:latin typeface="Palatino Linotype" pitchFamily="34" charset="0"/>
                <a:ea typeface="Palatino Linotype" pitchFamily="34" charset="-122"/>
                <a:cs typeface="Palatino Linotype" pitchFamily="34" charset="-120"/>
              </a:rPr>
              <a:t>DQAMP 2026 · Onboarding for Administrators</a:t>
            </a:r>
            <a:endParaRPr lang="en-US" sz="1000" dirty="0"/>
          </a:p>
        </p:txBody>
      </p:sp>
      <p:sp>
        <p:nvSpPr>
          <p:cNvPr id="28" name="Text 26"/>
          <p:cNvSpPr txBox="1"/>
          <p:nvPr/>
        </p:nvSpPr>
        <p:spPr>
          <a:xfrm>
            <a:off x="11155680" y="6400800"/>
            <a:ext cx="457200" cy="274320"/>
          </a:xfrm>
          <a:prstGeom prst="rect">
            <a:avLst/>
          </a:prstGeom>
          <a:noFill/>
          <a:ln/>
        </p:spPr>
        <p:txBody>
          <a:bodyPr wrap="square" lIns="0" tIns="0" rIns="0" bIns="0" rtlCol="0" anchor="ctr"/>
          <a:lstStyle/>
          <a:p>
            <a:pPr algn="r" indent="0" marL="0">
              <a:buNone/>
            </a:pPr>
            <a:r>
              <a:rPr lang="en-US" sz="1000" dirty="0">
                <a:solidFill>
                  <a:srgbClr val="536379"/>
                </a:solidFill>
                <a:latin typeface="Palatino Linotype" pitchFamily="34" charset="0"/>
                <a:ea typeface="Palatino Linotype" pitchFamily="34" charset="-122"/>
                <a:cs typeface="Palatino Linotype" pitchFamily="34" charset="-120"/>
              </a:rPr>
              <a:t>16</a:t>
            </a:r>
            <a:endParaRPr lang="en-US" sz="1000" dirty="0"/>
          </a:p>
        </p:txBody>
      </p:sp>
    </p:spTree>
  </p:cSld>
  <p:clrMapOvr>
    <a:masterClrMapping/>
  </p:clrMapOvr>
</p:sld>
</file>

<file path=ppt/theme/theme1.xml><?xml version="1.0" encoding="utf-8"?>
<a:theme xmlns:a="http://schemas.openxmlformats.org/drawingml/2006/main" name="DQAMP">
  <a:themeElements>
    <a:clrScheme name="DQAMP">
      <a:dk1>
        <a:srgbClr val="1E293B"/>
      </a:dk1>
      <a:lt1>
        <a:srgbClr val="FFFFFF"/>
      </a:lt1>
      <a:dk2>
        <a:srgbClr val="1B2A8F"/>
      </a:dk2>
      <a:lt2>
        <a:srgbClr val="F5F7FA"/>
      </a:lt2>
      <a:accent1>
        <a:srgbClr val="1B2A8F"/>
      </a:accent1>
      <a:accent2>
        <a:srgbClr val="EA580C"/>
      </a:accent2>
      <a:accent3>
        <a:srgbClr val="F2B705"/>
      </a:accent3>
      <a:accent4>
        <a:srgbClr val="B91C1C"/>
      </a:accent4>
      <a:accent5>
        <a:srgbClr val="536379"/>
      </a:accent5>
      <a:accent6>
        <a:srgbClr val="15338A"/>
      </a:accent6>
      <a:hlink>
        <a:srgbClr val="1B2A8F"/>
      </a:hlink>
      <a:folHlink>
        <a:srgbClr val="536379"/>
      </a:folHlink>
    </a:clrScheme>
    <a:fontScheme name="DQAMP">
      <a:majorFont>
        <a:latin typeface="Century 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Palatino Linotype"/>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SDO Lucena City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DQAMP onboarding: Administrators</dc:title>
  <dc:subject>PptxGenJS Presentation</dc:subject>
  <dc:creator>DQAMP 2026</dc:creator>
  <cp:lastModifiedBy>DQAMP 2026</cp:lastModifiedBy>
  <cp:revision>1</cp:revision>
  <dcterms:created xsi:type="dcterms:W3CDTF">2026-10-26T13:51:55Z</dcterms:created>
  <dcterms:modified xsi:type="dcterms:W3CDTF">2026-10-26T13:51:55Z</dcterms:modified>
</cp:coreProperties>
</file>