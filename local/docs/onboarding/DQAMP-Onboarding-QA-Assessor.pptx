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In the next 20 minutes you will learn how to use DQAMP as a QA Assessor.
Read the three objectives aloud. Tell participants they will practise at the end.
[DEMO CUE] Have DQAMP open on the host computer at the sign-in page.
[CHECK BEFORE PRESENTING] All names and figures in this deck are fictional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DQAMP is the Division Quality Assurance and Monitoring Portal.
1. Goals, objectives, projects, outputs and activities link together, so results are traceable from the top down.
2. Every activity goes through QA review before it is published.
3. Everything is stored on the computer where DQAMP runs. There is no cloud account. The administrator backs up the data folder, so nobody else should copy or delete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DQAMP has four roles. Point to the highlighted card: that is the role this session covers.
The rules are enforced by the system, not just by the menus. If you cannot use a button, it does not appear; if a change is outside your role or division, DQAMP refuses it.
[CHECK BEFORE PRESENTING] Name your office's administrator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DQAMP runs on one computer, and you sign in there in a web browser.
1. Type the email your administrator registered.
2. Type the temporary password your administrator gave you.
3. Click Sign in.
There is no email invitation and no password-reset screen. The administrator handles both.
[DEMO CUE] Sign in with a training account. Do not show a real password on screen.
[CHECK BEFORE PRESENTING] Confirm the address your office uses (the default is http://127.0.0.1:3002).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signing in you land on the Dashboard. Your review work starts on the Activities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activity follows these four steps. The filled circles are the steps this role performs.
Returned for Revision is the loop: the QA Assessor sends it back with a note, the Implementer fixes it and submits again.
Once an activity is Under Review or Published, it is locked for everyone except the reviewer and administrators.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CUE] Filter by Submitted and click Start review on Grade 4 Numeracy Benchmark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view shows the details, evidence link and the QAME section further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fields can be changed only while the activity is Under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stays disabled until the note is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 Assessors can record feedback for any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common corrections for QA Assessors.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table. These are the problems new users meet most often.
[CHECK BEFORE PRESENTING] Add your administrator's name and contact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about 10 minutes, in pairs if computers are limited.
Practice records go into the same database as real work. Use a training copy of DQAMP, or agree with your administrator which practice records to delete afterwards.
[CHECK BEFORE PRESENTING] Name the practice accounts and the sample OneDrive link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are stuck, start with your administrator.
[CHECK BEFORE PRESENTING] Fill in the support contact on this slide.
Close by thanking participants and asking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this checklist. It summarises the session on one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8F"/>
        </a:solidFill>
      </p:bgPr>
    </p:bg>
    <p:spTree>
      <p:nvGrpSpPr>
        <p:cNvPr id="1" name=""/>
        <p:cNvGrpSpPr/>
        <p:nvPr/>
      </p:nvGrpSpPr>
      <p:grpSpPr>
        <a:xfrm>
          <a:off x="0" y="0"/>
          <a:ext cx="0" cy="0"/>
          <a:chOff x="0" y="0"/>
          <a:chExt cx="0" cy="0"/>
        </a:xfrm>
      </p:grpSpPr>
      <p:pic>
        <p:nvPicPr>
          <p:cNvPr id="2" name="Image 0" descr="Schools Division Office of Lucena City seal">    </p:cNvPr>
          <p:cNvPicPr>
            <a:picLocks noChangeAspect="1"/>
          </p:cNvPicPr>
          <p:nvPr/>
        </p:nvPicPr>
        <p:blipFill>
          <a:blip r:embed="rId1"/>
          <a:stretch>
            <a:fillRect/>
          </a:stretch>
        </p:blipFill>
        <p:spPr>
          <a:xfrm>
            <a:off x="548640" y="411480"/>
            <a:ext cx="777240" cy="777240"/>
          </a:xfrm>
          <a:prstGeom prst="rect">
            <a:avLst/>
          </a:prstGeom>
        </p:spPr>
      </p:pic>
      <p:sp>
        <p:nvSpPr>
          <p:cNvPr id="3" name="Text 0"/>
          <p:cNvSpPr txBox="1"/>
          <p:nvPr/>
        </p:nvSpPr>
        <p:spPr>
          <a:xfrm>
            <a:off x="1463040" y="457200"/>
            <a:ext cx="4572000" cy="685800"/>
          </a:xfrm>
          <a:prstGeom prst="rect">
            <a:avLst/>
          </a:prstGeom>
          <a:noFill/>
          <a:ln/>
        </p:spPr>
        <p:txBody>
          <a:bodyPr wrap="square" lIns="0" tIns="0" rIns="0" bIns="0" rtlCol="0" anchor="ct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DQAMP 2026</a:t>
            </a:r>
            <a:endParaRPr lang="en-US" sz="1400" dirty="0"/>
          </a:p>
          <a:p>
            <a:pPr indent="0" marL="0">
              <a:buNone/>
            </a:pPr>
            <a:r>
              <a:rPr lang="en-US" sz="1100" dirty="0">
                <a:solidFill>
                  <a:srgbClr val="CADCFC"/>
                </a:solidFill>
                <a:latin typeface="Palatino Linotype" pitchFamily="34" charset="0"/>
                <a:ea typeface="Palatino Linotype" pitchFamily="34" charset="-122"/>
                <a:cs typeface="Palatino Linotype" pitchFamily="34" charset="-120"/>
              </a:rPr>
              <a:t>Schools Division Office of Lucena City</a:t>
            </a:r>
            <a:endParaRPr lang="en-US" sz="1400" dirty="0"/>
          </a:p>
        </p:txBody>
      </p:sp>
      <p:sp>
        <p:nvSpPr>
          <p:cNvPr id="4" name="Text 1"/>
          <p:cNvSpPr txBox="1"/>
          <p:nvPr/>
        </p:nvSpPr>
        <p:spPr>
          <a:xfrm>
            <a:off x="548640" y="1828800"/>
            <a:ext cx="5394960" cy="1188720"/>
          </a:xfrm>
          <a:prstGeom prst="rect">
            <a:avLst/>
          </a:prstGeom>
          <a:noFill/>
          <a:ln/>
        </p:spPr>
        <p:txBody>
          <a:bodyPr wrap="square" lIns="0" tIns="0" rIns="0" bIns="0" rtlCol="0" anchor="t"/>
          <a:lstStyle/>
          <a:p>
            <a:pPr indent="0" marL="0">
              <a:buNone/>
            </a:pPr>
            <a:r>
              <a:rPr lang="en-US" sz="4000" b="1" dirty="0">
                <a:solidFill>
                  <a:srgbClr val="FFFFFF"/>
                </a:solidFill>
                <a:latin typeface="Century Gothic" pitchFamily="34" charset="0"/>
                <a:ea typeface="Century Gothic" pitchFamily="34" charset="-122"/>
                <a:cs typeface="Century Gothic" pitchFamily="34" charset="-120"/>
              </a:rPr>
              <a:t>Welcome to DQAMP</a:t>
            </a:r>
            <a:endParaRPr lang="en-US" sz="4000" dirty="0"/>
          </a:p>
        </p:txBody>
      </p:sp>
      <p:sp>
        <p:nvSpPr>
          <p:cNvPr id="5" name="Text 2"/>
          <p:cNvSpPr txBox="1"/>
          <p:nvPr/>
        </p:nvSpPr>
        <p:spPr>
          <a:xfrm>
            <a:off x="548640" y="3154680"/>
            <a:ext cx="5394960" cy="457200"/>
          </a:xfrm>
          <a:prstGeom prst="rect">
            <a:avLst/>
          </a:prstGeom>
          <a:noFill/>
          <a:ln/>
        </p:spPr>
        <p:txBody>
          <a:bodyPr wrap="square" lIns="0" tIns="0" rIns="0" bIns="0" rtlCol="0" anchor="ctr"/>
          <a:lstStyle/>
          <a:p>
            <a:pPr indent="0" marL="0">
              <a:buNone/>
            </a:pPr>
            <a:r>
              <a:rPr lang="en-US" sz="2000" dirty="0">
                <a:solidFill>
                  <a:srgbClr val="F2B705"/>
                </a:solidFill>
                <a:latin typeface="Palatino Linotype" pitchFamily="34" charset="0"/>
                <a:ea typeface="Palatino Linotype" pitchFamily="34" charset="-122"/>
                <a:cs typeface="Palatino Linotype" pitchFamily="34" charset="-120"/>
              </a:rPr>
              <a:t>Onboarding for QA Assessors</a:t>
            </a:r>
            <a:endParaRPr lang="en-US" sz="2000" dirty="0"/>
          </a:p>
        </p:txBody>
      </p:sp>
      <p:sp>
        <p:nvSpPr>
          <p:cNvPr id="6" name="Text 3"/>
          <p:cNvSpPr txBox="1"/>
          <p:nvPr/>
        </p:nvSpPr>
        <p:spPr>
          <a:xfrm>
            <a:off x="548640" y="3611880"/>
            <a:ext cx="5394960" cy="365760"/>
          </a:xfrm>
          <a:prstGeom prst="rect">
            <a:avLst/>
          </a:prstGeom>
          <a:noFill/>
          <a:ln/>
        </p:spPr>
        <p:txBody>
          <a:bodyPr wrap="square" lIns="0" tIns="0" rIns="0" bIns="0" rtlCol="0" anchor="ctr"/>
          <a:lstStyle/>
          <a:p>
            <a:pPr indent="0" marL="0">
              <a:buNone/>
            </a:pPr>
            <a:r>
              <a:rPr lang="en-US" sz="1400" dirty="0">
                <a:solidFill>
                  <a:srgbClr val="CADCFC"/>
                </a:solidFill>
                <a:latin typeface="Palatino Linotype" pitchFamily="34" charset="0"/>
                <a:ea typeface="Palatino Linotype" pitchFamily="34" charset="-122"/>
                <a:cs typeface="Palatino Linotype" pitchFamily="34" charset="-120"/>
              </a:rPr>
              <a:t>About 20 minutes, plus practice</a:t>
            </a:r>
            <a:endParaRPr lang="en-US" sz="1400" dirty="0"/>
          </a:p>
        </p:txBody>
      </p:sp>
      <p:sp>
        <p:nvSpPr>
          <p:cNvPr id="7" name="Text 4"/>
          <p:cNvSpPr txBox="1"/>
          <p:nvPr/>
        </p:nvSpPr>
        <p:spPr>
          <a:xfrm>
            <a:off x="548640" y="5989320"/>
            <a:ext cx="5486400" cy="365760"/>
          </a:xfrm>
          <a:prstGeom prst="rect">
            <a:avLst/>
          </a:prstGeom>
          <a:noFill/>
          <a:ln/>
        </p:spPr>
        <p:txBody>
          <a:bodyPr wrap="square" lIns="0" tIns="0" rIns="0" bIns="0" rtlCol="0" anchor="ctr"/>
          <a:lstStyle/>
          <a:p>
            <a:pPr indent="0" marL="0">
              <a:buNone/>
            </a:pPr>
            <a:r>
              <a:rPr lang="en-US" sz="1400" b="1" dirty="0">
                <a:solidFill>
                  <a:srgbClr val="F2B705"/>
                </a:solidFill>
                <a:latin typeface="Century Gothic" pitchFamily="34" charset="0"/>
                <a:ea typeface="Century Gothic" pitchFamily="34" charset="-122"/>
                <a:cs typeface="Century Gothic" pitchFamily="34" charset="-120"/>
              </a:rPr>
              <a:t>Plan it. Track it. Prove it.</a:t>
            </a:r>
            <a:endParaRPr lang="en-US" sz="1400" dirty="0"/>
          </a:p>
        </p:txBody>
      </p:sp>
      <p:sp>
        <p:nvSpPr>
          <p:cNvPr id="8" name="Text 5"/>
          <p:cNvSpPr txBox="1"/>
          <p:nvPr/>
        </p:nvSpPr>
        <p:spPr>
          <a:xfrm>
            <a:off x="6400800" y="1463040"/>
            <a:ext cx="521208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By the end of this session you can:</a:t>
            </a:r>
            <a:endParaRPr lang="en-US" sz="1600" dirty="0"/>
          </a:p>
        </p:txBody>
      </p:sp>
      <p:sp>
        <p:nvSpPr>
          <p:cNvPr id="9" name="Shape 6"/>
          <p:cNvSpPr/>
          <p:nvPr/>
        </p:nvSpPr>
        <p:spPr>
          <a:xfrm>
            <a:off x="6400800" y="2011680"/>
            <a:ext cx="5212080" cy="777240"/>
          </a:xfrm>
          <a:prstGeom prst="roundRect">
            <a:avLst>
              <a:gd name="adj" fmla="val 7059"/>
            </a:avLst>
          </a:prstGeom>
          <a:solidFill>
            <a:srgbClr val="15338A"/>
          </a:solidFill>
          <a:ln w="12700">
            <a:solidFill>
              <a:srgbClr val="15338A"/>
            </a:solidFill>
            <a:prstDash val="solid"/>
          </a:ln>
        </p:spPr>
      </p:sp>
      <p:sp>
        <p:nvSpPr>
          <p:cNvPr id="10" name="Shape 7"/>
          <p:cNvSpPr/>
          <p:nvPr/>
        </p:nvSpPr>
        <p:spPr>
          <a:xfrm>
            <a:off x="6601968" y="2203704"/>
            <a:ext cx="393192" cy="393192"/>
          </a:xfrm>
          <a:prstGeom prst="ellipse">
            <a:avLst/>
          </a:prstGeom>
          <a:solidFill>
            <a:srgbClr val="F2B705"/>
          </a:solidFill>
          <a:ln w="12700">
            <a:solidFill>
              <a:srgbClr val="F2B705"/>
            </a:solidFill>
            <a:prstDash val="solid"/>
          </a:ln>
        </p:spPr>
      </p:sp>
      <p:sp>
        <p:nvSpPr>
          <p:cNvPr id="11" name="Text 8"/>
          <p:cNvSpPr txBox="1"/>
          <p:nvPr/>
        </p:nvSpPr>
        <p:spPr>
          <a:xfrm>
            <a:off x="6601968" y="2203704"/>
            <a:ext cx="393192" cy="393192"/>
          </a:xfrm>
          <a:prstGeom prst="rect">
            <a:avLst/>
          </a:prstGeom>
          <a:noFill/>
          <a:ln/>
        </p:spPr>
        <p:txBody>
          <a:bodyPr wrap="square" lIns="0" tIns="0" rIns="0" bIns="0" rtlCol="0" anchor="ctr"/>
          <a:lstStyle/>
          <a:p>
            <a:pPr algn="ctr" indent="0" marL="0">
              <a:buNone/>
            </a:pPr>
            <a:r>
              <a:rPr lang="en-US" sz="1400" b="1" dirty="0">
                <a:solidFill>
                  <a:srgbClr val="1E293B"/>
                </a:solidFill>
                <a:latin typeface="Palatino Linotype" pitchFamily="34" charset="0"/>
                <a:ea typeface="Palatino Linotype" pitchFamily="34" charset="-122"/>
                <a:cs typeface="Palatino Linotype" pitchFamily="34" charset="-120"/>
              </a:rPr>
              <a:t>1</a:t>
            </a:r>
            <a:endParaRPr lang="en-US" sz="1400" dirty="0"/>
          </a:p>
        </p:txBody>
      </p:sp>
      <p:sp>
        <p:nvSpPr>
          <p:cNvPr id="12" name="Text 9"/>
          <p:cNvSpPr txBox="1"/>
          <p:nvPr/>
        </p:nvSpPr>
        <p:spPr>
          <a:xfrm>
            <a:off x="7178040" y="2084832"/>
            <a:ext cx="4297680" cy="64008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Sign in and find activities waiting for review</a:t>
            </a:r>
            <a:endParaRPr lang="en-US" sz="1500" dirty="0"/>
          </a:p>
        </p:txBody>
      </p:sp>
      <p:sp>
        <p:nvSpPr>
          <p:cNvPr id="13" name="Shape 10"/>
          <p:cNvSpPr/>
          <p:nvPr/>
        </p:nvSpPr>
        <p:spPr>
          <a:xfrm>
            <a:off x="6400800" y="2971800"/>
            <a:ext cx="5212080" cy="777240"/>
          </a:xfrm>
          <a:prstGeom prst="roundRect">
            <a:avLst>
              <a:gd name="adj" fmla="val 7059"/>
            </a:avLst>
          </a:prstGeom>
          <a:solidFill>
            <a:srgbClr val="15338A"/>
          </a:solidFill>
          <a:ln w="12700">
            <a:solidFill>
              <a:srgbClr val="15338A"/>
            </a:solidFill>
            <a:prstDash val="solid"/>
          </a:ln>
        </p:spPr>
      </p:sp>
      <p:sp>
        <p:nvSpPr>
          <p:cNvPr id="14" name="Shape 11"/>
          <p:cNvSpPr/>
          <p:nvPr/>
        </p:nvSpPr>
        <p:spPr>
          <a:xfrm>
            <a:off x="6601968" y="3163824"/>
            <a:ext cx="393192" cy="393192"/>
          </a:xfrm>
          <a:prstGeom prst="ellipse">
            <a:avLst/>
          </a:prstGeom>
          <a:solidFill>
            <a:srgbClr val="F2B705"/>
          </a:solidFill>
          <a:ln w="12700">
            <a:solidFill>
              <a:srgbClr val="F2B705"/>
            </a:solidFill>
            <a:prstDash val="solid"/>
          </a:ln>
        </p:spPr>
      </p:sp>
      <p:sp>
        <p:nvSpPr>
          <p:cNvPr id="15" name="Text 12"/>
          <p:cNvSpPr txBox="1"/>
          <p:nvPr/>
        </p:nvSpPr>
        <p:spPr>
          <a:xfrm>
            <a:off x="6601968" y="3163824"/>
            <a:ext cx="393192" cy="393192"/>
          </a:xfrm>
          <a:prstGeom prst="rect">
            <a:avLst/>
          </a:prstGeom>
          <a:noFill/>
          <a:ln/>
        </p:spPr>
        <p:txBody>
          <a:bodyPr wrap="square" lIns="0" tIns="0" rIns="0" bIns="0" rtlCol="0" anchor="ctr"/>
          <a:lstStyle/>
          <a:p>
            <a:pPr algn="ctr" indent="0" marL="0">
              <a:buNone/>
            </a:pPr>
            <a:r>
              <a:rPr lang="en-US" sz="1400" b="1" dirty="0">
                <a:solidFill>
                  <a:srgbClr val="1E293B"/>
                </a:solidFill>
                <a:latin typeface="Palatino Linotype" pitchFamily="34" charset="0"/>
                <a:ea typeface="Palatino Linotype" pitchFamily="34" charset="-122"/>
                <a:cs typeface="Palatino Linotype" pitchFamily="34" charset="-120"/>
              </a:rPr>
              <a:t>2</a:t>
            </a:r>
            <a:endParaRPr lang="en-US" sz="1400" dirty="0"/>
          </a:p>
        </p:txBody>
      </p:sp>
      <p:sp>
        <p:nvSpPr>
          <p:cNvPr id="16" name="Text 13"/>
          <p:cNvSpPr txBox="1"/>
          <p:nvPr/>
        </p:nvSpPr>
        <p:spPr>
          <a:xfrm>
            <a:off x="7178040" y="3044952"/>
            <a:ext cx="4297680" cy="64008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Record the QAME evaluation</a:t>
            </a:r>
            <a:endParaRPr lang="en-US" sz="1500" dirty="0"/>
          </a:p>
        </p:txBody>
      </p:sp>
      <p:sp>
        <p:nvSpPr>
          <p:cNvPr id="17" name="Shape 14"/>
          <p:cNvSpPr/>
          <p:nvPr/>
        </p:nvSpPr>
        <p:spPr>
          <a:xfrm>
            <a:off x="6400800" y="3931920"/>
            <a:ext cx="5212080" cy="777240"/>
          </a:xfrm>
          <a:prstGeom prst="roundRect">
            <a:avLst>
              <a:gd name="adj" fmla="val 7059"/>
            </a:avLst>
          </a:prstGeom>
          <a:solidFill>
            <a:srgbClr val="15338A"/>
          </a:solidFill>
          <a:ln w="12700">
            <a:solidFill>
              <a:srgbClr val="15338A"/>
            </a:solidFill>
            <a:prstDash val="solid"/>
          </a:ln>
        </p:spPr>
      </p:sp>
      <p:sp>
        <p:nvSpPr>
          <p:cNvPr id="18" name="Shape 15"/>
          <p:cNvSpPr/>
          <p:nvPr/>
        </p:nvSpPr>
        <p:spPr>
          <a:xfrm>
            <a:off x="6601968" y="4123944"/>
            <a:ext cx="393192" cy="393192"/>
          </a:xfrm>
          <a:prstGeom prst="ellipse">
            <a:avLst/>
          </a:prstGeom>
          <a:solidFill>
            <a:srgbClr val="F2B705"/>
          </a:solidFill>
          <a:ln w="12700">
            <a:solidFill>
              <a:srgbClr val="F2B705"/>
            </a:solidFill>
            <a:prstDash val="solid"/>
          </a:ln>
        </p:spPr>
      </p:sp>
      <p:sp>
        <p:nvSpPr>
          <p:cNvPr id="19" name="Text 16"/>
          <p:cNvSpPr txBox="1"/>
          <p:nvPr/>
        </p:nvSpPr>
        <p:spPr>
          <a:xfrm>
            <a:off x="6601968" y="4123944"/>
            <a:ext cx="393192" cy="393192"/>
          </a:xfrm>
          <a:prstGeom prst="rect">
            <a:avLst/>
          </a:prstGeom>
          <a:noFill/>
          <a:ln/>
        </p:spPr>
        <p:txBody>
          <a:bodyPr wrap="square" lIns="0" tIns="0" rIns="0" bIns="0" rtlCol="0" anchor="ctr"/>
          <a:lstStyle/>
          <a:p>
            <a:pPr algn="ctr" indent="0" marL="0">
              <a:buNone/>
            </a:pPr>
            <a:r>
              <a:rPr lang="en-US" sz="1400" b="1" dirty="0">
                <a:solidFill>
                  <a:srgbClr val="1E293B"/>
                </a:solidFill>
                <a:latin typeface="Palatino Linotype" pitchFamily="34" charset="0"/>
                <a:ea typeface="Palatino Linotype" pitchFamily="34" charset="-122"/>
                <a:cs typeface="Palatino Linotype" pitchFamily="34" charset="-120"/>
              </a:rPr>
              <a:t>3</a:t>
            </a:r>
            <a:endParaRPr lang="en-US" sz="1400" dirty="0"/>
          </a:p>
        </p:txBody>
      </p:sp>
      <p:sp>
        <p:nvSpPr>
          <p:cNvPr id="20" name="Text 17"/>
          <p:cNvSpPr txBox="1"/>
          <p:nvPr/>
        </p:nvSpPr>
        <p:spPr>
          <a:xfrm>
            <a:off x="7178040" y="4005072"/>
            <a:ext cx="4297680" cy="64008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Return work with a clear note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What DQAMP does</a:t>
            </a:r>
            <a:endParaRPr lang="en-US" sz="3400" dirty="0"/>
          </a:p>
        </p:txBody>
      </p:sp>
      <p:sp>
        <p:nvSpPr>
          <p:cNvPr id="3" name="brand frame"/>
          <p:cNvSpPr/>
          <p:nvPr/>
        </p:nvSpPr>
        <p:spPr>
          <a:xfrm>
            <a:off x="1138358" y="1252728"/>
            <a:ext cx="4215524" cy="4901184"/>
          </a:xfrm>
          <a:prstGeom prst="roundRect">
            <a:avLst>
              <a:gd name="adj" fmla="val 651"/>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brand" descr="DQAMP sign-in page panel: Plan it. Track it. Prove it.">    </p:cNvPr>
          <p:cNvPicPr>
            <a:picLocks noChangeAspect="1"/>
          </p:cNvPicPr>
          <p:nvPr/>
        </p:nvPicPr>
        <p:blipFill>
          <a:blip r:embed="rId1"/>
          <a:stretch>
            <a:fillRect/>
          </a:stretch>
        </p:blipFill>
        <p:spPr>
          <a:xfrm>
            <a:off x="1211510" y="1325880"/>
            <a:ext cx="4069220" cy="4754880"/>
          </a:xfrm>
          <a:prstGeom prst="rect">
            <a:avLst/>
          </a:prstGeom>
        </p:spPr>
      </p:pic>
      <p:sp>
        <p:nvSpPr>
          <p:cNvPr id="5" name="Text 2"/>
          <p:cNvSpPr txBox="1"/>
          <p:nvPr/>
        </p:nvSpPr>
        <p:spPr>
          <a:xfrm>
            <a:off x="6400800" y="1325880"/>
            <a:ext cx="5212080" cy="731520"/>
          </a:xfrm>
          <a:prstGeom prst="rect">
            <a:avLst/>
          </a:prstGeom>
          <a:noFill/>
          <a:ln/>
        </p:spPr>
        <p:txBody>
          <a:bodyPr wrap="square" lIns="0" tIns="0" rIns="0" bIns="0" rtlCol="0" anchor="t"/>
          <a:lstStyle/>
          <a:p>
            <a:pPr indent="0" marL="0">
              <a:buNone/>
            </a:pPr>
            <a:r>
              <a:rPr lang="en-US" sz="1600" dirty="0">
                <a:solidFill>
                  <a:srgbClr val="1E293B"/>
                </a:solidFill>
                <a:latin typeface="Palatino Linotype" pitchFamily="34" charset="0"/>
                <a:ea typeface="Palatino Linotype" pitchFamily="34" charset="-122"/>
                <a:cs typeface="Palatino Linotype" pitchFamily="34" charset="-120"/>
              </a:rPr>
              <a:t>DQAMP is the </a:t>
            </a:r>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Division Quality Assurance and Monitoring Portal</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 for SDO Lucena City.</a:t>
            </a:r>
            <a:endParaRPr lang="en-US" sz="1600" dirty="0"/>
          </a:p>
        </p:txBody>
      </p:sp>
      <p:sp>
        <p:nvSpPr>
          <p:cNvPr id="6" name="Callout number 1"/>
          <p:cNvSpPr/>
          <p:nvPr/>
        </p:nvSpPr>
        <p:spPr>
          <a:xfrm>
            <a:off x="6400800" y="2304288"/>
            <a:ext cx="365760" cy="365760"/>
          </a:xfrm>
          <a:prstGeom prst="ellipse">
            <a:avLst/>
          </a:prstGeom>
          <a:solidFill>
            <a:srgbClr val="1B2A8F"/>
          </a:solidFill>
          <a:ln w="25400">
            <a:solidFill>
              <a:srgbClr val="EA580C"/>
            </a:solidFill>
            <a:prstDash val="solid"/>
          </a:ln>
        </p:spPr>
      </p:sp>
      <p:sp>
        <p:nvSpPr>
          <p:cNvPr id="7" name="Text 4"/>
          <p:cNvSpPr txBox="1"/>
          <p:nvPr/>
        </p:nvSpPr>
        <p:spPr>
          <a:xfrm>
            <a:off x="6400800" y="23042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8" name="Legend 1"/>
          <p:cNvSpPr txBox="1"/>
          <p:nvPr/>
        </p:nvSpPr>
        <p:spPr>
          <a:xfrm>
            <a:off x="6931152" y="2286000"/>
            <a:ext cx="46817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One chain from goals to evidence</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Organizational goals, division objectives, projects, outputs and activities link together.</a:t>
            </a:r>
            <a:endParaRPr lang="en-US" sz="1600" dirty="0"/>
          </a:p>
        </p:txBody>
      </p:sp>
      <p:sp>
        <p:nvSpPr>
          <p:cNvPr id="9" name="Callout number 2"/>
          <p:cNvSpPr/>
          <p:nvPr/>
        </p:nvSpPr>
        <p:spPr>
          <a:xfrm>
            <a:off x="6400800" y="3145536"/>
            <a:ext cx="365760" cy="365760"/>
          </a:xfrm>
          <a:prstGeom prst="ellipse">
            <a:avLst/>
          </a:prstGeom>
          <a:solidFill>
            <a:srgbClr val="1B2A8F"/>
          </a:solidFill>
          <a:ln w="25400">
            <a:solidFill>
              <a:srgbClr val="EA580C"/>
            </a:solidFill>
            <a:prstDash val="solid"/>
          </a:ln>
        </p:spPr>
      </p:sp>
      <p:sp>
        <p:nvSpPr>
          <p:cNvPr id="10" name="Text 7"/>
          <p:cNvSpPr txBox="1"/>
          <p:nvPr/>
        </p:nvSpPr>
        <p:spPr>
          <a:xfrm>
            <a:off x="6400800" y="31455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Legend 2"/>
          <p:cNvSpPr txBox="1"/>
          <p:nvPr/>
        </p:nvSpPr>
        <p:spPr>
          <a:xfrm>
            <a:off x="6931152" y="3127248"/>
            <a:ext cx="46817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Quality assurance built in</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An activity is published only after a QA Assessor reviews it.</a:t>
            </a:r>
            <a:endParaRPr lang="en-US" sz="1600" dirty="0"/>
          </a:p>
        </p:txBody>
      </p:sp>
      <p:sp>
        <p:nvSpPr>
          <p:cNvPr id="12" name="Callout number 3"/>
          <p:cNvSpPr/>
          <p:nvPr/>
        </p:nvSpPr>
        <p:spPr>
          <a:xfrm>
            <a:off x="6400800" y="3986784"/>
            <a:ext cx="365760" cy="365760"/>
          </a:xfrm>
          <a:prstGeom prst="ellipse">
            <a:avLst/>
          </a:prstGeom>
          <a:solidFill>
            <a:srgbClr val="1B2A8F"/>
          </a:solidFill>
          <a:ln w="25400">
            <a:solidFill>
              <a:srgbClr val="EA580C"/>
            </a:solidFill>
            <a:prstDash val="solid"/>
          </a:ln>
        </p:spPr>
      </p:sp>
      <p:sp>
        <p:nvSpPr>
          <p:cNvPr id="13" name="Text 10"/>
          <p:cNvSpPr txBox="1"/>
          <p:nvPr/>
        </p:nvSpPr>
        <p:spPr>
          <a:xfrm>
            <a:off x="6400800" y="39867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4" name="Legend 3"/>
          <p:cNvSpPr txBox="1"/>
          <p:nvPr/>
        </p:nvSpPr>
        <p:spPr>
          <a:xfrm>
            <a:off x="6931152" y="3968496"/>
            <a:ext cx="46817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Records stay on this computer</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No cloud account. Your administrator backs up the data folder.</a:t>
            </a:r>
            <a:endParaRPr lang="en-US" sz="1600" dirty="0"/>
          </a:p>
        </p:txBody>
      </p:sp>
      <p:sp>
        <p:nvSpPr>
          <p:cNvPr id="15"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QA Assessors</a:t>
            </a:r>
            <a:endParaRPr lang="en-US" sz="1000" dirty="0"/>
          </a:p>
        </p:txBody>
      </p:sp>
      <p:sp>
        <p:nvSpPr>
          <p:cNvPr id="16" name="Text 13"/>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Who does what</a:t>
            </a:r>
            <a:endParaRPr lang="en-US" sz="3400" dirty="0"/>
          </a:p>
        </p:txBody>
      </p:sp>
      <p:sp>
        <p:nvSpPr>
          <p:cNvPr id="3" name="Shape 1"/>
          <p:cNvSpPr/>
          <p:nvPr/>
        </p:nvSpPr>
        <p:spPr>
          <a:xfrm>
            <a:off x="548640" y="1234440"/>
            <a:ext cx="5440680" cy="2057400"/>
          </a:xfrm>
          <a:prstGeom prst="roundRect">
            <a:avLst>
              <a:gd name="adj" fmla="val 2667"/>
            </a:avLst>
          </a:prstGeom>
          <a:solidFill>
            <a:srgbClr val="F5F7FA"/>
          </a:solidFill>
          <a:ln w="12700">
            <a:solidFill>
              <a:srgbClr val="E2E8F0"/>
            </a:solidFill>
            <a:prstDash val="solid"/>
          </a:ln>
        </p:spPr>
      </p:sp>
      <p:sp>
        <p:nvSpPr>
          <p:cNvPr id="4" name="Shape 2"/>
          <p:cNvSpPr/>
          <p:nvPr/>
        </p:nvSpPr>
        <p:spPr>
          <a:xfrm>
            <a:off x="777240" y="1435608"/>
            <a:ext cx="457200" cy="457200"/>
          </a:xfrm>
          <a:prstGeom prst="ellipse">
            <a:avLst/>
          </a:prstGeom>
          <a:solidFill>
            <a:srgbClr val="1B2A8F"/>
          </a:solidFill>
          <a:ln w="12700">
            <a:solidFill>
              <a:srgbClr val="1B2A8F"/>
            </a:solidFill>
            <a:prstDash val="solid"/>
          </a:ln>
        </p:spPr>
      </p:sp>
      <p:sp>
        <p:nvSpPr>
          <p:cNvPr id="5" name="Text 3"/>
          <p:cNvSpPr txBox="1"/>
          <p:nvPr/>
        </p:nvSpPr>
        <p:spPr>
          <a:xfrm>
            <a:off x="777240" y="1435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A</a:t>
            </a:r>
            <a:endParaRPr lang="en-US" sz="1600" dirty="0"/>
          </a:p>
        </p:txBody>
      </p:sp>
      <p:sp>
        <p:nvSpPr>
          <p:cNvPr id="6" name="Text 4"/>
          <p:cNvSpPr txBox="1"/>
          <p:nvPr/>
        </p:nvSpPr>
        <p:spPr>
          <a:xfrm>
            <a:off x="1371600" y="1389888"/>
            <a:ext cx="3429000" cy="566928"/>
          </a:xfrm>
          <a:prstGeom prst="rect">
            <a:avLst/>
          </a:prstGeom>
          <a:noFill/>
          <a:ln/>
        </p:spPr>
        <p:txBody>
          <a:bodyPr wrap="square" lIns="0" tIns="0" rIns="0" bIns="0" rtlCol="0" anchor="ctr"/>
          <a:lstStyle/>
          <a:p>
            <a:pPr indent="0" marL="0">
              <a:buNone/>
            </a:pPr>
            <a:r>
              <a:rPr lang="en-US" sz="1800" b="1" dirty="0">
                <a:solidFill>
                  <a:srgbClr val="1E293B"/>
                </a:solidFill>
                <a:latin typeface="Palatino Linotype" pitchFamily="34" charset="0"/>
                <a:ea typeface="Palatino Linotype" pitchFamily="34" charset="-122"/>
                <a:cs typeface="Palatino Linotype" pitchFamily="34" charset="-120"/>
              </a:rPr>
              <a:t>Administrator</a:t>
            </a:r>
            <a:endParaRPr lang="en-US" sz="1800" dirty="0"/>
          </a:p>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Top management and system administrators</a:t>
            </a:r>
            <a:endParaRPr lang="en-US" sz="1800" dirty="0"/>
          </a:p>
        </p:txBody>
      </p:sp>
      <p:sp>
        <p:nvSpPr>
          <p:cNvPr id="7" name="Text 5"/>
          <p:cNvSpPr txBox="1"/>
          <p:nvPr/>
        </p:nvSpPr>
        <p:spPr>
          <a:xfrm>
            <a:off x="868680" y="2103120"/>
            <a:ext cx="48920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Sees and changes everything</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Publishes reviewed activities</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Adds users and sets roles and divisions</a:t>
            </a:r>
            <a:endParaRPr lang="en-US" sz="1300" dirty="0"/>
          </a:p>
        </p:txBody>
      </p:sp>
      <p:sp>
        <p:nvSpPr>
          <p:cNvPr id="8" name="Shape 6"/>
          <p:cNvSpPr/>
          <p:nvPr/>
        </p:nvSpPr>
        <p:spPr>
          <a:xfrm>
            <a:off x="6172200" y="1234440"/>
            <a:ext cx="5440680" cy="2057400"/>
          </a:xfrm>
          <a:prstGeom prst="roundRect">
            <a:avLst>
              <a:gd name="adj" fmla="val 2667"/>
            </a:avLst>
          </a:prstGeom>
          <a:solidFill>
            <a:srgbClr val="F5F7FA"/>
          </a:solidFill>
          <a:ln w="12700">
            <a:solidFill>
              <a:srgbClr val="E2E8F0"/>
            </a:solidFill>
            <a:prstDash val="solid"/>
          </a:ln>
        </p:spPr>
      </p:sp>
      <p:sp>
        <p:nvSpPr>
          <p:cNvPr id="9" name="Shape 7"/>
          <p:cNvSpPr/>
          <p:nvPr/>
        </p:nvSpPr>
        <p:spPr>
          <a:xfrm>
            <a:off x="6400800" y="1435608"/>
            <a:ext cx="457200" cy="457200"/>
          </a:xfrm>
          <a:prstGeom prst="ellipse">
            <a:avLst/>
          </a:prstGeom>
          <a:solidFill>
            <a:srgbClr val="1B2A8F"/>
          </a:solidFill>
          <a:ln w="12700">
            <a:solidFill>
              <a:srgbClr val="1B2A8F"/>
            </a:solidFill>
            <a:prstDash val="solid"/>
          </a:ln>
        </p:spPr>
      </p:sp>
      <p:sp>
        <p:nvSpPr>
          <p:cNvPr id="10" name="Text 8"/>
          <p:cNvSpPr txBox="1"/>
          <p:nvPr/>
        </p:nvSpPr>
        <p:spPr>
          <a:xfrm>
            <a:off x="6400800" y="1435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P</a:t>
            </a:r>
            <a:endParaRPr lang="en-US" sz="1600" dirty="0"/>
          </a:p>
        </p:txBody>
      </p:sp>
      <p:sp>
        <p:nvSpPr>
          <p:cNvPr id="11" name="Text 9"/>
          <p:cNvSpPr txBox="1"/>
          <p:nvPr/>
        </p:nvSpPr>
        <p:spPr>
          <a:xfrm>
            <a:off x="6995160" y="1389888"/>
            <a:ext cx="3429000" cy="566928"/>
          </a:xfrm>
          <a:prstGeom prst="rect">
            <a:avLst/>
          </a:prstGeom>
          <a:noFill/>
          <a:ln/>
        </p:spPr>
        <p:txBody>
          <a:bodyPr wrap="square" lIns="0" tIns="0" rIns="0" bIns="0" rtlCol="0" anchor="ctr"/>
          <a:lstStyle/>
          <a:p>
            <a:pPr indent="0" marL="0">
              <a:buNone/>
            </a:pPr>
            <a:r>
              <a:rPr lang="en-US" sz="1800" b="1" dirty="0">
                <a:solidFill>
                  <a:srgbClr val="1E293B"/>
                </a:solidFill>
                <a:latin typeface="Palatino Linotype" pitchFamily="34" charset="0"/>
                <a:ea typeface="Palatino Linotype" pitchFamily="34" charset="-122"/>
                <a:cs typeface="Palatino Linotype" pitchFamily="34" charset="-120"/>
              </a:rPr>
              <a:t>Planning Admin</a:t>
            </a:r>
            <a:endParaRPr lang="en-US" sz="1800" dirty="0"/>
          </a:p>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Division planning staff</a:t>
            </a:r>
            <a:endParaRPr lang="en-US" sz="1800" dirty="0"/>
          </a:p>
        </p:txBody>
      </p:sp>
      <p:sp>
        <p:nvSpPr>
          <p:cNvPr id="12" name="Text 10"/>
          <p:cNvSpPr txBox="1"/>
          <p:nvPr/>
        </p:nvSpPr>
        <p:spPr>
          <a:xfrm>
            <a:off x="6492240" y="2103120"/>
            <a:ext cx="48920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Plans objectives, projects and outputs in their division</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Reads all activities and reports</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Does not edit or publish activities</a:t>
            </a:r>
            <a:endParaRPr lang="en-US" sz="1300" dirty="0"/>
          </a:p>
        </p:txBody>
      </p:sp>
      <p:sp>
        <p:nvSpPr>
          <p:cNvPr id="13" name="Shape 11"/>
          <p:cNvSpPr/>
          <p:nvPr/>
        </p:nvSpPr>
        <p:spPr>
          <a:xfrm>
            <a:off x="548640" y="3474720"/>
            <a:ext cx="5440680" cy="2057400"/>
          </a:xfrm>
          <a:prstGeom prst="roundRect">
            <a:avLst>
              <a:gd name="adj" fmla="val 2667"/>
            </a:avLst>
          </a:prstGeom>
          <a:solidFill>
            <a:srgbClr val="EEF2FF"/>
          </a:solidFill>
          <a:ln w="31750">
            <a:solidFill>
              <a:srgbClr val="F2B705"/>
            </a:solidFill>
            <a:prstDash val="solid"/>
          </a:ln>
        </p:spPr>
      </p:sp>
      <p:sp>
        <p:nvSpPr>
          <p:cNvPr id="14" name="Shape 12"/>
          <p:cNvSpPr/>
          <p:nvPr/>
        </p:nvSpPr>
        <p:spPr>
          <a:xfrm>
            <a:off x="777240" y="3675888"/>
            <a:ext cx="457200" cy="457200"/>
          </a:xfrm>
          <a:prstGeom prst="ellipse">
            <a:avLst/>
          </a:prstGeom>
          <a:solidFill>
            <a:srgbClr val="1B2A8F"/>
          </a:solidFill>
          <a:ln w="12700">
            <a:solidFill>
              <a:srgbClr val="1B2A8F"/>
            </a:solidFill>
            <a:prstDash val="solid"/>
          </a:ln>
        </p:spPr>
      </p:sp>
      <p:sp>
        <p:nvSpPr>
          <p:cNvPr id="15" name="Text 13"/>
          <p:cNvSpPr txBox="1"/>
          <p:nvPr/>
        </p:nvSpPr>
        <p:spPr>
          <a:xfrm>
            <a:off x="777240" y="36758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Q</a:t>
            </a:r>
            <a:endParaRPr lang="en-US" sz="1600" dirty="0"/>
          </a:p>
        </p:txBody>
      </p:sp>
      <p:sp>
        <p:nvSpPr>
          <p:cNvPr id="16" name="Text 14"/>
          <p:cNvSpPr txBox="1"/>
          <p:nvPr/>
        </p:nvSpPr>
        <p:spPr>
          <a:xfrm>
            <a:off x="1371600" y="3630168"/>
            <a:ext cx="3429000" cy="566928"/>
          </a:xfrm>
          <a:prstGeom prst="rect">
            <a:avLst/>
          </a:prstGeom>
          <a:noFill/>
          <a:ln/>
        </p:spPr>
        <p:txBody>
          <a:bodyPr wrap="square" lIns="0" tIns="0" rIns="0" bIns="0" rtlCol="0" anchor="ctr"/>
          <a:lstStyle/>
          <a:p>
            <a:pPr indent="0" marL="0">
              <a:buNone/>
            </a:pPr>
            <a:r>
              <a:rPr lang="en-US" sz="1800" b="1" dirty="0">
                <a:solidFill>
                  <a:srgbClr val="1E293B"/>
                </a:solidFill>
                <a:latin typeface="Palatino Linotype" pitchFamily="34" charset="0"/>
                <a:ea typeface="Palatino Linotype" pitchFamily="34" charset="-122"/>
                <a:cs typeface="Palatino Linotype" pitchFamily="34" charset="-120"/>
              </a:rPr>
              <a:t>QA Assessor</a:t>
            </a:r>
            <a:endParaRPr lang="en-US" sz="1800" dirty="0"/>
          </a:p>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Quality assurance</a:t>
            </a:r>
            <a:endParaRPr lang="en-US" sz="1800" dirty="0"/>
          </a:p>
        </p:txBody>
      </p:sp>
      <p:sp>
        <p:nvSpPr>
          <p:cNvPr id="17" name="Shape 15"/>
          <p:cNvSpPr/>
          <p:nvPr/>
        </p:nvSpPr>
        <p:spPr>
          <a:xfrm>
            <a:off x="4800600" y="3703320"/>
            <a:ext cx="987552" cy="329184"/>
          </a:xfrm>
          <a:prstGeom prst="roundRect">
            <a:avLst>
              <a:gd name="adj" fmla="val 50000"/>
            </a:avLst>
          </a:prstGeom>
          <a:solidFill>
            <a:srgbClr val="F2B705"/>
          </a:solidFill>
          <a:ln w="12700">
            <a:solidFill>
              <a:srgbClr val="F2B705"/>
            </a:solidFill>
            <a:prstDash val="solid"/>
          </a:ln>
        </p:spPr>
      </p:sp>
      <p:sp>
        <p:nvSpPr>
          <p:cNvPr id="18" name="Text 16"/>
          <p:cNvSpPr txBox="1"/>
          <p:nvPr/>
        </p:nvSpPr>
        <p:spPr>
          <a:xfrm>
            <a:off x="4800600" y="3703320"/>
            <a:ext cx="987552" cy="329184"/>
          </a:xfrm>
          <a:prstGeom prst="rect">
            <a:avLst/>
          </a:prstGeom>
          <a:noFill/>
          <a:ln/>
        </p:spPr>
        <p:txBody>
          <a:bodyPr wrap="square" lIns="0" tIns="0" rIns="0" bIns="0" rtlCol="0" anchor="ctr"/>
          <a:lstStyle/>
          <a:p>
            <a:pPr algn="ctr" indent="0" marL="0">
              <a:buNone/>
            </a:pPr>
            <a:r>
              <a:rPr lang="en-US" sz="1100" b="1" dirty="0">
                <a:solidFill>
                  <a:srgbClr val="1E293B"/>
                </a:solidFill>
                <a:latin typeface="Palatino Linotype" pitchFamily="34" charset="0"/>
                <a:ea typeface="Palatino Linotype" pitchFamily="34" charset="-122"/>
                <a:cs typeface="Palatino Linotype" pitchFamily="34" charset="-120"/>
              </a:rPr>
              <a:t>Your role</a:t>
            </a:r>
            <a:endParaRPr lang="en-US" sz="1100" dirty="0"/>
          </a:p>
        </p:txBody>
      </p:sp>
      <p:sp>
        <p:nvSpPr>
          <p:cNvPr id="19" name="Text 17"/>
          <p:cNvSpPr txBox="1"/>
          <p:nvPr/>
        </p:nvSpPr>
        <p:spPr>
          <a:xfrm>
            <a:off x="868680" y="4343400"/>
            <a:ext cx="48920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Sees every activity</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Starts reviews and records QAME results</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Returns work with a note; does not publish</a:t>
            </a:r>
            <a:endParaRPr lang="en-US" sz="1300" dirty="0"/>
          </a:p>
        </p:txBody>
      </p:sp>
      <p:sp>
        <p:nvSpPr>
          <p:cNvPr id="20" name="Shape 18"/>
          <p:cNvSpPr/>
          <p:nvPr/>
        </p:nvSpPr>
        <p:spPr>
          <a:xfrm>
            <a:off x="6172200" y="3474720"/>
            <a:ext cx="5440680" cy="2057400"/>
          </a:xfrm>
          <a:prstGeom prst="roundRect">
            <a:avLst>
              <a:gd name="adj" fmla="val 2667"/>
            </a:avLst>
          </a:prstGeom>
          <a:solidFill>
            <a:srgbClr val="F5F7FA"/>
          </a:solidFill>
          <a:ln w="12700">
            <a:solidFill>
              <a:srgbClr val="E2E8F0"/>
            </a:solidFill>
            <a:prstDash val="solid"/>
          </a:ln>
        </p:spPr>
      </p:sp>
      <p:sp>
        <p:nvSpPr>
          <p:cNvPr id="21" name="Shape 19"/>
          <p:cNvSpPr/>
          <p:nvPr/>
        </p:nvSpPr>
        <p:spPr>
          <a:xfrm>
            <a:off x="6400800" y="3675888"/>
            <a:ext cx="457200" cy="457200"/>
          </a:xfrm>
          <a:prstGeom prst="ellipse">
            <a:avLst/>
          </a:prstGeom>
          <a:solidFill>
            <a:srgbClr val="1B2A8F"/>
          </a:solidFill>
          <a:ln w="12700">
            <a:solidFill>
              <a:srgbClr val="1B2A8F"/>
            </a:solidFill>
            <a:prstDash val="solid"/>
          </a:ln>
        </p:spPr>
      </p:sp>
      <p:sp>
        <p:nvSpPr>
          <p:cNvPr id="22" name="Text 20"/>
          <p:cNvSpPr txBox="1"/>
          <p:nvPr/>
        </p:nvSpPr>
        <p:spPr>
          <a:xfrm>
            <a:off x="6400800" y="36758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I</a:t>
            </a:r>
            <a:endParaRPr lang="en-US" sz="1600" dirty="0"/>
          </a:p>
        </p:txBody>
      </p:sp>
      <p:sp>
        <p:nvSpPr>
          <p:cNvPr id="23" name="Text 21"/>
          <p:cNvSpPr txBox="1"/>
          <p:nvPr/>
        </p:nvSpPr>
        <p:spPr>
          <a:xfrm>
            <a:off x="6995160" y="3630168"/>
            <a:ext cx="3429000" cy="566928"/>
          </a:xfrm>
          <a:prstGeom prst="rect">
            <a:avLst/>
          </a:prstGeom>
          <a:noFill/>
          <a:ln/>
        </p:spPr>
        <p:txBody>
          <a:bodyPr wrap="square" lIns="0" tIns="0" rIns="0" bIns="0" rtlCol="0" anchor="ctr"/>
          <a:lstStyle/>
          <a:p>
            <a:pPr indent="0" marL="0">
              <a:buNone/>
            </a:pPr>
            <a:r>
              <a:rPr lang="en-US" sz="1800" b="1" dirty="0">
                <a:solidFill>
                  <a:srgbClr val="1E293B"/>
                </a:solidFill>
                <a:latin typeface="Palatino Linotype" pitchFamily="34" charset="0"/>
                <a:ea typeface="Palatino Linotype" pitchFamily="34" charset="-122"/>
                <a:cs typeface="Palatino Linotype" pitchFamily="34" charset="-120"/>
              </a:rPr>
              <a:t>Implementer</a:t>
            </a:r>
            <a:endParaRPr lang="en-US" sz="1800" dirty="0"/>
          </a:p>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Staff who run activities</a:t>
            </a:r>
            <a:endParaRPr lang="en-US" sz="1800" dirty="0"/>
          </a:p>
        </p:txBody>
      </p:sp>
      <p:sp>
        <p:nvSpPr>
          <p:cNvPr id="24" name="Text 22"/>
          <p:cNvSpPr txBox="1"/>
          <p:nvPr/>
        </p:nvSpPr>
        <p:spPr>
          <a:xfrm>
            <a:off x="6492240" y="4343400"/>
            <a:ext cx="48920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Works in their own division</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Creates and submits activities</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Adds evidence links and client feedback</a:t>
            </a:r>
            <a:endParaRPr lang="en-US" sz="1300" dirty="0"/>
          </a:p>
        </p:txBody>
      </p:sp>
      <p:sp>
        <p:nvSpPr>
          <p:cNvPr id="25" name="Shape 23"/>
          <p:cNvSpPr/>
          <p:nvPr/>
        </p:nvSpPr>
        <p:spPr>
          <a:xfrm>
            <a:off x="548640" y="5715000"/>
            <a:ext cx="11064240" cy="548640"/>
          </a:xfrm>
          <a:prstGeom prst="roundRect">
            <a:avLst>
              <a:gd name="adj" fmla="val 13333"/>
            </a:avLst>
          </a:prstGeom>
          <a:solidFill>
            <a:srgbClr val="EEF2FF"/>
          </a:solidFill>
          <a:ln w="12700">
            <a:solidFill>
              <a:srgbClr val="EEF2FF"/>
            </a:solidFill>
            <a:prstDash val="solid"/>
          </a:ln>
        </p:spPr>
      </p:sp>
      <p:sp>
        <p:nvSpPr>
          <p:cNvPr id="26" name="Text 24"/>
          <p:cNvSpPr txBox="1"/>
          <p:nvPr/>
        </p:nvSpPr>
        <p:spPr>
          <a:xfrm>
            <a:off x="749808" y="5806440"/>
            <a:ext cx="10661904" cy="36576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Checked by the system: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buttons you cannot use do not appear, and a change outside your role or division is refused.</a:t>
            </a:r>
            <a:endParaRPr lang="en-US" sz="1400" dirty="0"/>
          </a:p>
        </p:txBody>
      </p:sp>
      <p:sp>
        <p:nvSpPr>
          <p:cNvPr id="27" name="Text 2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QA Assessors</a:t>
            </a:r>
            <a:endParaRPr lang="en-US" sz="1000" dirty="0"/>
          </a:p>
        </p:txBody>
      </p:sp>
      <p:sp>
        <p:nvSpPr>
          <p:cNvPr id="28" name="Text 26"/>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Signing in</a:t>
            </a:r>
            <a:endParaRPr lang="en-US" sz="3400" dirty="0"/>
          </a:p>
        </p:txBody>
      </p:sp>
      <p:sp>
        <p:nvSpPr>
          <p:cNvPr id="3" name="signin frame"/>
          <p:cNvSpPr/>
          <p:nvPr/>
        </p:nvSpPr>
        <p:spPr>
          <a:xfrm>
            <a:off x="704088" y="1252728"/>
            <a:ext cx="4352544" cy="4668012"/>
          </a:xfrm>
          <a:prstGeom prst="roundRect">
            <a:avLst>
              <a:gd name="adj" fmla="val 630"/>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signin" descr="DQAMP sign-in form with Email, Password and Sign in">    </p:cNvPr>
          <p:cNvPicPr>
            <a:picLocks noChangeAspect="1"/>
          </p:cNvPicPr>
          <p:nvPr/>
        </p:nvPicPr>
        <p:blipFill>
          <a:blip r:embed="rId1"/>
          <a:stretch>
            <a:fillRect/>
          </a:stretch>
        </p:blipFill>
        <p:spPr>
          <a:xfrm>
            <a:off x="777240" y="1325880"/>
            <a:ext cx="4206240" cy="4521708"/>
          </a:xfrm>
          <a:prstGeom prst="rect">
            <a:avLst/>
          </a:prstGeom>
        </p:spPr>
      </p:pic>
      <p:sp>
        <p:nvSpPr>
          <p:cNvPr id="5" name="Highlight 1"/>
          <p:cNvSpPr/>
          <p:nvPr/>
        </p:nvSpPr>
        <p:spPr>
          <a:xfrm>
            <a:off x="1017478" y="2713274"/>
            <a:ext cx="3725764" cy="456369"/>
          </a:xfrm>
          <a:prstGeom prst="roundRect">
            <a:avLst>
              <a:gd name="adj" fmla="val 10018"/>
            </a:avLst>
          </a:prstGeom>
          <a:ln w="31750">
            <a:solidFill>
              <a:srgbClr val="EA580C"/>
            </a:solidFill>
            <a:prstDash val="solid"/>
          </a:ln>
        </p:spPr>
      </p:sp>
      <p:sp>
        <p:nvSpPr>
          <p:cNvPr id="6" name="Highlight 2"/>
          <p:cNvSpPr/>
          <p:nvPr/>
        </p:nvSpPr>
        <p:spPr>
          <a:xfrm>
            <a:off x="1017478" y="3535403"/>
            <a:ext cx="3725764" cy="456369"/>
          </a:xfrm>
          <a:prstGeom prst="roundRect">
            <a:avLst>
              <a:gd name="adj" fmla="val 10018"/>
            </a:avLst>
          </a:prstGeom>
          <a:ln w="31750">
            <a:solidFill>
              <a:srgbClr val="EA580C"/>
            </a:solidFill>
            <a:prstDash val="solid"/>
          </a:ln>
        </p:spPr>
      </p:sp>
      <p:sp>
        <p:nvSpPr>
          <p:cNvPr id="7" name="Highlight 3"/>
          <p:cNvSpPr/>
          <p:nvPr/>
        </p:nvSpPr>
        <p:spPr>
          <a:xfrm>
            <a:off x="1017478" y="4128100"/>
            <a:ext cx="3725764" cy="475488"/>
          </a:xfrm>
          <a:prstGeom prst="roundRect">
            <a:avLst>
              <a:gd name="adj" fmla="val 9615"/>
            </a:avLst>
          </a:prstGeom>
          <a:ln w="31750">
            <a:solidFill>
              <a:srgbClr val="EA580C"/>
            </a:solidFill>
            <a:prstDash val="solid"/>
          </a:ln>
        </p:spPr>
      </p:sp>
      <p:sp>
        <p:nvSpPr>
          <p:cNvPr id="8" name="Callout number 1"/>
          <p:cNvSpPr/>
          <p:nvPr/>
        </p:nvSpPr>
        <p:spPr>
          <a:xfrm>
            <a:off x="660862" y="2786011"/>
            <a:ext cx="310896" cy="310896"/>
          </a:xfrm>
          <a:prstGeom prst="ellipse">
            <a:avLst/>
          </a:prstGeom>
          <a:solidFill>
            <a:srgbClr val="1B2A8F"/>
          </a:solidFill>
          <a:ln w="25400">
            <a:solidFill>
              <a:srgbClr val="EA580C"/>
            </a:solidFill>
            <a:prstDash val="solid"/>
          </a:ln>
        </p:spPr>
      </p:sp>
      <p:sp>
        <p:nvSpPr>
          <p:cNvPr id="9" name="Text 6"/>
          <p:cNvSpPr txBox="1"/>
          <p:nvPr/>
        </p:nvSpPr>
        <p:spPr>
          <a:xfrm>
            <a:off x="660862" y="2786011"/>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10" name="Callout number 2"/>
          <p:cNvSpPr/>
          <p:nvPr/>
        </p:nvSpPr>
        <p:spPr>
          <a:xfrm>
            <a:off x="660862" y="3608139"/>
            <a:ext cx="310896" cy="310896"/>
          </a:xfrm>
          <a:prstGeom prst="ellipse">
            <a:avLst/>
          </a:prstGeom>
          <a:solidFill>
            <a:srgbClr val="1B2A8F"/>
          </a:solidFill>
          <a:ln w="25400">
            <a:solidFill>
              <a:srgbClr val="EA580C"/>
            </a:solidFill>
            <a:prstDash val="solid"/>
          </a:ln>
        </p:spPr>
      </p:sp>
      <p:sp>
        <p:nvSpPr>
          <p:cNvPr id="11" name="Text 8"/>
          <p:cNvSpPr txBox="1"/>
          <p:nvPr/>
        </p:nvSpPr>
        <p:spPr>
          <a:xfrm>
            <a:off x="660862" y="3608139"/>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2" name="Callout number 3"/>
          <p:cNvSpPr/>
          <p:nvPr/>
        </p:nvSpPr>
        <p:spPr>
          <a:xfrm>
            <a:off x="660862" y="4210396"/>
            <a:ext cx="310896" cy="310896"/>
          </a:xfrm>
          <a:prstGeom prst="ellipse">
            <a:avLst/>
          </a:prstGeom>
          <a:solidFill>
            <a:srgbClr val="1B2A8F"/>
          </a:solidFill>
          <a:ln w="25400">
            <a:solidFill>
              <a:srgbClr val="EA580C"/>
            </a:solidFill>
            <a:prstDash val="solid"/>
          </a:ln>
        </p:spPr>
      </p:sp>
      <p:sp>
        <p:nvSpPr>
          <p:cNvPr id="13" name="Text 10"/>
          <p:cNvSpPr txBox="1"/>
          <p:nvPr/>
        </p:nvSpPr>
        <p:spPr>
          <a:xfrm>
            <a:off x="660862" y="421039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3</a:t>
            </a:r>
            <a:endParaRPr lang="en-US" sz="1200" dirty="0"/>
          </a:p>
        </p:txBody>
      </p:sp>
      <p:sp>
        <p:nvSpPr>
          <p:cNvPr id="14" name="Callout number 1"/>
          <p:cNvSpPr/>
          <p:nvPr/>
        </p:nvSpPr>
        <p:spPr>
          <a:xfrm>
            <a:off x="5852160" y="1344168"/>
            <a:ext cx="365760" cy="365760"/>
          </a:xfrm>
          <a:prstGeom prst="ellipse">
            <a:avLst/>
          </a:prstGeom>
          <a:solidFill>
            <a:srgbClr val="1B2A8F"/>
          </a:solidFill>
          <a:ln w="25400">
            <a:solidFill>
              <a:srgbClr val="EA580C"/>
            </a:solidFill>
            <a:prstDash val="solid"/>
          </a:ln>
        </p:spPr>
      </p:sp>
      <p:sp>
        <p:nvSpPr>
          <p:cNvPr id="15" name="Text 12"/>
          <p:cNvSpPr txBox="1"/>
          <p:nvPr/>
        </p:nvSpPr>
        <p:spPr>
          <a:xfrm>
            <a:off x="5852160" y="1344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6" name="Legend 1"/>
          <p:cNvSpPr txBox="1"/>
          <p:nvPr/>
        </p:nvSpPr>
        <p:spPr>
          <a:xfrm>
            <a:off x="6382512" y="1325880"/>
            <a:ext cx="5230368" cy="76809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Email</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The address your administrator registered for you.</a:t>
            </a:r>
            <a:endParaRPr lang="en-US" sz="1600" dirty="0"/>
          </a:p>
        </p:txBody>
      </p:sp>
      <p:sp>
        <p:nvSpPr>
          <p:cNvPr id="17" name="Callout number 2"/>
          <p:cNvSpPr/>
          <p:nvPr/>
        </p:nvSpPr>
        <p:spPr>
          <a:xfrm>
            <a:off x="5852160" y="2167128"/>
            <a:ext cx="365760" cy="365760"/>
          </a:xfrm>
          <a:prstGeom prst="ellipse">
            <a:avLst/>
          </a:prstGeom>
          <a:solidFill>
            <a:srgbClr val="1B2A8F"/>
          </a:solidFill>
          <a:ln w="25400">
            <a:solidFill>
              <a:srgbClr val="EA580C"/>
            </a:solidFill>
            <a:prstDash val="solid"/>
          </a:ln>
        </p:spPr>
      </p:sp>
      <p:sp>
        <p:nvSpPr>
          <p:cNvPr id="18" name="Text 15"/>
          <p:cNvSpPr txBox="1"/>
          <p:nvPr/>
        </p:nvSpPr>
        <p:spPr>
          <a:xfrm>
            <a:off x="5852160" y="2167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9" name="Legend 2"/>
          <p:cNvSpPr txBox="1"/>
          <p:nvPr/>
        </p:nvSpPr>
        <p:spPr>
          <a:xfrm>
            <a:off x="6382512" y="2148840"/>
            <a:ext cx="5230368" cy="76809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Password</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The temporary password your administrator gave you.</a:t>
            </a:r>
            <a:endParaRPr lang="en-US" sz="1600" dirty="0"/>
          </a:p>
        </p:txBody>
      </p:sp>
      <p:sp>
        <p:nvSpPr>
          <p:cNvPr id="20" name="Callout number 3"/>
          <p:cNvSpPr/>
          <p:nvPr/>
        </p:nvSpPr>
        <p:spPr>
          <a:xfrm>
            <a:off x="5852160" y="2990088"/>
            <a:ext cx="365760" cy="365760"/>
          </a:xfrm>
          <a:prstGeom prst="ellipse">
            <a:avLst/>
          </a:prstGeom>
          <a:solidFill>
            <a:srgbClr val="1B2A8F"/>
          </a:solidFill>
          <a:ln w="25400">
            <a:solidFill>
              <a:srgbClr val="EA580C"/>
            </a:solidFill>
            <a:prstDash val="solid"/>
          </a:ln>
        </p:spPr>
      </p:sp>
      <p:sp>
        <p:nvSpPr>
          <p:cNvPr id="21" name="Text 18"/>
          <p:cNvSpPr txBox="1"/>
          <p:nvPr/>
        </p:nvSpPr>
        <p:spPr>
          <a:xfrm>
            <a:off x="5852160" y="2990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2" name="Legend 3"/>
          <p:cNvSpPr txBox="1"/>
          <p:nvPr/>
        </p:nvSpPr>
        <p:spPr>
          <a:xfrm>
            <a:off x="6382512" y="2971800"/>
            <a:ext cx="5230368" cy="76809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Sign in</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Opens the Dashboard.</a:t>
            </a:r>
            <a:endParaRPr lang="en-US" sz="1600" dirty="0"/>
          </a:p>
        </p:txBody>
      </p:sp>
      <p:sp>
        <p:nvSpPr>
          <p:cNvPr id="23" name="Shape 20"/>
          <p:cNvSpPr/>
          <p:nvPr/>
        </p:nvSpPr>
        <p:spPr>
          <a:xfrm>
            <a:off x="5852160" y="3977640"/>
            <a:ext cx="5760720" cy="777240"/>
          </a:xfrm>
          <a:prstGeom prst="roundRect">
            <a:avLst>
              <a:gd name="adj" fmla="val 9412"/>
            </a:avLst>
          </a:prstGeom>
          <a:solidFill>
            <a:srgbClr val="EEF2FF"/>
          </a:solidFill>
          <a:ln w="12700">
            <a:solidFill>
              <a:srgbClr val="EEF2FF"/>
            </a:solidFill>
            <a:prstDash val="solid"/>
          </a:ln>
        </p:spPr>
      </p:sp>
      <p:sp>
        <p:nvSpPr>
          <p:cNvPr id="24" name="Text 21"/>
          <p:cNvSpPr txBox="1"/>
          <p:nvPr/>
        </p:nvSpPr>
        <p:spPr>
          <a:xfrm>
            <a:off x="6053328" y="4069080"/>
            <a:ext cx="5358384" cy="59436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Where: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Open DQAMP on the computer where it runs, at http://127.0.0.1:3002.</a:t>
            </a:r>
            <a:endParaRPr lang="en-US" sz="1400" dirty="0"/>
          </a:p>
        </p:txBody>
      </p:sp>
      <p:sp>
        <p:nvSpPr>
          <p:cNvPr id="25" name="Shape 22"/>
          <p:cNvSpPr/>
          <p:nvPr/>
        </p:nvSpPr>
        <p:spPr>
          <a:xfrm>
            <a:off x="5852160" y="4937760"/>
            <a:ext cx="5760720" cy="777240"/>
          </a:xfrm>
          <a:prstGeom prst="roundRect">
            <a:avLst>
              <a:gd name="adj" fmla="val 9412"/>
            </a:avLst>
          </a:prstGeom>
          <a:solidFill>
            <a:srgbClr val="EEF2FF"/>
          </a:solidFill>
          <a:ln w="12700">
            <a:solidFill>
              <a:srgbClr val="EEF2FF"/>
            </a:solidFill>
            <a:prstDash val="solid"/>
          </a:ln>
        </p:spPr>
      </p:sp>
      <p:sp>
        <p:nvSpPr>
          <p:cNvPr id="26" name="Text 23"/>
          <p:cNvSpPr txBox="1"/>
          <p:nvPr/>
        </p:nvSpPr>
        <p:spPr>
          <a:xfrm>
            <a:off x="6053328" y="5029200"/>
            <a:ext cx="5358384" cy="59436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No account yet?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Your administrator creates it. DQAMP does not send email invitations.</a:t>
            </a:r>
            <a:endParaRPr lang="en-US" sz="1400" dirty="0"/>
          </a:p>
        </p:txBody>
      </p:sp>
      <p:sp>
        <p:nvSpPr>
          <p:cNvPr id="27" name="Text 2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QA Assessors</a:t>
            </a:r>
            <a:endParaRPr lang="en-US" sz="1000" dirty="0"/>
          </a:p>
        </p:txBody>
      </p:sp>
      <p:sp>
        <p:nvSpPr>
          <p:cNvPr id="28" name="Text 25"/>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Finding your way</a:t>
            </a:r>
            <a:endParaRPr lang="en-US" sz="3400" dirty="0"/>
          </a:p>
        </p:txBody>
      </p:sp>
      <p:sp>
        <p:nvSpPr>
          <p:cNvPr id="3" name="q-dashboard frame"/>
          <p:cNvSpPr/>
          <p:nvPr/>
        </p:nvSpPr>
        <p:spPr>
          <a:xfrm>
            <a:off x="612648" y="1298448"/>
            <a:ext cx="6912864" cy="4375404"/>
          </a:xfrm>
          <a:prstGeom prst="roundRect">
            <a:avLst>
              <a:gd name="adj" fmla="val 627"/>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q-dashboard" descr="DQAMP dashboard for a QA Assessor">    </p:cNvPr>
          <p:cNvPicPr>
            <a:picLocks noChangeAspect="1"/>
          </p:cNvPicPr>
          <p:nvPr/>
        </p:nvPicPr>
        <p:blipFill>
          <a:blip r:embed="rId1"/>
          <a:stretch>
            <a:fillRect/>
          </a:stretch>
        </p:blipFill>
        <p:spPr>
          <a:xfrm>
            <a:off x="685800" y="1371600"/>
            <a:ext cx="6766560" cy="4229100"/>
          </a:xfrm>
          <a:prstGeom prst="rect">
            <a:avLst/>
          </a:prstGeom>
        </p:spPr>
      </p:pic>
      <p:sp>
        <p:nvSpPr>
          <p:cNvPr id="5" name="Highlight 1"/>
          <p:cNvSpPr/>
          <p:nvPr/>
        </p:nvSpPr>
        <p:spPr>
          <a:xfrm>
            <a:off x="658368" y="1749604"/>
            <a:ext cx="1253109" cy="3535501"/>
          </a:xfrm>
          <a:prstGeom prst="roundRect">
            <a:avLst>
              <a:gd name="adj" fmla="val 3649"/>
            </a:avLst>
          </a:prstGeom>
          <a:ln w="31750">
            <a:solidFill>
              <a:srgbClr val="EA580C"/>
            </a:solidFill>
            <a:prstDash val="solid"/>
          </a:ln>
        </p:spPr>
      </p:sp>
      <p:sp>
        <p:nvSpPr>
          <p:cNvPr id="6" name="Highlight 2"/>
          <p:cNvSpPr/>
          <p:nvPr/>
        </p:nvSpPr>
        <p:spPr>
          <a:xfrm>
            <a:off x="2466822" y="1982278"/>
            <a:ext cx="4406872" cy="196715"/>
          </a:xfrm>
          <a:prstGeom prst="roundRect">
            <a:avLst>
              <a:gd name="adj" fmla="val 23242"/>
            </a:avLst>
          </a:prstGeom>
          <a:ln w="31750">
            <a:solidFill>
              <a:srgbClr val="EA580C"/>
            </a:solidFill>
            <a:prstDash val="solid"/>
          </a:ln>
        </p:spPr>
      </p:sp>
      <p:sp>
        <p:nvSpPr>
          <p:cNvPr id="7" name="Highlight 3"/>
          <p:cNvSpPr/>
          <p:nvPr/>
        </p:nvSpPr>
        <p:spPr>
          <a:xfrm>
            <a:off x="2011680" y="2312089"/>
            <a:ext cx="5317744" cy="605088"/>
          </a:xfrm>
          <a:prstGeom prst="roundRect">
            <a:avLst>
              <a:gd name="adj" fmla="val 7556"/>
            </a:avLst>
          </a:prstGeom>
          <a:ln w="31750">
            <a:solidFill>
              <a:srgbClr val="EA580C"/>
            </a:solidFill>
            <a:prstDash val="solid"/>
          </a:ln>
        </p:spPr>
      </p:sp>
      <p:sp>
        <p:nvSpPr>
          <p:cNvPr id="8" name="Callout number 1"/>
          <p:cNvSpPr/>
          <p:nvPr/>
        </p:nvSpPr>
        <p:spPr>
          <a:xfrm>
            <a:off x="502920" y="1594156"/>
            <a:ext cx="310896" cy="310896"/>
          </a:xfrm>
          <a:prstGeom prst="ellipse">
            <a:avLst/>
          </a:prstGeom>
          <a:solidFill>
            <a:srgbClr val="1B2A8F"/>
          </a:solidFill>
          <a:ln w="25400">
            <a:solidFill>
              <a:srgbClr val="EA580C"/>
            </a:solidFill>
            <a:prstDash val="solid"/>
          </a:ln>
        </p:spPr>
      </p:sp>
      <p:sp>
        <p:nvSpPr>
          <p:cNvPr id="9" name="Text 6"/>
          <p:cNvSpPr txBox="1"/>
          <p:nvPr/>
        </p:nvSpPr>
        <p:spPr>
          <a:xfrm>
            <a:off x="502920" y="15941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10" name="Callout number 2"/>
          <p:cNvSpPr/>
          <p:nvPr/>
        </p:nvSpPr>
        <p:spPr>
          <a:xfrm>
            <a:off x="2110206" y="1925187"/>
            <a:ext cx="310896" cy="310896"/>
          </a:xfrm>
          <a:prstGeom prst="ellipse">
            <a:avLst/>
          </a:prstGeom>
          <a:solidFill>
            <a:srgbClr val="1B2A8F"/>
          </a:solidFill>
          <a:ln w="25400">
            <a:solidFill>
              <a:srgbClr val="EA580C"/>
            </a:solidFill>
            <a:prstDash val="solid"/>
          </a:ln>
        </p:spPr>
      </p:sp>
      <p:sp>
        <p:nvSpPr>
          <p:cNvPr id="11" name="Text 8"/>
          <p:cNvSpPr txBox="1"/>
          <p:nvPr/>
        </p:nvSpPr>
        <p:spPr>
          <a:xfrm>
            <a:off x="2110206" y="1925187"/>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2" name="Callout number 3"/>
          <p:cNvSpPr/>
          <p:nvPr/>
        </p:nvSpPr>
        <p:spPr>
          <a:xfrm>
            <a:off x="7375144" y="2459184"/>
            <a:ext cx="310896" cy="310896"/>
          </a:xfrm>
          <a:prstGeom prst="ellipse">
            <a:avLst/>
          </a:prstGeom>
          <a:solidFill>
            <a:srgbClr val="1B2A8F"/>
          </a:solidFill>
          <a:ln w="25400">
            <a:solidFill>
              <a:srgbClr val="EA580C"/>
            </a:solidFill>
            <a:prstDash val="solid"/>
          </a:ln>
        </p:spPr>
      </p:sp>
      <p:sp>
        <p:nvSpPr>
          <p:cNvPr id="13" name="Text 10"/>
          <p:cNvSpPr txBox="1"/>
          <p:nvPr/>
        </p:nvSpPr>
        <p:spPr>
          <a:xfrm>
            <a:off x="7375144" y="24591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3</a:t>
            </a:r>
            <a:endParaRPr lang="en-US" sz="1200" dirty="0"/>
          </a:p>
        </p:txBody>
      </p:sp>
      <p:sp>
        <p:nvSpPr>
          <p:cNvPr id="14" name="Callout number 1"/>
          <p:cNvSpPr/>
          <p:nvPr/>
        </p:nvSpPr>
        <p:spPr>
          <a:xfrm>
            <a:off x="7818120" y="1344168"/>
            <a:ext cx="365760" cy="365760"/>
          </a:xfrm>
          <a:prstGeom prst="ellipse">
            <a:avLst/>
          </a:prstGeom>
          <a:solidFill>
            <a:srgbClr val="1B2A8F"/>
          </a:solidFill>
          <a:ln w="25400">
            <a:solidFill>
              <a:srgbClr val="EA580C"/>
            </a:solidFill>
            <a:prstDash val="solid"/>
          </a:ln>
        </p:spPr>
      </p:sp>
      <p:sp>
        <p:nvSpPr>
          <p:cNvPr id="15" name="Text 12"/>
          <p:cNvSpPr txBox="1"/>
          <p:nvPr/>
        </p:nvSpPr>
        <p:spPr>
          <a:xfrm>
            <a:off x="7818120" y="1344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6" name="Legend 1"/>
          <p:cNvSpPr txBox="1"/>
          <p:nvPr/>
        </p:nvSpPr>
        <p:spPr>
          <a:xfrm>
            <a:off x="8348472" y="1325880"/>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Menu</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Activities, the assessment calendar and ARTA feedback.</a:t>
            </a:r>
            <a:endParaRPr lang="en-US" sz="1600" dirty="0"/>
          </a:p>
        </p:txBody>
      </p:sp>
      <p:sp>
        <p:nvSpPr>
          <p:cNvPr id="17" name="Callout number 2"/>
          <p:cNvSpPr/>
          <p:nvPr/>
        </p:nvSpPr>
        <p:spPr>
          <a:xfrm>
            <a:off x="7818120" y="2185416"/>
            <a:ext cx="365760" cy="365760"/>
          </a:xfrm>
          <a:prstGeom prst="ellipse">
            <a:avLst/>
          </a:prstGeom>
          <a:solidFill>
            <a:srgbClr val="1B2A8F"/>
          </a:solidFill>
          <a:ln w="25400">
            <a:solidFill>
              <a:srgbClr val="EA580C"/>
            </a:solidFill>
            <a:prstDash val="solid"/>
          </a:ln>
        </p:spPr>
      </p:sp>
      <p:sp>
        <p:nvSpPr>
          <p:cNvPr id="18" name="Text 15"/>
          <p:cNvSpPr txBox="1"/>
          <p:nvPr/>
        </p:nvSpPr>
        <p:spPr>
          <a:xfrm>
            <a:off x="7818120" y="218541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9" name="Legend 2"/>
          <p:cNvSpPr txBox="1"/>
          <p:nvPr/>
        </p:nvSpPr>
        <p:spPr>
          <a:xfrm>
            <a:off x="8348472" y="2167128"/>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Filters</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Narrow every figure by quarter, division and project.</a:t>
            </a:r>
            <a:endParaRPr lang="en-US" sz="1600" dirty="0"/>
          </a:p>
        </p:txBody>
      </p:sp>
      <p:sp>
        <p:nvSpPr>
          <p:cNvPr id="20" name="Callout number 3"/>
          <p:cNvSpPr/>
          <p:nvPr/>
        </p:nvSpPr>
        <p:spPr>
          <a:xfrm>
            <a:off x="7818120" y="3026664"/>
            <a:ext cx="365760" cy="365760"/>
          </a:xfrm>
          <a:prstGeom prst="ellipse">
            <a:avLst/>
          </a:prstGeom>
          <a:solidFill>
            <a:srgbClr val="1B2A8F"/>
          </a:solidFill>
          <a:ln w="25400">
            <a:solidFill>
              <a:srgbClr val="EA580C"/>
            </a:solidFill>
            <a:prstDash val="solid"/>
          </a:ln>
        </p:spPr>
      </p:sp>
      <p:sp>
        <p:nvSpPr>
          <p:cNvPr id="21" name="Text 18"/>
          <p:cNvSpPr txBox="1"/>
          <p:nvPr/>
        </p:nvSpPr>
        <p:spPr>
          <a:xfrm>
            <a:off x="7818120" y="30266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2" name="Legend 3"/>
          <p:cNvSpPr txBox="1"/>
          <p:nvPr/>
        </p:nvSpPr>
        <p:spPr>
          <a:xfrm>
            <a:off x="8348472" y="3008376"/>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Headline figures</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Activities, projects, allocation and completion.</a:t>
            </a:r>
            <a:endParaRPr lang="en-US" sz="1600" dirty="0"/>
          </a:p>
        </p:txBody>
      </p:sp>
      <p:sp>
        <p:nvSpPr>
          <p:cNvPr id="23" name="Shape 20"/>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24" name="Text 21"/>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Tip: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you see every division's activities.</a:t>
            </a:r>
            <a:endParaRPr lang="en-US" sz="1400" dirty="0"/>
          </a:p>
        </p:txBody>
      </p:sp>
      <p:sp>
        <p:nvSpPr>
          <p:cNvPr id="25" name="Text 2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QA Assessors</a:t>
            </a:r>
            <a:endParaRPr lang="en-US" sz="1000" dirty="0"/>
          </a:p>
        </p:txBody>
      </p:sp>
      <p:sp>
        <p:nvSpPr>
          <p:cNvPr id="26" name="Text 23"/>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The workflow at a glance</a:t>
            </a:r>
            <a:endParaRPr lang="en-US" sz="3400" dirty="0"/>
          </a:p>
        </p:txBody>
      </p:sp>
      <p:sp>
        <p:nvSpPr>
          <p:cNvPr id="3" name="Shape 1"/>
          <p:cNvSpPr/>
          <p:nvPr/>
        </p:nvSpPr>
        <p:spPr>
          <a:xfrm>
            <a:off x="1897380" y="2034540"/>
            <a:ext cx="8366760" cy="0"/>
          </a:xfrm>
          <a:prstGeom prst="line">
            <a:avLst/>
          </a:prstGeom>
          <a:noFill/>
          <a:ln w="25400">
            <a:solidFill>
              <a:srgbClr val="1B2A8F"/>
            </a:solidFill>
            <a:prstDash val="solid"/>
          </a:ln>
        </p:spPr>
      </p:sp>
      <p:sp>
        <p:nvSpPr>
          <p:cNvPr id="4" name="Shape 2"/>
          <p:cNvSpPr/>
          <p:nvPr/>
        </p:nvSpPr>
        <p:spPr>
          <a:xfrm>
            <a:off x="1463040" y="1600200"/>
            <a:ext cx="868680" cy="868680"/>
          </a:xfrm>
          <a:prstGeom prst="ellipse">
            <a:avLst/>
          </a:prstGeom>
          <a:solidFill>
            <a:srgbClr val="FFFFFF"/>
          </a:solidFill>
          <a:ln w="31750">
            <a:solidFill>
              <a:srgbClr val="1B2A8F"/>
            </a:solidFill>
            <a:prstDash val="solid"/>
          </a:ln>
        </p:spPr>
      </p:sp>
      <p:sp>
        <p:nvSpPr>
          <p:cNvPr id="5" name="Text 3"/>
          <p:cNvSpPr txBox="1"/>
          <p:nvPr/>
        </p:nvSpPr>
        <p:spPr>
          <a:xfrm>
            <a:off x="1463040" y="1600200"/>
            <a:ext cx="868680" cy="868680"/>
          </a:xfrm>
          <a:prstGeom prst="rect">
            <a:avLst/>
          </a:prstGeom>
          <a:noFill/>
          <a:ln/>
        </p:spPr>
        <p:txBody>
          <a:bodyPr wrap="square" lIns="0" tIns="0" rIns="0" bIns="0" rtlCol="0" anchor="ctr"/>
          <a:lstStyle/>
          <a:p>
            <a:pPr algn="ctr" indent="0" marL="0">
              <a:buNone/>
            </a:pPr>
            <a:r>
              <a:rPr lang="en-US" sz="2600" b="1" dirty="0">
                <a:solidFill>
                  <a:srgbClr val="1B2A8F"/>
                </a:solidFill>
                <a:latin typeface="Century Gothic" pitchFamily="34" charset="0"/>
                <a:ea typeface="Century Gothic" pitchFamily="34" charset="-122"/>
                <a:cs typeface="Century Gothic" pitchFamily="34" charset="-120"/>
              </a:rPr>
              <a:t>1</a:t>
            </a:r>
            <a:endParaRPr lang="en-US" sz="2600" dirty="0"/>
          </a:p>
        </p:txBody>
      </p:sp>
      <p:sp>
        <p:nvSpPr>
          <p:cNvPr id="6" name="Text 4"/>
          <p:cNvSpPr txBox="1"/>
          <p:nvPr/>
        </p:nvSpPr>
        <p:spPr>
          <a:xfrm>
            <a:off x="731520" y="2606040"/>
            <a:ext cx="2331720" cy="731520"/>
          </a:xfrm>
          <a:prstGeom prst="rect">
            <a:avLst/>
          </a:prstGeom>
          <a:noFill/>
          <a:ln/>
        </p:spPr>
        <p:txBody>
          <a:bodyPr wrap="square" lIns="0" tIns="0" rIns="0" bIns="0" rtlCol="0" anchor="t"/>
          <a:lstStyle/>
          <a:p>
            <a:pPr algn="ctr" indent="0" marL="0">
              <a:buNone/>
            </a:pPr>
            <a:r>
              <a:rPr lang="en-US" sz="1600" b="1" dirty="0">
                <a:solidFill>
                  <a:srgbClr val="1E293B"/>
                </a:solidFill>
                <a:latin typeface="Palatino Linotype" pitchFamily="34" charset="0"/>
                <a:ea typeface="Palatino Linotype" pitchFamily="34" charset="-122"/>
                <a:cs typeface="Palatino Linotype" pitchFamily="34" charset="-120"/>
              </a:rPr>
              <a:t>Draft</a:t>
            </a:r>
            <a:endParaRPr lang="en-US" sz="1600" dirty="0"/>
          </a:p>
          <a:p>
            <a:pPr algn="ctr" indent="0" marL="0">
              <a:buNone/>
            </a:pPr>
            <a:r>
              <a:rPr lang="en-US" sz="1300" dirty="0">
                <a:solidFill>
                  <a:srgbClr val="536379"/>
                </a:solidFill>
                <a:latin typeface="Palatino Linotype" pitchFamily="34" charset="0"/>
                <a:ea typeface="Palatino Linotype" pitchFamily="34" charset="-122"/>
                <a:cs typeface="Palatino Linotype" pitchFamily="34" charset="-120"/>
              </a:rPr>
              <a:t>Implementer writes it</a:t>
            </a:r>
            <a:endParaRPr lang="en-US" sz="1600" dirty="0"/>
          </a:p>
        </p:txBody>
      </p:sp>
      <p:sp>
        <p:nvSpPr>
          <p:cNvPr id="7" name="Shape 5"/>
          <p:cNvSpPr/>
          <p:nvPr/>
        </p:nvSpPr>
        <p:spPr>
          <a:xfrm>
            <a:off x="4251960" y="1600200"/>
            <a:ext cx="868680" cy="868680"/>
          </a:xfrm>
          <a:prstGeom prst="ellipse">
            <a:avLst/>
          </a:prstGeom>
          <a:solidFill>
            <a:srgbClr val="FFFFFF"/>
          </a:solidFill>
          <a:ln w="31750">
            <a:solidFill>
              <a:srgbClr val="1B2A8F"/>
            </a:solidFill>
            <a:prstDash val="solid"/>
          </a:ln>
        </p:spPr>
      </p:sp>
      <p:sp>
        <p:nvSpPr>
          <p:cNvPr id="8" name="Text 6"/>
          <p:cNvSpPr txBox="1"/>
          <p:nvPr/>
        </p:nvSpPr>
        <p:spPr>
          <a:xfrm>
            <a:off x="4251960" y="1600200"/>
            <a:ext cx="868680" cy="868680"/>
          </a:xfrm>
          <a:prstGeom prst="rect">
            <a:avLst/>
          </a:prstGeom>
          <a:noFill/>
          <a:ln/>
        </p:spPr>
        <p:txBody>
          <a:bodyPr wrap="square" lIns="0" tIns="0" rIns="0" bIns="0" rtlCol="0" anchor="ctr"/>
          <a:lstStyle/>
          <a:p>
            <a:pPr algn="ctr" indent="0" marL="0">
              <a:buNone/>
            </a:pPr>
            <a:r>
              <a:rPr lang="en-US" sz="2600" b="1" dirty="0">
                <a:solidFill>
                  <a:srgbClr val="1B2A8F"/>
                </a:solidFill>
                <a:latin typeface="Century Gothic" pitchFamily="34" charset="0"/>
                <a:ea typeface="Century Gothic" pitchFamily="34" charset="-122"/>
                <a:cs typeface="Century Gothic" pitchFamily="34" charset="-120"/>
              </a:rPr>
              <a:t>2</a:t>
            </a:r>
            <a:endParaRPr lang="en-US" sz="2600" dirty="0"/>
          </a:p>
        </p:txBody>
      </p:sp>
      <p:sp>
        <p:nvSpPr>
          <p:cNvPr id="9" name="Text 7"/>
          <p:cNvSpPr txBox="1"/>
          <p:nvPr/>
        </p:nvSpPr>
        <p:spPr>
          <a:xfrm>
            <a:off x="3520440" y="2606040"/>
            <a:ext cx="2331720" cy="731520"/>
          </a:xfrm>
          <a:prstGeom prst="rect">
            <a:avLst/>
          </a:prstGeom>
          <a:noFill/>
          <a:ln/>
        </p:spPr>
        <p:txBody>
          <a:bodyPr wrap="square" lIns="0" tIns="0" rIns="0" bIns="0" rtlCol="0" anchor="t"/>
          <a:lstStyle/>
          <a:p>
            <a:pPr algn="ctr" indent="0" marL="0">
              <a:buNone/>
            </a:pPr>
            <a:r>
              <a:rPr lang="en-US" sz="1600" b="1" dirty="0">
                <a:solidFill>
                  <a:srgbClr val="1E293B"/>
                </a:solidFill>
                <a:latin typeface="Palatino Linotype" pitchFamily="34" charset="0"/>
                <a:ea typeface="Palatino Linotype" pitchFamily="34" charset="-122"/>
                <a:cs typeface="Palatino Linotype" pitchFamily="34" charset="-120"/>
              </a:rPr>
              <a:t>Submitted</a:t>
            </a:r>
            <a:endParaRPr lang="en-US" sz="1600" dirty="0"/>
          </a:p>
          <a:p>
            <a:pPr algn="ctr" indent="0" marL="0">
              <a:buNone/>
            </a:pPr>
            <a:r>
              <a:rPr lang="en-US" sz="1300" dirty="0">
                <a:solidFill>
                  <a:srgbClr val="536379"/>
                </a:solidFill>
                <a:latin typeface="Palatino Linotype" pitchFamily="34" charset="0"/>
                <a:ea typeface="Palatino Linotype" pitchFamily="34" charset="-122"/>
                <a:cs typeface="Palatino Linotype" pitchFamily="34" charset="-120"/>
              </a:rPr>
              <a:t>Implementer submits</a:t>
            </a:r>
            <a:endParaRPr lang="en-US" sz="1600" dirty="0"/>
          </a:p>
        </p:txBody>
      </p:sp>
      <p:sp>
        <p:nvSpPr>
          <p:cNvPr id="10" name="Shape 8"/>
          <p:cNvSpPr/>
          <p:nvPr/>
        </p:nvSpPr>
        <p:spPr>
          <a:xfrm>
            <a:off x="7040880" y="1600200"/>
            <a:ext cx="868680" cy="868680"/>
          </a:xfrm>
          <a:prstGeom prst="ellipse">
            <a:avLst/>
          </a:prstGeom>
          <a:solidFill>
            <a:srgbClr val="1B2A8F"/>
          </a:solidFill>
          <a:ln w="31750">
            <a:solidFill>
              <a:srgbClr val="1B2A8F"/>
            </a:solidFill>
            <a:prstDash val="solid"/>
          </a:ln>
        </p:spPr>
      </p:sp>
      <p:sp>
        <p:nvSpPr>
          <p:cNvPr id="11" name="Text 9"/>
          <p:cNvSpPr txBox="1"/>
          <p:nvPr/>
        </p:nvSpPr>
        <p:spPr>
          <a:xfrm>
            <a:off x="7040880" y="1600200"/>
            <a:ext cx="86868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Gothic" pitchFamily="34" charset="0"/>
                <a:ea typeface="Century Gothic" pitchFamily="34" charset="-122"/>
                <a:cs typeface="Century Gothic" pitchFamily="34" charset="-120"/>
              </a:rPr>
              <a:t>3</a:t>
            </a:r>
            <a:endParaRPr lang="en-US" sz="2600" dirty="0"/>
          </a:p>
        </p:txBody>
      </p:sp>
      <p:sp>
        <p:nvSpPr>
          <p:cNvPr id="12" name="Text 10"/>
          <p:cNvSpPr txBox="1"/>
          <p:nvPr/>
        </p:nvSpPr>
        <p:spPr>
          <a:xfrm>
            <a:off x="6309360" y="2606040"/>
            <a:ext cx="2331720" cy="731520"/>
          </a:xfrm>
          <a:prstGeom prst="rect">
            <a:avLst/>
          </a:prstGeom>
          <a:noFill/>
          <a:ln/>
        </p:spPr>
        <p:txBody>
          <a:bodyPr wrap="square" lIns="0" tIns="0" rIns="0" bIns="0" rtlCol="0" anchor="t"/>
          <a:lstStyle/>
          <a:p>
            <a:pPr algn="ctr" indent="0" marL="0">
              <a:buNone/>
            </a:pPr>
            <a:r>
              <a:rPr lang="en-US" sz="1600" b="1" dirty="0">
                <a:solidFill>
                  <a:srgbClr val="1E293B"/>
                </a:solidFill>
                <a:latin typeface="Palatino Linotype" pitchFamily="34" charset="0"/>
                <a:ea typeface="Palatino Linotype" pitchFamily="34" charset="-122"/>
                <a:cs typeface="Palatino Linotype" pitchFamily="34" charset="-120"/>
              </a:rPr>
              <a:t>Under Review</a:t>
            </a:r>
            <a:endParaRPr lang="en-US" sz="1600" dirty="0"/>
          </a:p>
          <a:p>
            <a:pPr algn="ctr" indent="0" marL="0">
              <a:buNone/>
            </a:pPr>
            <a:r>
              <a:rPr lang="en-US" sz="1300" dirty="0">
                <a:solidFill>
                  <a:srgbClr val="536379"/>
                </a:solidFill>
                <a:latin typeface="Palatino Linotype" pitchFamily="34" charset="0"/>
                <a:ea typeface="Palatino Linotype" pitchFamily="34" charset="-122"/>
                <a:cs typeface="Palatino Linotype" pitchFamily="34" charset="-120"/>
              </a:rPr>
              <a:t>QA Assessor reviews</a:t>
            </a:r>
            <a:endParaRPr lang="en-US" sz="1600" dirty="0"/>
          </a:p>
        </p:txBody>
      </p:sp>
      <p:sp>
        <p:nvSpPr>
          <p:cNvPr id="13" name="Shape 11"/>
          <p:cNvSpPr/>
          <p:nvPr/>
        </p:nvSpPr>
        <p:spPr>
          <a:xfrm>
            <a:off x="9829800" y="1600200"/>
            <a:ext cx="868680" cy="868680"/>
          </a:xfrm>
          <a:prstGeom prst="ellipse">
            <a:avLst/>
          </a:prstGeom>
          <a:solidFill>
            <a:srgbClr val="FFFFFF"/>
          </a:solidFill>
          <a:ln w="31750">
            <a:solidFill>
              <a:srgbClr val="1B2A8F"/>
            </a:solidFill>
            <a:prstDash val="solid"/>
          </a:ln>
        </p:spPr>
      </p:sp>
      <p:sp>
        <p:nvSpPr>
          <p:cNvPr id="14" name="Text 12"/>
          <p:cNvSpPr txBox="1"/>
          <p:nvPr/>
        </p:nvSpPr>
        <p:spPr>
          <a:xfrm>
            <a:off x="9829800" y="1600200"/>
            <a:ext cx="868680" cy="868680"/>
          </a:xfrm>
          <a:prstGeom prst="rect">
            <a:avLst/>
          </a:prstGeom>
          <a:noFill/>
          <a:ln/>
        </p:spPr>
        <p:txBody>
          <a:bodyPr wrap="square" lIns="0" tIns="0" rIns="0" bIns="0" rtlCol="0" anchor="ctr"/>
          <a:lstStyle/>
          <a:p>
            <a:pPr algn="ctr" indent="0" marL="0">
              <a:buNone/>
            </a:pPr>
            <a:r>
              <a:rPr lang="en-US" sz="2600" b="1" dirty="0">
                <a:solidFill>
                  <a:srgbClr val="1B2A8F"/>
                </a:solidFill>
                <a:latin typeface="Century Gothic" pitchFamily="34" charset="0"/>
                <a:ea typeface="Century Gothic" pitchFamily="34" charset="-122"/>
                <a:cs typeface="Century Gothic" pitchFamily="34" charset="-120"/>
              </a:rPr>
              <a:t>4</a:t>
            </a:r>
            <a:endParaRPr lang="en-US" sz="2600" dirty="0"/>
          </a:p>
        </p:txBody>
      </p:sp>
      <p:sp>
        <p:nvSpPr>
          <p:cNvPr id="15" name="Text 13"/>
          <p:cNvSpPr txBox="1"/>
          <p:nvPr/>
        </p:nvSpPr>
        <p:spPr>
          <a:xfrm>
            <a:off x="9098280" y="2606040"/>
            <a:ext cx="2331720" cy="731520"/>
          </a:xfrm>
          <a:prstGeom prst="rect">
            <a:avLst/>
          </a:prstGeom>
          <a:noFill/>
          <a:ln/>
        </p:spPr>
        <p:txBody>
          <a:bodyPr wrap="square" lIns="0" tIns="0" rIns="0" bIns="0" rtlCol="0" anchor="t"/>
          <a:lstStyle/>
          <a:p>
            <a:pPr algn="ctr" indent="0" marL="0">
              <a:buNone/>
            </a:pPr>
            <a:r>
              <a:rPr lang="en-US" sz="1600" b="1" dirty="0">
                <a:solidFill>
                  <a:srgbClr val="1E293B"/>
                </a:solidFill>
                <a:latin typeface="Palatino Linotype" pitchFamily="34" charset="0"/>
                <a:ea typeface="Palatino Linotype" pitchFamily="34" charset="-122"/>
                <a:cs typeface="Palatino Linotype" pitchFamily="34" charset="-120"/>
              </a:rPr>
              <a:t>Published</a:t>
            </a:r>
            <a:endParaRPr lang="en-US" sz="1600" dirty="0"/>
          </a:p>
          <a:p>
            <a:pPr algn="ctr" indent="0" marL="0">
              <a:buNone/>
            </a:pPr>
            <a:r>
              <a:rPr lang="en-US" sz="1300" dirty="0">
                <a:solidFill>
                  <a:srgbClr val="536379"/>
                </a:solidFill>
                <a:latin typeface="Palatino Linotype" pitchFamily="34" charset="0"/>
                <a:ea typeface="Palatino Linotype" pitchFamily="34" charset="-122"/>
                <a:cs typeface="Palatino Linotype" pitchFamily="34" charset="-120"/>
              </a:rPr>
              <a:t>Administrator publishes</a:t>
            </a:r>
            <a:endParaRPr lang="en-US" sz="1600" dirty="0"/>
          </a:p>
        </p:txBody>
      </p:sp>
      <p:sp>
        <p:nvSpPr>
          <p:cNvPr id="16" name="Text 14"/>
          <p:cNvSpPr txBox="1"/>
          <p:nvPr/>
        </p:nvSpPr>
        <p:spPr>
          <a:xfrm>
            <a:off x="548640" y="3520440"/>
            <a:ext cx="11064240" cy="365760"/>
          </a:xfrm>
          <a:prstGeom prst="rect">
            <a:avLst/>
          </a:prstGeom>
          <a:noFill/>
          <a:ln/>
        </p:spPr>
        <p:txBody>
          <a:bodyPr wrap="square" lIns="0" tIns="0" rIns="0" bIns="0" rtlCol="0" anchor="ctr"/>
          <a:lstStyle/>
          <a:p>
            <a:pPr indent="0" marL="0">
              <a:buNone/>
            </a:pPr>
            <a:r>
              <a:rPr lang="en-US" sz="1300" dirty="0">
                <a:solidFill>
                  <a:srgbClr val="536379"/>
                </a:solidFill>
                <a:latin typeface="Palatino Linotype" pitchFamily="34" charset="0"/>
                <a:ea typeface="Palatino Linotype" pitchFamily="34" charset="-122"/>
                <a:cs typeface="Palatino Linotype" pitchFamily="34" charset="-120"/>
              </a:rPr>
              <a:t>You act at step 3: start the review, record the QAME evaluation, or return the activity.</a:t>
            </a:r>
            <a:endParaRPr lang="en-US" sz="1300" dirty="0"/>
          </a:p>
        </p:txBody>
      </p:sp>
      <p:sp>
        <p:nvSpPr>
          <p:cNvPr id="17" name="Shape 15"/>
          <p:cNvSpPr/>
          <p:nvPr/>
        </p:nvSpPr>
        <p:spPr>
          <a:xfrm>
            <a:off x="548640" y="4069080"/>
            <a:ext cx="11064240" cy="868680"/>
          </a:xfrm>
          <a:prstGeom prst="roundRect">
            <a:avLst>
              <a:gd name="adj" fmla="val 8421"/>
            </a:avLst>
          </a:prstGeom>
          <a:solidFill>
            <a:srgbClr val="FFF4ED"/>
          </a:solidFill>
          <a:ln w="12700">
            <a:solidFill>
              <a:srgbClr val="FFF4ED"/>
            </a:solidFill>
            <a:prstDash val="solid"/>
          </a:ln>
        </p:spPr>
      </p:sp>
      <p:sp>
        <p:nvSpPr>
          <p:cNvPr id="18" name="Text 16"/>
          <p:cNvSpPr txBox="1"/>
          <p:nvPr/>
        </p:nvSpPr>
        <p:spPr>
          <a:xfrm>
            <a:off x="749808" y="4160520"/>
            <a:ext cx="10661904" cy="685800"/>
          </a:xfrm>
          <a:prstGeom prst="rect">
            <a:avLst/>
          </a:prstGeom>
          <a:noFill/>
          <a:ln/>
        </p:spPr>
        <p:txBody>
          <a:bodyPr wrap="square" lIns="0" tIns="0" rIns="0" bIns="0" rtlCol="0" anchor="ctr"/>
          <a:lstStyle/>
          <a:p>
            <a:pPr indent="0" marL="0">
              <a:buNone/>
            </a:pPr>
            <a:r>
              <a:rPr lang="en-US" sz="1400" b="1" dirty="0">
                <a:solidFill>
                  <a:srgbClr val="EA580C"/>
                </a:solidFill>
                <a:latin typeface="Palatino Linotype" pitchFamily="34" charset="0"/>
                <a:ea typeface="Palatino Linotype" pitchFamily="34" charset="-122"/>
                <a:cs typeface="Palatino Linotype" pitchFamily="34" charset="-120"/>
              </a:rPr>
              <a:t>Returned for Revision: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a QA Assessor sends an activity back with a note saying what to fix. The Implementer fixes it and submits again, so it returns to Submitted.</a:t>
            </a:r>
            <a:endParaRPr lang="en-US" sz="1400" dirty="0"/>
          </a:p>
        </p:txBody>
      </p:sp>
      <p:sp>
        <p:nvSpPr>
          <p:cNvPr id="19" name="Shape 17"/>
          <p:cNvSpPr/>
          <p:nvPr/>
        </p:nvSpPr>
        <p:spPr>
          <a:xfrm>
            <a:off x="548640" y="5120640"/>
            <a:ext cx="11064240" cy="685800"/>
          </a:xfrm>
          <a:prstGeom prst="roundRect">
            <a:avLst>
              <a:gd name="adj" fmla="val 10667"/>
            </a:avLst>
          </a:prstGeom>
          <a:solidFill>
            <a:srgbClr val="EEF2FF"/>
          </a:solidFill>
          <a:ln w="12700">
            <a:solidFill>
              <a:srgbClr val="EEF2FF"/>
            </a:solidFill>
            <a:prstDash val="solid"/>
          </a:ln>
        </p:spPr>
      </p:sp>
      <p:sp>
        <p:nvSpPr>
          <p:cNvPr id="20" name="Text 18"/>
          <p:cNvSpPr txBox="1"/>
          <p:nvPr/>
        </p:nvSpPr>
        <p:spPr>
          <a:xfrm>
            <a:off x="749808" y="5212080"/>
            <a:ext cx="10661904" cy="50292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Locked when: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an activity is Under Review or Published, only its reviewer or an administrator can change it.</a:t>
            </a:r>
            <a:endParaRPr lang="en-US" sz="1400" dirty="0"/>
          </a:p>
        </p:txBody>
      </p:sp>
      <p:sp>
        <p:nvSpPr>
          <p:cNvPr id="21" name="Text 1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QA Assessors</a:t>
            </a:r>
            <a:endParaRPr lang="en-US" sz="1000" dirty="0"/>
          </a:p>
        </p:txBody>
      </p:sp>
      <p:sp>
        <p:nvSpPr>
          <p:cNvPr id="22" name="Text 20"/>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Start a review</a:t>
            </a:r>
            <a:endParaRPr lang="en-US" sz="3400" dirty="0"/>
          </a:p>
        </p:txBody>
      </p:sp>
      <p:sp>
        <p:nvSpPr>
          <p:cNvPr id="3" name="q-activities frame"/>
          <p:cNvSpPr/>
          <p:nvPr/>
        </p:nvSpPr>
        <p:spPr>
          <a:xfrm>
            <a:off x="619496" y="1298448"/>
            <a:ext cx="6899168" cy="4901184"/>
          </a:xfrm>
          <a:prstGeom prst="roundRect">
            <a:avLst>
              <a:gd name="adj" fmla="val 560"/>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q-activities" descr="Activities list with Start review buttons">    </p:cNvPr>
          <p:cNvPicPr>
            <a:picLocks noChangeAspect="1"/>
          </p:cNvPicPr>
          <p:nvPr/>
        </p:nvPicPr>
        <p:blipFill>
          <a:blip r:embed="rId1"/>
          <a:stretch>
            <a:fillRect/>
          </a:stretch>
        </p:blipFill>
        <p:spPr>
          <a:xfrm>
            <a:off x="692648" y="1371600"/>
            <a:ext cx="6752864" cy="4754880"/>
          </a:xfrm>
          <a:prstGeom prst="rect">
            <a:avLst/>
          </a:prstGeom>
        </p:spPr>
      </p:pic>
      <p:sp>
        <p:nvSpPr>
          <p:cNvPr id="5" name="Highlight 1"/>
          <p:cNvSpPr/>
          <p:nvPr/>
        </p:nvSpPr>
        <p:spPr>
          <a:xfrm>
            <a:off x="6009332" y="2406076"/>
            <a:ext cx="1138516" cy="260188"/>
          </a:xfrm>
          <a:prstGeom prst="roundRect">
            <a:avLst>
              <a:gd name="adj" fmla="val 17572"/>
            </a:avLst>
          </a:prstGeom>
          <a:ln w="31750">
            <a:solidFill>
              <a:srgbClr val="EA580C"/>
            </a:solidFill>
            <a:prstDash val="solid"/>
          </a:ln>
        </p:spPr>
      </p:sp>
      <p:sp>
        <p:nvSpPr>
          <p:cNvPr id="6" name="Highlight 2"/>
          <p:cNvSpPr/>
          <p:nvPr/>
        </p:nvSpPr>
        <p:spPr>
          <a:xfrm>
            <a:off x="6244420" y="4798665"/>
            <a:ext cx="766545" cy="237374"/>
          </a:xfrm>
          <a:prstGeom prst="roundRect">
            <a:avLst>
              <a:gd name="adj" fmla="val 19261"/>
            </a:avLst>
          </a:prstGeom>
          <a:ln w="31750">
            <a:solidFill>
              <a:srgbClr val="EA580C"/>
            </a:solidFill>
            <a:prstDash val="solid"/>
          </a:ln>
        </p:spPr>
      </p:sp>
      <p:sp>
        <p:nvSpPr>
          <p:cNvPr id="7" name="Highlight 3"/>
          <p:cNvSpPr/>
          <p:nvPr/>
        </p:nvSpPr>
        <p:spPr>
          <a:xfrm>
            <a:off x="4175946" y="5477374"/>
            <a:ext cx="619771" cy="180340"/>
          </a:xfrm>
          <a:prstGeom prst="roundRect">
            <a:avLst>
              <a:gd name="adj" fmla="val 25352"/>
            </a:avLst>
          </a:prstGeom>
          <a:ln w="31750">
            <a:solidFill>
              <a:srgbClr val="EA580C"/>
            </a:solidFill>
            <a:prstDash val="solid"/>
          </a:ln>
        </p:spPr>
      </p:sp>
      <p:sp>
        <p:nvSpPr>
          <p:cNvPr id="8" name="Callout number 1"/>
          <p:cNvSpPr/>
          <p:nvPr/>
        </p:nvSpPr>
        <p:spPr>
          <a:xfrm>
            <a:off x="6423142" y="2049460"/>
            <a:ext cx="310896" cy="310896"/>
          </a:xfrm>
          <a:prstGeom prst="ellipse">
            <a:avLst/>
          </a:prstGeom>
          <a:solidFill>
            <a:srgbClr val="1B2A8F"/>
          </a:solidFill>
          <a:ln w="25400">
            <a:solidFill>
              <a:srgbClr val="EA580C"/>
            </a:solidFill>
            <a:prstDash val="solid"/>
          </a:ln>
        </p:spPr>
      </p:sp>
      <p:sp>
        <p:nvSpPr>
          <p:cNvPr id="9" name="Text 6"/>
          <p:cNvSpPr txBox="1"/>
          <p:nvPr/>
        </p:nvSpPr>
        <p:spPr>
          <a:xfrm>
            <a:off x="6423142" y="20494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10" name="Callout number 2"/>
          <p:cNvSpPr/>
          <p:nvPr/>
        </p:nvSpPr>
        <p:spPr>
          <a:xfrm>
            <a:off x="6472245" y="4442049"/>
            <a:ext cx="310896" cy="310896"/>
          </a:xfrm>
          <a:prstGeom prst="ellipse">
            <a:avLst/>
          </a:prstGeom>
          <a:solidFill>
            <a:srgbClr val="1B2A8F"/>
          </a:solidFill>
          <a:ln w="25400">
            <a:solidFill>
              <a:srgbClr val="EA580C"/>
            </a:solidFill>
            <a:prstDash val="solid"/>
          </a:ln>
        </p:spPr>
      </p:sp>
      <p:sp>
        <p:nvSpPr>
          <p:cNvPr id="11" name="Text 8"/>
          <p:cNvSpPr txBox="1"/>
          <p:nvPr/>
        </p:nvSpPr>
        <p:spPr>
          <a:xfrm>
            <a:off x="6472245" y="4442049"/>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2" name="Callout number 3"/>
          <p:cNvSpPr/>
          <p:nvPr/>
        </p:nvSpPr>
        <p:spPr>
          <a:xfrm>
            <a:off x="4330384" y="5120758"/>
            <a:ext cx="310896" cy="310896"/>
          </a:xfrm>
          <a:prstGeom prst="ellipse">
            <a:avLst/>
          </a:prstGeom>
          <a:solidFill>
            <a:srgbClr val="1B2A8F"/>
          </a:solidFill>
          <a:ln w="25400">
            <a:solidFill>
              <a:srgbClr val="EA580C"/>
            </a:solidFill>
            <a:prstDash val="solid"/>
          </a:ln>
        </p:spPr>
      </p:sp>
      <p:sp>
        <p:nvSpPr>
          <p:cNvPr id="13" name="Text 10"/>
          <p:cNvSpPr txBox="1"/>
          <p:nvPr/>
        </p:nvSpPr>
        <p:spPr>
          <a:xfrm>
            <a:off x="4330384" y="512075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3</a:t>
            </a:r>
            <a:endParaRPr lang="en-US" sz="1200" dirty="0"/>
          </a:p>
        </p:txBody>
      </p:sp>
      <p:sp>
        <p:nvSpPr>
          <p:cNvPr id="14" name="Where to open"/>
          <p:cNvSpPr txBox="1"/>
          <p:nvPr/>
        </p:nvSpPr>
        <p:spPr>
          <a:xfrm>
            <a:off x="7818120" y="1325880"/>
            <a:ext cx="3840480" cy="365760"/>
          </a:xfrm>
          <a:prstGeom prst="rect">
            <a:avLst/>
          </a:prstGeom>
          <a:noFill/>
          <a:ln/>
        </p:spPr>
        <p:txBody>
          <a:bodyPr wrap="square" lIns="0" tIns="0" rIns="0" bIns="0" rtlCol="0" anchor="ctr"/>
          <a:lstStyle/>
          <a:p>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Open: </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Activities</a:t>
            </a:r>
            <a:endParaRPr lang="en-US" sz="1600" dirty="0"/>
          </a:p>
        </p:txBody>
      </p:sp>
      <p:sp>
        <p:nvSpPr>
          <p:cNvPr id="15" name="Callout number 1"/>
          <p:cNvSpPr/>
          <p:nvPr/>
        </p:nvSpPr>
        <p:spPr>
          <a:xfrm>
            <a:off x="7818120" y="1847088"/>
            <a:ext cx="365760" cy="365760"/>
          </a:xfrm>
          <a:prstGeom prst="ellipse">
            <a:avLst/>
          </a:prstGeom>
          <a:solidFill>
            <a:srgbClr val="1B2A8F"/>
          </a:solidFill>
          <a:ln w="25400">
            <a:solidFill>
              <a:srgbClr val="EA580C"/>
            </a:solidFill>
            <a:prstDash val="solid"/>
          </a:ln>
        </p:spPr>
      </p:sp>
      <p:sp>
        <p:nvSpPr>
          <p:cNvPr id="16" name="Text 13"/>
          <p:cNvSpPr txBox="1"/>
          <p:nvPr/>
        </p:nvSpPr>
        <p:spPr>
          <a:xfrm>
            <a:off x="7818120" y="1847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7" name="Legend 1"/>
          <p:cNvSpPr txBox="1"/>
          <p:nvPr/>
        </p:nvSpPr>
        <p:spPr>
          <a:xfrm>
            <a:off x="8348472" y="1828800"/>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Workflow status filter</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Choose Submitted to see what is waiting.</a:t>
            </a:r>
            <a:endParaRPr lang="en-US" sz="1600" dirty="0"/>
          </a:p>
        </p:txBody>
      </p:sp>
      <p:sp>
        <p:nvSpPr>
          <p:cNvPr id="18" name="Callout number 2"/>
          <p:cNvSpPr/>
          <p:nvPr/>
        </p:nvSpPr>
        <p:spPr>
          <a:xfrm>
            <a:off x="7818120" y="2688336"/>
            <a:ext cx="365760" cy="365760"/>
          </a:xfrm>
          <a:prstGeom prst="ellipse">
            <a:avLst/>
          </a:prstGeom>
          <a:solidFill>
            <a:srgbClr val="1B2A8F"/>
          </a:solidFill>
          <a:ln w="25400">
            <a:solidFill>
              <a:srgbClr val="EA580C"/>
            </a:solidFill>
            <a:prstDash val="solid"/>
          </a:ln>
        </p:spPr>
      </p:sp>
      <p:sp>
        <p:nvSpPr>
          <p:cNvPr id="19" name="Text 16"/>
          <p:cNvSpPr txBox="1"/>
          <p:nvPr/>
        </p:nvSpPr>
        <p:spPr>
          <a:xfrm>
            <a:off x="7818120" y="2688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20" name="Legend 2"/>
          <p:cNvSpPr txBox="1"/>
          <p:nvPr/>
        </p:nvSpPr>
        <p:spPr>
          <a:xfrm>
            <a:off x="8348472" y="2670048"/>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Start review</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Moves the activity to Under Review.</a:t>
            </a:r>
            <a:endParaRPr lang="en-US" sz="1600" dirty="0"/>
          </a:p>
        </p:txBody>
      </p:sp>
      <p:sp>
        <p:nvSpPr>
          <p:cNvPr id="21" name="Callout number 3"/>
          <p:cNvSpPr/>
          <p:nvPr/>
        </p:nvSpPr>
        <p:spPr>
          <a:xfrm>
            <a:off x="7818120" y="3529584"/>
            <a:ext cx="365760" cy="365760"/>
          </a:xfrm>
          <a:prstGeom prst="ellipse">
            <a:avLst/>
          </a:prstGeom>
          <a:solidFill>
            <a:srgbClr val="1B2A8F"/>
          </a:solidFill>
          <a:ln w="25400">
            <a:solidFill>
              <a:srgbClr val="EA580C"/>
            </a:solidFill>
            <a:prstDash val="solid"/>
          </a:ln>
        </p:spPr>
      </p:sp>
      <p:sp>
        <p:nvSpPr>
          <p:cNvPr id="22" name="Text 19"/>
          <p:cNvSpPr txBox="1"/>
          <p:nvPr/>
        </p:nvSpPr>
        <p:spPr>
          <a:xfrm>
            <a:off x="7818120" y="35295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3" name="Legend 3"/>
          <p:cNvSpPr txBox="1"/>
          <p:nvPr/>
        </p:nvSpPr>
        <p:spPr>
          <a:xfrm>
            <a:off x="8348472" y="3511296"/>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Under Review</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Activities already in review.</a:t>
            </a:r>
            <a:endParaRPr lang="en-US" sz="1600" dirty="0"/>
          </a:p>
        </p:txBody>
      </p:sp>
      <p:sp>
        <p:nvSpPr>
          <p:cNvPr id="24" name="Shape 21"/>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25" name="Text 22"/>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Tip: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start the review before you assess, so others know it is in progress.</a:t>
            </a:r>
            <a:endParaRPr lang="en-US" sz="1400" dirty="0"/>
          </a:p>
        </p:txBody>
      </p:sp>
      <p:sp>
        <p:nvSpPr>
          <p:cNvPr id="26" name="Text 2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QA Assessors</a:t>
            </a:r>
            <a:endParaRPr lang="en-US" sz="1000" dirty="0"/>
          </a:p>
        </p:txBody>
      </p:sp>
      <p:sp>
        <p:nvSpPr>
          <p:cNvPr id="27" name="Text 2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Open the activity</a:t>
            </a:r>
            <a:endParaRPr lang="en-US" sz="3400" dirty="0"/>
          </a:p>
        </p:txBody>
      </p:sp>
      <p:sp>
        <p:nvSpPr>
          <p:cNvPr id="3" name="q-review frame"/>
          <p:cNvSpPr/>
          <p:nvPr/>
        </p:nvSpPr>
        <p:spPr>
          <a:xfrm>
            <a:off x="868274" y="1298448"/>
            <a:ext cx="6401613" cy="4901184"/>
          </a:xfrm>
          <a:prstGeom prst="roundRect">
            <a:avLst>
              <a:gd name="adj" fmla="val 560"/>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q-review" descr="Activity view header with Return for Revision">    </p:cNvPr>
          <p:cNvPicPr>
            <a:picLocks noChangeAspect="1"/>
          </p:cNvPicPr>
          <p:nvPr/>
        </p:nvPicPr>
        <p:blipFill>
          <a:blip r:embed="rId1"/>
          <a:stretch>
            <a:fillRect/>
          </a:stretch>
        </p:blipFill>
        <p:spPr>
          <a:xfrm>
            <a:off x="941426" y="1371600"/>
            <a:ext cx="6255309" cy="4754880"/>
          </a:xfrm>
          <a:prstGeom prst="rect">
            <a:avLst/>
          </a:prstGeom>
        </p:spPr>
      </p:pic>
      <p:sp>
        <p:nvSpPr>
          <p:cNvPr id="5" name="Highlight 1"/>
          <p:cNvSpPr/>
          <p:nvPr/>
        </p:nvSpPr>
        <p:spPr>
          <a:xfrm>
            <a:off x="1679645" y="1984426"/>
            <a:ext cx="578148" cy="171094"/>
          </a:xfrm>
          <a:prstGeom prst="roundRect">
            <a:avLst>
              <a:gd name="adj" fmla="val 26722"/>
            </a:avLst>
          </a:prstGeom>
          <a:ln w="31750">
            <a:solidFill>
              <a:srgbClr val="EA580C"/>
            </a:solidFill>
            <a:prstDash val="solid"/>
          </a:ln>
        </p:spPr>
      </p:sp>
      <p:sp>
        <p:nvSpPr>
          <p:cNvPr id="6" name="Highlight 2"/>
          <p:cNvSpPr/>
          <p:nvPr/>
        </p:nvSpPr>
        <p:spPr>
          <a:xfrm>
            <a:off x="5977776" y="1841779"/>
            <a:ext cx="1077328" cy="266192"/>
          </a:xfrm>
          <a:prstGeom prst="roundRect">
            <a:avLst>
              <a:gd name="adj" fmla="val 17176"/>
            </a:avLst>
          </a:prstGeom>
          <a:ln w="31750">
            <a:solidFill>
              <a:srgbClr val="EA580C"/>
            </a:solidFill>
            <a:prstDash val="solid"/>
          </a:ln>
        </p:spPr>
      </p:sp>
      <p:sp>
        <p:nvSpPr>
          <p:cNvPr id="7" name="Callout number 1"/>
          <p:cNvSpPr/>
          <p:nvPr/>
        </p:nvSpPr>
        <p:spPr>
          <a:xfrm>
            <a:off x="1813271" y="1627810"/>
            <a:ext cx="310896" cy="310896"/>
          </a:xfrm>
          <a:prstGeom prst="ellipse">
            <a:avLst/>
          </a:prstGeom>
          <a:solidFill>
            <a:srgbClr val="1B2A8F"/>
          </a:solidFill>
          <a:ln w="25400">
            <a:solidFill>
              <a:srgbClr val="EA580C"/>
            </a:solidFill>
            <a:prstDash val="solid"/>
          </a:ln>
        </p:spPr>
      </p:sp>
      <p:sp>
        <p:nvSpPr>
          <p:cNvPr id="8" name="Text 5"/>
          <p:cNvSpPr txBox="1"/>
          <p:nvPr/>
        </p:nvSpPr>
        <p:spPr>
          <a:xfrm>
            <a:off x="1813271" y="162781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9" name="Callout number 2"/>
          <p:cNvSpPr/>
          <p:nvPr/>
        </p:nvSpPr>
        <p:spPr>
          <a:xfrm>
            <a:off x="6360992" y="1485163"/>
            <a:ext cx="310896" cy="310896"/>
          </a:xfrm>
          <a:prstGeom prst="ellipse">
            <a:avLst/>
          </a:prstGeom>
          <a:solidFill>
            <a:srgbClr val="1B2A8F"/>
          </a:solidFill>
          <a:ln w="25400">
            <a:solidFill>
              <a:srgbClr val="EA580C"/>
            </a:solidFill>
            <a:prstDash val="solid"/>
          </a:ln>
        </p:spPr>
      </p:sp>
      <p:sp>
        <p:nvSpPr>
          <p:cNvPr id="10" name="Text 7"/>
          <p:cNvSpPr txBox="1"/>
          <p:nvPr/>
        </p:nvSpPr>
        <p:spPr>
          <a:xfrm>
            <a:off x="6360992" y="1485163"/>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1" name="Where to open"/>
          <p:cNvSpPr txBox="1"/>
          <p:nvPr/>
        </p:nvSpPr>
        <p:spPr>
          <a:xfrm>
            <a:off x="7818120" y="1325880"/>
            <a:ext cx="3840480" cy="365760"/>
          </a:xfrm>
          <a:prstGeom prst="rect">
            <a:avLst/>
          </a:prstGeom>
          <a:noFill/>
          <a:ln/>
        </p:spPr>
        <p:txBody>
          <a:bodyPr wrap="square" lIns="0" tIns="0" rIns="0" bIns="0" rtlCol="0" anchor="ctr"/>
          <a:lstStyle/>
          <a:p>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Open: </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More actions → View details → View Full Details</a:t>
            </a:r>
            <a:endParaRPr lang="en-US" sz="1600" dirty="0"/>
          </a:p>
        </p:txBody>
      </p:sp>
      <p:sp>
        <p:nvSpPr>
          <p:cNvPr id="12" name="Callout number 1"/>
          <p:cNvSpPr/>
          <p:nvPr/>
        </p:nvSpPr>
        <p:spPr>
          <a:xfrm>
            <a:off x="7818120" y="1847088"/>
            <a:ext cx="365760" cy="365760"/>
          </a:xfrm>
          <a:prstGeom prst="ellipse">
            <a:avLst/>
          </a:prstGeom>
          <a:solidFill>
            <a:srgbClr val="1B2A8F"/>
          </a:solidFill>
          <a:ln w="25400">
            <a:solidFill>
              <a:srgbClr val="EA580C"/>
            </a:solidFill>
            <a:prstDash val="solid"/>
          </a:ln>
        </p:spPr>
      </p:sp>
      <p:sp>
        <p:nvSpPr>
          <p:cNvPr id="13" name="Text 10"/>
          <p:cNvSpPr txBox="1"/>
          <p:nvPr/>
        </p:nvSpPr>
        <p:spPr>
          <a:xfrm>
            <a:off x="7818120" y="1847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4" name="Legend 1"/>
          <p:cNvSpPr txBox="1"/>
          <p:nvPr/>
        </p:nvSpPr>
        <p:spPr>
          <a:xfrm>
            <a:off x="8348472" y="1828800"/>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Status</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Under Review while you assess it.</a:t>
            </a:r>
            <a:endParaRPr lang="en-US" sz="1600" dirty="0"/>
          </a:p>
        </p:txBody>
      </p:sp>
      <p:sp>
        <p:nvSpPr>
          <p:cNvPr id="15" name="Callout number 2"/>
          <p:cNvSpPr/>
          <p:nvPr/>
        </p:nvSpPr>
        <p:spPr>
          <a:xfrm>
            <a:off x="7818120" y="2688336"/>
            <a:ext cx="365760" cy="365760"/>
          </a:xfrm>
          <a:prstGeom prst="ellipse">
            <a:avLst/>
          </a:prstGeom>
          <a:solidFill>
            <a:srgbClr val="1B2A8F"/>
          </a:solidFill>
          <a:ln w="25400">
            <a:solidFill>
              <a:srgbClr val="EA580C"/>
            </a:solidFill>
            <a:prstDash val="solid"/>
          </a:ln>
        </p:spPr>
      </p:sp>
      <p:sp>
        <p:nvSpPr>
          <p:cNvPr id="16" name="Text 13"/>
          <p:cNvSpPr txBox="1"/>
          <p:nvPr/>
        </p:nvSpPr>
        <p:spPr>
          <a:xfrm>
            <a:off x="7818120" y="2688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7" name="Legend 2"/>
          <p:cNvSpPr txBox="1"/>
          <p:nvPr/>
        </p:nvSpPr>
        <p:spPr>
          <a:xfrm>
            <a:off x="8348472" y="2670048"/>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Return for Revision</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Sends it back with a note when something is missing.</a:t>
            </a:r>
            <a:endParaRPr lang="en-US" sz="1600" dirty="0"/>
          </a:p>
        </p:txBody>
      </p:sp>
      <p:sp>
        <p:nvSpPr>
          <p:cNvPr id="18" name="Shape 15"/>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19" name="Text 16"/>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Rule: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you do not publish. An administrator publishes after your review.</a:t>
            </a:r>
            <a:endParaRPr lang="en-US" sz="1400" dirty="0"/>
          </a:p>
        </p:txBody>
      </p:sp>
      <p:sp>
        <p:nvSpPr>
          <p:cNvPr id="20" name="Text 1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QA Assessors</a:t>
            </a:r>
            <a:endParaRPr lang="en-US" sz="1000" dirty="0"/>
          </a:p>
        </p:txBody>
      </p:sp>
      <p:sp>
        <p:nvSpPr>
          <p:cNvPr id="21" name="Text 18"/>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Record the QAME evaluation</a:t>
            </a:r>
            <a:endParaRPr lang="en-US" sz="3400" dirty="0"/>
          </a:p>
        </p:txBody>
      </p:sp>
      <p:sp>
        <p:nvSpPr>
          <p:cNvPr id="3" name="q-qame frame"/>
          <p:cNvSpPr/>
          <p:nvPr/>
        </p:nvSpPr>
        <p:spPr>
          <a:xfrm>
            <a:off x="612648" y="1298448"/>
            <a:ext cx="6912864" cy="1107805"/>
          </a:xfrm>
          <a:prstGeom prst="roundRect">
            <a:avLst>
              <a:gd name="adj" fmla="val 2476"/>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q-qame" descr="QAME Evaluation section with rating and report link">    </p:cNvPr>
          <p:cNvPicPr>
            <a:picLocks noChangeAspect="1"/>
          </p:cNvPicPr>
          <p:nvPr/>
        </p:nvPicPr>
        <p:blipFill>
          <a:blip r:embed="rId1"/>
          <a:stretch>
            <a:fillRect/>
          </a:stretch>
        </p:blipFill>
        <p:spPr>
          <a:xfrm>
            <a:off x="685800" y="1371600"/>
            <a:ext cx="6766560" cy="961501"/>
          </a:xfrm>
          <a:prstGeom prst="rect">
            <a:avLst/>
          </a:prstGeom>
        </p:spPr>
      </p:pic>
      <p:sp>
        <p:nvSpPr>
          <p:cNvPr id="5" name="Highlight 1"/>
          <p:cNvSpPr/>
          <p:nvPr/>
        </p:nvSpPr>
        <p:spPr>
          <a:xfrm>
            <a:off x="904753" y="1969143"/>
            <a:ext cx="441248" cy="175052"/>
          </a:xfrm>
          <a:prstGeom prst="roundRect">
            <a:avLst>
              <a:gd name="adj" fmla="val 26118"/>
            </a:avLst>
          </a:prstGeom>
          <a:ln w="31750">
            <a:solidFill>
              <a:srgbClr val="EA580C"/>
            </a:solidFill>
            <a:prstDash val="solid"/>
          </a:ln>
        </p:spPr>
      </p:sp>
      <p:sp>
        <p:nvSpPr>
          <p:cNvPr id="6" name="Highlight 2"/>
          <p:cNvSpPr/>
          <p:nvPr/>
        </p:nvSpPr>
        <p:spPr>
          <a:xfrm>
            <a:off x="5209439" y="1921068"/>
            <a:ext cx="1479838" cy="271202"/>
          </a:xfrm>
          <a:prstGeom prst="roundRect">
            <a:avLst>
              <a:gd name="adj" fmla="val 16858"/>
            </a:avLst>
          </a:prstGeom>
          <a:ln w="31750">
            <a:solidFill>
              <a:srgbClr val="EA580C"/>
            </a:solidFill>
            <a:prstDash val="solid"/>
          </a:ln>
        </p:spPr>
      </p:sp>
      <p:sp>
        <p:nvSpPr>
          <p:cNvPr id="7" name="Callout number 1"/>
          <p:cNvSpPr/>
          <p:nvPr/>
        </p:nvSpPr>
        <p:spPr>
          <a:xfrm>
            <a:off x="969929" y="1612527"/>
            <a:ext cx="310896" cy="310896"/>
          </a:xfrm>
          <a:prstGeom prst="ellipse">
            <a:avLst/>
          </a:prstGeom>
          <a:solidFill>
            <a:srgbClr val="1B2A8F"/>
          </a:solidFill>
          <a:ln w="25400">
            <a:solidFill>
              <a:srgbClr val="EA580C"/>
            </a:solidFill>
            <a:prstDash val="solid"/>
          </a:ln>
        </p:spPr>
      </p:sp>
      <p:sp>
        <p:nvSpPr>
          <p:cNvPr id="8" name="Text 5"/>
          <p:cNvSpPr txBox="1"/>
          <p:nvPr/>
        </p:nvSpPr>
        <p:spPr>
          <a:xfrm>
            <a:off x="969929" y="1612527"/>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9" name="Callout number 2"/>
          <p:cNvSpPr/>
          <p:nvPr/>
        </p:nvSpPr>
        <p:spPr>
          <a:xfrm>
            <a:off x="5793910" y="1564452"/>
            <a:ext cx="310896" cy="310896"/>
          </a:xfrm>
          <a:prstGeom prst="ellipse">
            <a:avLst/>
          </a:prstGeom>
          <a:solidFill>
            <a:srgbClr val="1B2A8F"/>
          </a:solidFill>
          <a:ln w="25400">
            <a:solidFill>
              <a:srgbClr val="EA580C"/>
            </a:solidFill>
            <a:prstDash val="solid"/>
          </a:ln>
        </p:spPr>
      </p:sp>
      <p:sp>
        <p:nvSpPr>
          <p:cNvPr id="10" name="Text 7"/>
          <p:cNvSpPr txBox="1"/>
          <p:nvPr/>
        </p:nvSpPr>
        <p:spPr>
          <a:xfrm>
            <a:off x="5793910" y="15644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1" name="Where to open"/>
          <p:cNvSpPr txBox="1"/>
          <p:nvPr/>
        </p:nvSpPr>
        <p:spPr>
          <a:xfrm>
            <a:off x="7818120" y="1325880"/>
            <a:ext cx="3840480" cy="365760"/>
          </a:xfrm>
          <a:prstGeom prst="rect">
            <a:avLst/>
          </a:prstGeom>
          <a:noFill/>
          <a:ln/>
        </p:spPr>
        <p:txBody>
          <a:bodyPr wrap="square" lIns="0" tIns="0" rIns="0" bIns="0" rtlCol="0" anchor="ctr"/>
          <a:lstStyle/>
          <a:p>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Open: </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Activity view → QAME Evaluation</a:t>
            </a:r>
            <a:endParaRPr lang="en-US" sz="1600" dirty="0"/>
          </a:p>
        </p:txBody>
      </p:sp>
      <p:sp>
        <p:nvSpPr>
          <p:cNvPr id="12" name="Callout number 1"/>
          <p:cNvSpPr/>
          <p:nvPr/>
        </p:nvSpPr>
        <p:spPr>
          <a:xfrm>
            <a:off x="7818120" y="1847088"/>
            <a:ext cx="365760" cy="365760"/>
          </a:xfrm>
          <a:prstGeom prst="ellipse">
            <a:avLst/>
          </a:prstGeom>
          <a:solidFill>
            <a:srgbClr val="1B2A8F"/>
          </a:solidFill>
          <a:ln w="25400">
            <a:solidFill>
              <a:srgbClr val="EA580C"/>
            </a:solidFill>
            <a:prstDash val="solid"/>
          </a:ln>
        </p:spPr>
      </p:sp>
      <p:sp>
        <p:nvSpPr>
          <p:cNvPr id="13" name="Text 10"/>
          <p:cNvSpPr txBox="1"/>
          <p:nvPr/>
        </p:nvSpPr>
        <p:spPr>
          <a:xfrm>
            <a:off x="7818120" y="1847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4" name="Legend 1"/>
          <p:cNvSpPr txBox="1"/>
          <p:nvPr/>
        </p:nvSpPr>
        <p:spPr>
          <a:xfrm>
            <a:off x="8348472" y="1828800"/>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QAME Rating</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Choose the rating.</a:t>
            </a:r>
            <a:endParaRPr lang="en-US" sz="1600" dirty="0"/>
          </a:p>
        </p:txBody>
      </p:sp>
      <p:sp>
        <p:nvSpPr>
          <p:cNvPr id="15" name="Callout number 2"/>
          <p:cNvSpPr/>
          <p:nvPr/>
        </p:nvSpPr>
        <p:spPr>
          <a:xfrm>
            <a:off x="7818120" y="2688336"/>
            <a:ext cx="365760" cy="365760"/>
          </a:xfrm>
          <a:prstGeom prst="ellipse">
            <a:avLst/>
          </a:prstGeom>
          <a:solidFill>
            <a:srgbClr val="1B2A8F"/>
          </a:solidFill>
          <a:ln w="25400">
            <a:solidFill>
              <a:srgbClr val="EA580C"/>
            </a:solidFill>
            <a:prstDash val="solid"/>
          </a:ln>
        </p:spPr>
      </p:sp>
      <p:sp>
        <p:nvSpPr>
          <p:cNvPr id="16" name="Text 13"/>
          <p:cNvSpPr txBox="1"/>
          <p:nvPr/>
        </p:nvSpPr>
        <p:spPr>
          <a:xfrm>
            <a:off x="7818120" y="2688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7" name="Legend 2"/>
          <p:cNvSpPr txBox="1"/>
          <p:nvPr/>
        </p:nvSpPr>
        <p:spPr>
          <a:xfrm>
            <a:off x="8348472" y="2670048"/>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QAME Report</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Paste the OneDrive share link to the report, then Save link.</a:t>
            </a:r>
            <a:endParaRPr lang="en-US" sz="1600" dirty="0"/>
          </a:p>
        </p:txBody>
      </p:sp>
      <p:sp>
        <p:nvSpPr>
          <p:cNvPr id="18" name="Shape 15"/>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19" name="Text 16"/>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Tip: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upload the report to OneDrive first, then share the link.</a:t>
            </a:r>
            <a:endParaRPr lang="en-US" sz="1400" dirty="0"/>
          </a:p>
        </p:txBody>
      </p:sp>
      <p:sp>
        <p:nvSpPr>
          <p:cNvPr id="20" name="Text 1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QA Assessors</a:t>
            </a:r>
            <a:endParaRPr lang="en-US" sz="1000" dirty="0"/>
          </a:p>
        </p:txBody>
      </p:sp>
      <p:sp>
        <p:nvSpPr>
          <p:cNvPr id="21" name="Text 18"/>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Return for revision</a:t>
            </a:r>
            <a:endParaRPr lang="en-US" sz="3400" dirty="0"/>
          </a:p>
        </p:txBody>
      </p:sp>
      <p:sp>
        <p:nvSpPr>
          <p:cNvPr id="3" name="q-return frame"/>
          <p:cNvSpPr/>
          <p:nvPr/>
        </p:nvSpPr>
        <p:spPr>
          <a:xfrm>
            <a:off x="612648" y="1298448"/>
            <a:ext cx="6912864" cy="4673929"/>
          </a:xfrm>
          <a:prstGeom prst="roundRect">
            <a:avLst>
              <a:gd name="adj" fmla="val 587"/>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q-return" descr="Confirm dialog with the required note">    </p:cNvPr>
          <p:cNvPicPr>
            <a:picLocks noChangeAspect="1"/>
          </p:cNvPicPr>
          <p:nvPr/>
        </p:nvPicPr>
        <p:blipFill>
          <a:blip r:embed="rId1"/>
          <a:stretch>
            <a:fillRect/>
          </a:stretch>
        </p:blipFill>
        <p:spPr>
          <a:xfrm>
            <a:off x="685800" y="1371600"/>
            <a:ext cx="6766560" cy="4527625"/>
          </a:xfrm>
          <a:prstGeom prst="rect">
            <a:avLst/>
          </a:prstGeom>
        </p:spPr>
      </p:pic>
      <p:sp>
        <p:nvSpPr>
          <p:cNvPr id="5" name="Highlight 1"/>
          <p:cNvSpPr/>
          <p:nvPr/>
        </p:nvSpPr>
        <p:spPr>
          <a:xfrm>
            <a:off x="1168348" y="3396525"/>
            <a:ext cx="5801465" cy="1025069"/>
          </a:xfrm>
          <a:prstGeom prst="roundRect">
            <a:avLst>
              <a:gd name="adj" fmla="val 4460"/>
            </a:avLst>
          </a:prstGeom>
          <a:ln w="31750">
            <a:solidFill>
              <a:srgbClr val="EA580C"/>
            </a:solidFill>
            <a:prstDash val="solid"/>
          </a:ln>
        </p:spPr>
      </p:sp>
      <p:sp>
        <p:nvSpPr>
          <p:cNvPr id="6" name="Highlight 2"/>
          <p:cNvSpPr/>
          <p:nvPr/>
        </p:nvSpPr>
        <p:spPr>
          <a:xfrm>
            <a:off x="5857673" y="4864272"/>
            <a:ext cx="1112139" cy="552405"/>
          </a:xfrm>
          <a:prstGeom prst="roundRect">
            <a:avLst>
              <a:gd name="adj" fmla="val 8277"/>
            </a:avLst>
          </a:prstGeom>
          <a:ln w="31750">
            <a:solidFill>
              <a:srgbClr val="EA580C"/>
            </a:solidFill>
            <a:prstDash val="solid"/>
          </a:ln>
        </p:spPr>
      </p:sp>
      <p:sp>
        <p:nvSpPr>
          <p:cNvPr id="7" name="Callout number 1"/>
          <p:cNvSpPr/>
          <p:nvPr/>
        </p:nvSpPr>
        <p:spPr>
          <a:xfrm>
            <a:off x="1012900" y="3241077"/>
            <a:ext cx="310896" cy="310896"/>
          </a:xfrm>
          <a:prstGeom prst="ellipse">
            <a:avLst/>
          </a:prstGeom>
          <a:solidFill>
            <a:srgbClr val="1B2A8F"/>
          </a:solidFill>
          <a:ln w="25400">
            <a:solidFill>
              <a:srgbClr val="EA580C"/>
            </a:solidFill>
            <a:prstDash val="solid"/>
          </a:ln>
        </p:spPr>
      </p:sp>
      <p:sp>
        <p:nvSpPr>
          <p:cNvPr id="8" name="Text 5"/>
          <p:cNvSpPr txBox="1"/>
          <p:nvPr/>
        </p:nvSpPr>
        <p:spPr>
          <a:xfrm>
            <a:off x="1012900" y="3241077"/>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9" name="Callout number 2"/>
          <p:cNvSpPr/>
          <p:nvPr/>
        </p:nvSpPr>
        <p:spPr>
          <a:xfrm>
            <a:off x="6258295" y="4507656"/>
            <a:ext cx="310896" cy="310896"/>
          </a:xfrm>
          <a:prstGeom prst="ellipse">
            <a:avLst/>
          </a:prstGeom>
          <a:solidFill>
            <a:srgbClr val="1B2A8F"/>
          </a:solidFill>
          <a:ln w="25400">
            <a:solidFill>
              <a:srgbClr val="EA580C"/>
            </a:solidFill>
            <a:prstDash val="solid"/>
          </a:ln>
        </p:spPr>
      </p:sp>
      <p:sp>
        <p:nvSpPr>
          <p:cNvPr id="10" name="Text 7"/>
          <p:cNvSpPr txBox="1"/>
          <p:nvPr/>
        </p:nvSpPr>
        <p:spPr>
          <a:xfrm>
            <a:off x="6258295" y="45076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1" name="Callout number 1"/>
          <p:cNvSpPr/>
          <p:nvPr/>
        </p:nvSpPr>
        <p:spPr>
          <a:xfrm>
            <a:off x="7818120" y="1344168"/>
            <a:ext cx="365760" cy="365760"/>
          </a:xfrm>
          <a:prstGeom prst="ellipse">
            <a:avLst/>
          </a:prstGeom>
          <a:solidFill>
            <a:srgbClr val="1B2A8F"/>
          </a:solidFill>
          <a:ln w="25400">
            <a:solidFill>
              <a:srgbClr val="EA580C"/>
            </a:solidFill>
            <a:prstDash val="solid"/>
          </a:ln>
        </p:spPr>
      </p:sp>
      <p:sp>
        <p:nvSpPr>
          <p:cNvPr id="12" name="Text 9"/>
          <p:cNvSpPr txBox="1"/>
          <p:nvPr/>
        </p:nvSpPr>
        <p:spPr>
          <a:xfrm>
            <a:off x="7818120" y="1344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3" name="Legend 1"/>
          <p:cNvSpPr txBox="1"/>
          <p:nvPr/>
        </p:nvSpPr>
        <p:spPr>
          <a:xfrm>
            <a:off x="8348472" y="1325880"/>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What needs to change?</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Required. The Implementer sees this note on the activity.</a:t>
            </a:r>
            <a:endParaRPr lang="en-US" sz="1600" dirty="0"/>
          </a:p>
        </p:txBody>
      </p:sp>
      <p:sp>
        <p:nvSpPr>
          <p:cNvPr id="14" name="Callout number 2"/>
          <p:cNvSpPr/>
          <p:nvPr/>
        </p:nvSpPr>
        <p:spPr>
          <a:xfrm>
            <a:off x="7818120" y="2185416"/>
            <a:ext cx="365760" cy="365760"/>
          </a:xfrm>
          <a:prstGeom prst="ellipse">
            <a:avLst/>
          </a:prstGeom>
          <a:solidFill>
            <a:srgbClr val="1B2A8F"/>
          </a:solidFill>
          <a:ln w="25400">
            <a:solidFill>
              <a:srgbClr val="EA580C"/>
            </a:solidFill>
            <a:prstDash val="solid"/>
          </a:ln>
        </p:spPr>
      </p:sp>
      <p:sp>
        <p:nvSpPr>
          <p:cNvPr id="15" name="Text 12"/>
          <p:cNvSpPr txBox="1"/>
          <p:nvPr/>
        </p:nvSpPr>
        <p:spPr>
          <a:xfrm>
            <a:off x="7818120" y="218541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6" name="Legend 2"/>
          <p:cNvSpPr txBox="1"/>
          <p:nvPr/>
        </p:nvSpPr>
        <p:spPr>
          <a:xfrm>
            <a:off x="8348472" y="2167128"/>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Confirm</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Moves it to Returned for Revision.</a:t>
            </a:r>
            <a:endParaRPr lang="en-US" sz="1600" dirty="0"/>
          </a:p>
        </p:txBody>
      </p:sp>
      <p:sp>
        <p:nvSpPr>
          <p:cNvPr id="17" name="Shape 14"/>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18" name="Text 15"/>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Tip: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be specific: name the missing document or figure.</a:t>
            </a:r>
            <a:endParaRPr lang="en-US" sz="1400" dirty="0"/>
          </a:p>
        </p:txBody>
      </p:sp>
      <p:sp>
        <p:nvSpPr>
          <p:cNvPr id="19" name="Text 1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QA Assessors</a:t>
            </a:r>
            <a:endParaRPr lang="en-US" sz="1000" dirty="0"/>
          </a:p>
        </p:txBody>
      </p:sp>
      <p:sp>
        <p:nvSpPr>
          <p:cNvPr id="20" name="Text 17"/>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Client feedback (ARTA)</a:t>
            </a:r>
            <a:endParaRPr lang="en-US" sz="3400" dirty="0"/>
          </a:p>
        </p:txBody>
      </p:sp>
      <p:sp>
        <p:nvSpPr>
          <p:cNvPr id="3" name="q-arta frame"/>
          <p:cNvSpPr/>
          <p:nvPr/>
        </p:nvSpPr>
        <p:spPr>
          <a:xfrm>
            <a:off x="612648" y="1298448"/>
            <a:ext cx="6912864" cy="3024878"/>
          </a:xfrm>
          <a:prstGeom prst="roundRect">
            <a:avLst>
              <a:gd name="adj" fmla="val 907"/>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q-arta" descr="ARTA Feedback page with activity filter and New Feedback">    </p:cNvPr>
          <p:cNvPicPr>
            <a:picLocks noChangeAspect="1"/>
          </p:cNvPicPr>
          <p:nvPr/>
        </p:nvPicPr>
        <p:blipFill>
          <a:blip r:embed="rId1"/>
          <a:stretch>
            <a:fillRect/>
          </a:stretch>
        </p:blipFill>
        <p:spPr>
          <a:xfrm>
            <a:off x="685800" y="1371600"/>
            <a:ext cx="6766560" cy="2878574"/>
          </a:xfrm>
          <a:prstGeom prst="rect">
            <a:avLst/>
          </a:prstGeom>
        </p:spPr>
      </p:pic>
      <p:sp>
        <p:nvSpPr>
          <p:cNvPr id="5" name="Highlight 1"/>
          <p:cNvSpPr/>
          <p:nvPr/>
        </p:nvSpPr>
        <p:spPr>
          <a:xfrm>
            <a:off x="938403" y="2899720"/>
            <a:ext cx="1769364" cy="260604"/>
          </a:xfrm>
          <a:prstGeom prst="roundRect">
            <a:avLst>
              <a:gd name="adj" fmla="val 17544"/>
            </a:avLst>
          </a:prstGeom>
          <a:ln w="31750">
            <a:solidFill>
              <a:srgbClr val="EA580C"/>
            </a:solidFill>
            <a:prstDash val="solid"/>
          </a:ln>
        </p:spPr>
      </p:sp>
      <p:sp>
        <p:nvSpPr>
          <p:cNvPr id="6" name="Highlight 2"/>
          <p:cNvSpPr/>
          <p:nvPr/>
        </p:nvSpPr>
        <p:spPr>
          <a:xfrm>
            <a:off x="6366492" y="1876735"/>
            <a:ext cx="930420" cy="283464"/>
          </a:xfrm>
          <a:prstGeom prst="roundRect">
            <a:avLst>
              <a:gd name="adj" fmla="val 16129"/>
            </a:avLst>
          </a:prstGeom>
          <a:ln w="31750">
            <a:solidFill>
              <a:srgbClr val="EA580C"/>
            </a:solidFill>
            <a:prstDash val="solid"/>
          </a:ln>
        </p:spPr>
      </p:sp>
      <p:sp>
        <p:nvSpPr>
          <p:cNvPr id="7" name="Callout number 1"/>
          <p:cNvSpPr/>
          <p:nvPr/>
        </p:nvSpPr>
        <p:spPr>
          <a:xfrm>
            <a:off x="1667637" y="2543104"/>
            <a:ext cx="310896" cy="310896"/>
          </a:xfrm>
          <a:prstGeom prst="ellipse">
            <a:avLst/>
          </a:prstGeom>
          <a:solidFill>
            <a:srgbClr val="1B2A8F"/>
          </a:solidFill>
          <a:ln w="25400">
            <a:solidFill>
              <a:srgbClr val="EA580C"/>
            </a:solidFill>
            <a:prstDash val="solid"/>
          </a:ln>
        </p:spPr>
      </p:sp>
      <p:sp>
        <p:nvSpPr>
          <p:cNvPr id="8" name="Text 5"/>
          <p:cNvSpPr txBox="1"/>
          <p:nvPr/>
        </p:nvSpPr>
        <p:spPr>
          <a:xfrm>
            <a:off x="1667637" y="25431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9" name="Callout number 2"/>
          <p:cNvSpPr/>
          <p:nvPr/>
        </p:nvSpPr>
        <p:spPr>
          <a:xfrm>
            <a:off x="6676254" y="1520119"/>
            <a:ext cx="310896" cy="310896"/>
          </a:xfrm>
          <a:prstGeom prst="ellipse">
            <a:avLst/>
          </a:prstGeom>
          <a:solidFill>
            <a:srgbClr val="1B2A8F"/>
          </a:solidFill>
          <a:ln w="25400">
            <a:solidFill>
              <a:srgbClr val="EA580C"/>
            </a:solidFill>
            <a:prstDash val="solid"/>
          </a:ln>
        </p:spPr>
      </p:sp>
      <p:sp>
        <p:nvSpPr>
          <p:cNvPr id="10" name="Text 7"/>
          <p:cNvSpPr txBox="1"/>
          <p:nvPr/>
        </p:nvSpPr>
        <p:spPr>
          <a:xfrm>
            <a:off x="6676254" y="1520119"/>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1" name="Where to open"/>
          <p:cNvSpPr txBox="1"/>
          <p:nvPr/>
        </p:nvSpPr>
        <p:spPr>
          <a:xfrm>
            <a:off x="7818120" y="1325880"/>
            <a:ext cx="3840480" cy="365760"/>
          </a:xfrm>
          <a:prstGeom prst="rect">
            <a:avLst/>
          </a:prstGeom>
          <a:noFill/>
          <a:ln/>
        </p:spPr>
        <p:txBody>
          <a:bodyPr wrap="square" lIns="0" tIns="0" rIns="0" bIns="0" rtlCol="0" anchor="ctr"/>
          <a:lstStyle/>
          <a:p>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Open: </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ARTA Feedback Management</a:t>
            </a:r>
            <a:endParaRPr lang="en-US" sz="1600" dirty="0"/>
          </a:p>
        </p:txBody>
      </p:sp>
      <p:sp>
        <p:nvSpPr>
          <p:cNvPr id="12" name="Callout number 1"/>
          <p:cNvSpPr/>
          <p:nvPr/>
        </p:nvSpPr>
        <p:spPr>
          <a:xfrm>
            <a:off x="7818120" y="1847088"/>
            <a:ext cx="365760" cy="365760"/>
          </a:xfrm>
          <a:prstGeom prst="ellipse">
            <a:avLst/>
          </a:prstGeom>
          <a:solidFill>
            <a:srgbClr val="1B2A8F"/>
          </a:solidFill>
          <a:ln w="25400">
            <a:solidFill>
              <a:srgbClr val="EA580C"/>
            </a:solidFill>
            <a:prstDash val="solid"/>
          </a:ln>
        </p:spPr>
      </p:sp>
      <p:sp>
        <p:nvSpPr>
          <p:cNvPr id="13" name="Text 10"/>
          <p:cNvSpPr txBox="1"/>
          <p:nvPr/>
        </p:nvSpPr>
        <p:spPr>
          <a:xfrm>
            <a:off x="7818120" y="1847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4" name="Legend 1"/>
          <p:cNvSpPr txBox="1"/>
          <p:nvPr/>
        </p:nvSpPr>
        <p:spPr>
          <a:xfrm>
            <a:off x="8348472" y="1828800"/>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Filter by activity</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See feedback for one activity.</a:t>
            </a:r>
            <a:endParaRPr lang="en-US" sz="1600" dirty="0"/>
          </a:p>
        </p:txBody>
      </p:sp>
      <p:sp>
        <p:nvSpPr>
          <p:cNvPr id="15" name="Callout number 2"/>
          <p:cNvSpPr/>
          <p:nvPr/>
        </p:nvSpPr>
        <p:spPr>
          <a:xfrm>
            <a:off x="7818120" y="2688336"/>
            <a:ext cx="365760" cy="365760"/>
          </a:xfrm>
          <a:prstGeom prst="ellipse">
            <a:avLst/>
          </a:prstGeom>
          <a:solidFill>
            <a:srgbClr val="1B2A8F"/>
          </a:solidFill>
          <a:ln w="25400">
            <a:solidFill>
              <a:srgbClr val="EA580C"/>
            </a:solidFill>
            <a:prstDash val="solid"/>
          </a:ln>
        </p:spPr>
      </p:sp>
      <p:sp>
        <p:nvSpPr>
          <p:cNvPr id="16" name="Text 13"/>
          <p:cNvSpPr txBox="1"/>
          <p:nvPr/>
        </p:nvSpPr>
        <p:spPr>
          <a:xfrm>
            <a:off x="7818120" y="2688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7" name="Legend 2"/>
          <p:cNvSpPr txBox="1"/>
          <p:nvPr/>
        </p:nvSpPr>
        <p:spPr>
          <a:xfrm>
            <a:off x="8348472" y="2670048"/>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New Feedback</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Record a client satisfaction survey.</a:t>
            </a:r>
            <a:endParaRPr lang="en-US" sz="1600" dirty="0"/>
          </a:p>
        </p:txBody>
      </p:sp>
      <p:sp>
        <p:nvSpPr>
          <p:cNvPr id="18" name="Shape 15"/>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19" name="Text 16"/>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Rule: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Implementers must record feedback before they can download the QAME report.</a:t>
            </a:r>
            <a:endParaRPr lang="en-US" sz="1400" dirty="0"/>
          </a:p>
        </p:txBody>
      </p:sp>
      <p:sp>
        <p:nvSpPr>
          <p:cNvPr id="20" name="Text 1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QA Assessors</a:t>
            </a:r>
            <a:endParaRPr lang="en-US" sz="1000" dirty="0"/>
          </a:p>
        </p:txBody>
      </p:sp>
      <p:sp>
        <p:nvSpPr>
          <p:cNvPr id="21" name="Text 18"/>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Fixing mistakes</a:t>
            </a:r>
            <a:endParaRPr lang="en-US" sz="3400" dirty="0"/>
          </a:p>
        </p:txBody>
      </p:sp>
      <p:sp>
        <p:nvSpPr>
          <p:cNvPr id="3" name="Shape 1"/>
          <p:cNvSpPr/>
          <p:nvPr/>
        </p:nvSpPr>
        <p:spPr>
          <a:xfrm>
            <a:off x="548640" y="1371600"/>
            <a:ext cx="3566160" cy="3108960"/>
          </a:xfrm>
          <a:prstGeom prst="roundRect">
            <a:avLst>
              <a:gd name="adj" fmla="val 1765"/>
            </a:avLst>
          </a:prstGeom>
          <a:solidFill>
            <a:srgbClr val="F5F7FA"/>
          </a:solidFill>
          <a:ln w="12700">
            <a:solidFill>
              <a:srgbClr val="E2E8F0"/>
            </a:solidFill>
            <a:prstDash val="solid"/>
          </a:ln>
        </p:spPr>
      </p:sp>
      <p:sp>
        <p:nvSpPr>
          <p:cNvPr id="4" name="Callout number 1"/>
          <p:cNvSpPr/>
          <p:nvPr/>
        </p:nvSpPr>
        <p:spPr>
          <a:xfrm>
            <a:off x="822960" y="1627632"/>
            <a:ext cx="457200" cy="457200"/>
          </a:xfrm>
          <a:prstGeom prst="ellipse">
            <a:avLst/>
          </a:prstGeom>
          <a:solidFill>
            <a:srgbClr val="1B2A8F"/>
          </a:solidFill>
          <a:ln w="25400">
            <a:solidFill>
              <a:srgbClr val="EA580C"/>
            </a:solidFill>
            <a:prstDash val="solid"/>
          </a:ln>
        </p:spPr>
      </p:sp>
      <p:sp>
        <p:nvSpPr>
          <p:cNvPr id="5" name="Text 3"/>
          <p:cNvSpPr txBox="1"/>
          <p:nvPr/>
        </p:nvSpPr>
        <p:spPr>
          <a:xfrm>
            <a:off x="82296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1</a:t>
            </a:r>
            <a:endParaRPr lang="en-US" sz="1600" dirty="0"/>
          </a:p>
        </p:txBody>
      </p:sp>
      <p:sp>
        <p:nvSpPr>
          <p:cNvPr id="6" name="Text 4"/>
          <p:cNvSpPr txBox="1"/>
          <p:nvPr/>
        </p:nvSpPr>
        <p:spPr>
          <a:xfrm>
            <a:off x="82296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Wrong rating saved</a:t>
            </a:r>
            <a:endParaRPr lang="en-US" sz="1700" dirty="0"/>
          </a:p>
        </p:txBody>
      </p:sp>
      <p:sp>
        <p:nvSpPr>
          <p:cNvPr id="7" name="Text 5"/>
          <p:cNvSpPr txBox="1"/>
          <p:nvPr/>
        </p:nvSpPr>
        <p:spPr>
          <a:xfrm>
            <a:off x="82296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Choose the right rating. It saves again while the activity is Under Review.</a:t>
            </a:r>
            <a:endParaRPr lang="en-US" sz="1400" dirty="0"/>
          </a:p>
        </p:txBody>
      </p:sp>
      <p:sp>
        <p:nvSpPr>
          <p:cNvPr id="8" name="Shape 6"/>
          <p:cNvSpPr/>
          <p:nvPr/>
        </p:nvSpPr>
        <p:spPr>
          <a:xfrm>
            <a:off x="4297680" y="1371600"/>
            <a:ext cx="3566160" cy="3108960"/>
          </a:xfrm>
          <a:prstGeom prst="roundRect">
            <a:avLst>
              <a:gd name="adj" fmla="val 1765"/>
            </a:avLst>
          </a:prstGeom>
          <a:solidFill>
            <a:srgbClr val="F5F7FA"/>
          </a:solidFill>
          <a:ln w="12700">
            <a:solidFill>
              <a:srgbClr val="E2E8F0"/>
            </a:solidFill>
            <a:prstDash val="solid"/>
          </a:ln>
        </p:spPr>
      </p:sp>
      <p:sp>
        <p:nvSpPr>
          <p:cNvPr id="9" name="Callout number 2"/>
          <p:cNvSpPr/>
          <p:nvPr/>
        </p:nvSpPr>
        <p:spPr>
          <a:xfrm>
            <a:off x="4572000" y="1627632"/>
            <a:ext cx="457200" cy="457200"/>
          </a:xfrm>
          <a:prstGeom prst="ellipse">
            <a:avLst/>
          </a:prstGeom>
          <a:solidFill>
            <a:srgbClr val="1B2A8F"/>
          </a:solidFill>
          <a:ln w="25400">
            <a:solidFill>
              <a:srgbClr val="EA580C"/>
            </a:solidFill>
            <a:prstDash val="solid"/>
          </a:ln>
        </p:spPr>
      </p:sp>
      <p:sp>
        <p:nvSpPr>
          <p:cNvPr id="10" name="Text 8"/>
          <p:cNvSpPr txBox="1"/>
          <p:nvPr/>
        </p:nvSpPr>
        <p:spPr>
          <a:xfrm>
            <a:off x="457200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2</a:t>
            </a:r>
            <a:endParaRPr lang="en-US" sz="1600" dirty="0"/>
          </a:p>
        </p:txBody>
      </p:sp>
      <p:sp>
        <p:nvSpPr>
          <p:cNvPr id="11" name="Text 9"/>
          <p:cNvSpPr txBox="1"/>
          <p:nvPr/>
        </p:nvSpPr>
        <p:spPr>
          <a:xfrm>
            <a:off x="457200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Returned by mistake</a:t>
            </a:r>
            <a:endParaRPr lang="en-US" sz="1700" dirty="0"/>
          </a:p>
        </p:txBody>
      </p:sp>
      <p:sp>
        <p:nvSpPr>
          <p:cNvPr id="12" name="Text 10"/>
          <p:cNvSpPr txBox="1"/>
          <p:nvPr/>
        </p:nvSpPr>
        <p:spPr>
          <a:xfrm>
            <a:off x="457200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Ask an administrator to revert the status.</a:t>
            </a:r>
            <a:endParaRPr lang="en-US" sz="1400" dirty="0"/>
          </a:p>
        </p:txBody>
      </p:sp>
      <p:sp>
        <p:nvSpPr>
          <p:cNvPr id="13" name="Shape 11"/>
          <p:cNvSpPr/>
          <p:nvPr/>
        </p:nvSpPr>
        <p:spPr>
          <a:xfrm>
            <a:off x="8046720" y="1371600"/>
            <a:ext cx="3566160" cy="3108960"/>
          </a:xfrm>
          <a:prstGeom prst="roundRect">
            <a:avLst>
              <a:gd name="adj" fmla="val 1765"/>
            </a:avLst>
          </a:prstGeom>
          <a:solidFill>
            <a:srgbClr val="F5F7FA"/>
          </a:solidFill>
          <a:ln w="12700">
            <a:solidFill>
              <a:srgbClr val="E2E8F0"/>
            </a:solidFill>
            <a:prstDash val="solid"/>
          </a:ln>
        </p:spPr>
      </p:sp>
      <p:sp>
        <p:nvSpPr>
          <p:cNvPr id="14" name="Callout number 3"/>
          <p:cNvSpPr/>
          <p:nvPr/>
        </p:nvSpPr>
        <p:spPr>
          <a:xfrm>
            <a:off x="8321040" y="1627632"/>
            <a:ext cx="457200" cy="457200"/>
          </a:xfrm>
          <a:prstGeom prst="ellipse">
            <a:avLst/>
          </a:prstGeom>
          <a:solidFill>
            <a:srgbClr val="1B2A8F"/>
          </a:solidFill>
          <a:ln w="25400">
            <a:solidFill>
              <a:srgbClr val="EA580C"/>
            </a:solidFill>
            <a:prstDash val="solid"/>
          </a:ln>
        </p:spPr>
      </p:sp>
      <p:sp>
        <p:nvSpPr>
          <p:cNvPr id="15" name="Text 13"/>
          <p:cNvSpPr txBox="1"/>
          <p:nvPr/>
        </p:nvSpPr>
        <p:spPr>
          <a:xfrm>
            <a:off x="832104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3</a:t>
            </a:r>
            <a:endParaRPr lang="en-US" sz="1600" dirty="0"/>
          </a:p>
        </p:txBody>
      </p:sp>
      <p:sp>
        <p:nvSpPr>
          <p:cNvPr id="16" name="Text 14"/>
          <p:cNvSpPr txBox="1"/>
          <p:nvPr/>
        </p:nvSpPr>
        <p:spPr>
          <a:xfrm>
            <a:off x="832104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Started the wrong review</a:t>
            </a:r>
            <a:endParaRPr lang="en-US" sz="1700" dirty="0"/>
          </a:p>
        </p:txBody>
      </p:sp>
      <p:sp>
        <p:nvSpPr>
          <p:cNvPr id="17" name="Text 15"/>
          <p:cNvSpPr txBox="1"/>
          <p:nvPr/>
        </p:nvSpPr>
        <p:spPr>
          <a:xfrm>
            <a:off x="832104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Ask an administrator to move it back to Submitted.</a:t>
            </a:r>
            <a:endParaRPr lang="en-US" sz="1400" dirty="0"/>
          </a:p>
        </p:txBody>
      </p:sp>
      <p:sp>
        <p:nvSpPr>
          <p:cNvPr id="18" name="Shape 16"/>
          <p:cNvSpPr/>
          <p:nvPr/>
        </p:nvSpPr>
        <p:spPr>
          <a:xfrm>
            <a:off x="548640" y="4800600"/>
            <a:ext cx="11064240" cy="822960"/>
          </a:xfrm>
          <a:prstGeom prst="roundRect">
            <a:avLst>
              <a:gd name="adj" fmla="val 8889"/>
            </a:avLst>
          </a:prstGeom>
          <a:solidFill>
            <a:srgbClr val="EEF2FF"/>
          </a:solidFill>
          <a:ln w="12700">
            <a:solidFill>
              <a:srgbClr val="EEF2FF"/>
            </a:solidFill>
            <a:prstDash val="solid"/>
          </a:ln>
        </p:spPr>
      </p:sp>
      <p:sp>
        <p:nvSpPr>
          <p:cNvPr id="19" name="Text 17"/>
          <p:cNvSpPr txBox="1"/>
          <p:nvPr/>
        </p:nvSpPr>
        <p:spPr>
          <a:xfrm>
            <a:off x="749808" y="4892040"/>
            <a:ext cx="10661904" cy="64008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Rules: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you change review fields only, and only while the activity is Under Review.</a:t>
            </a:r>
            <a:endParaRPr lang="en-US" sz="1400" dirty="0"/>
          </a:p>
        </p:txBody>
      </p:sp>
      <p:sp>
        <p:nvSpPr>
          <p:cNvPr id="20" name="Text 1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QA Assessors</a:t>
            </a:r>
            <a:endParaRPr lang="en-US" sz="1000" dirty="0"/>
          </a:p>
        </p:txBody>
      </p:sp>
      <p:sp>
        <p:nvSpPr>
          <p:cNvPr id="21" name="Text 19"/>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Common problems and fixes</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023360"/>
                <a:gridCol w="7040880"/>
              </a:tblGrid>
              <a:tr h="566928">
                <a:tc>
                  <a:txBody>
                    <a:bodyP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Problem</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8F"/>
                    </a:solidFill>
                  </a:tcPr>
                </a:tc>
                <a:tc>
                  <a:txBody>
                    <a:bodyP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What to do</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8F"/>
                    </a:solidFill>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I cannot change the title or budget</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Return the activity with a note. The Implementer fixes it.</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There is no Publish button</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Only administrators publish.</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Confirm is greyed out</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Write the note first. It is required.</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The report link will not save</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Paste the full https:// OneDrive share link.</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DQAMP will not load</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The DQAMP window on the host computer must stay open.</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4"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QA Assessors</a:t>
            </a:r>
            <a:endParaRPr lang="en-US" sz="1000" dirty="0"/>
          </a:p>
        </p:txBody>
      </p:sp>
      <p:sp>
        <p:nvSpPr>
          <p:cNvPr id="5" name="Text 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Practice: review one activity</a:t>
            </a:r>
            <a:endParaRPr lang="en-US" sz="3400" dirty="0"/>
          </a:p>
        </p:txBody>
      </p:sp>
      <p:sp>
        <p:nvSpPr>
          <p:cNvPr id="3" name="Shape 1"/>
          <p:cNvSpPr/>
          <p:nvPr/>
        </p:nvSpPr>
        <p:spPr>
          <a:xfrm>
            <a:off x="548640" y="1325880"/>
            <a:ext cx="4206240" cy="4480560"/>
          </a:xfrm>
          <a:prstGeom prst="roundRect">
            <a:avLst>
              <a:gd name="adj" fmla="val 1304"/>
            </a:avLst>
          </a:prstGeom>
          <a:solidFill>
            <a:srgbClr val="1B2A8F"/>
          </a:solidFill>
          <a:ln w="12700">
            <a:solidFill>
              <a:srgbClr val="1B2A8F"/>
            </a:solidFill>
            <a:prstDash val="solid"/>
          </a:ln>
        </p:spPr>
      </p:sp>
      <p:sp>
        <p:nvSpPr>
          <p:cNvPr id="4" name="Text 2"/>
          <p:cNvSpPr txBox="1"/>
          <p:nvPr/>
        </p:nvSpPr>
        <p:spPr>
          <a:xfrm>
            <a:off x="822960" y="1554480"/>
            <a:ext cx="3657600" cy="411480"/>
          </a:xfrm>
          <a:prstGeom prst="rect">
            <a:avLst/>
          </a:prstGeom>
          <a:noFill/>
          <a:ln/>
        </p:spPr>
        <p:txBody>
          <a:bodyPr wrap="square" lIns="0" tIns="0" rIns="0" bIns="0" rtlCol="0" anchor="ctr"/>
          <a:lstStyle/>
          <a:p>
            <a:pPr indent="0" marL="0">
              <a:buNone/>
            </a:pPr>
            <a:r>
              <a:rPr lang="en-US" sz="1800" b="1" dirty="0">
                <a:solidFill>
                  <a:srgbClr val="F2B705"/>
                </a:solidFill>
                <a:latin typeface="Palatino Linotype" pitchFamily="34" charset="0"/>
                <a:ea typeface="Palatino Linotype" pitchFamily="34" charset="-122"/>
                <a:cs typeface="Palatino Linotype" pitchFamily="34" charset="-120"/>
              </a:rPr>
              <a:t>Scenario (fictional)</a:t>
            </a:r>
            <a:endParaRPr lang="en-US" sz="1800" dirty="0"/>
          </a:p>
        </p:txBody>
      </p:sp>
      <p:sp>
        <p:nvSpPr>
          <p:cNvPr id="5" name="Text 3"/>
          <p:cNvSpPr txBox="1"/>
          <p:nvPr/>
        </p:nvSpPr>
        <p:spPr>
          <a:xfrm>
            <a:off x="822960" y="2057400"/>
            <a:ext cx="3657600" cy="237744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Grade 4 Numeracy Benchmark Testing (CID) was submitted this morning. Review it and send it back for one missing item.</a:t>
            </a:r>
            <a:endParaRPr lang="en-US" sz="1500" dirty="0"/>
          </a:p>
          <a:p>
            <a:pPr indent="0" marL="0">
              <a:buNone/>
            </a:pPr>
            <a:endParaRPr lang="en-US" sz="1500" dirty="0"/>
          </a:p>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Use the practice account and sample OneDrive link your facilitator gives you.</a:t>
            </a:r>
            <a:endParaRPr lang="en-US" sz="1500" dirty="0"/>
          </a:p>
        </p:txBody>
      </p:sp>
      <p:sp>
        <p:nvSpPr>
          <p:cNvPr id="6" name="Shape 4"/>
          <p:cNvSpPr/>
          <p:nvPr/>
        </p:nvSpPr>
        <p:spPr>
          <a:xfrm>
            <a:off x="777240" y="4800600"/>
            <a:ext cx="3749040" cy="777240"/>
          </a:xfrm>
          <a:prstGeom prst="roundRect">
            <a:avLst>
              <a:gd name="adj" fmla="val 7059"/>
            </a:avLst>
          </a:prstGeom>
          <a:solidFill>
            <a:srgbClr val="15338A"/>
          </a:solidFill>
          <a:ln w="12700">
            <a:solidFill>
              <a:srgbClr val="15338A"/>
            </a:solidFill>
            <a:prstDash val="solid"/>
          </a:ln>
        </p:spPr>
      </p:sp>
      <p:sp>
        <p:nvSpPr>
          <p:cNvPr id="7" name="Text 5"/>
          <p:cNvSpPr txBox="1"/>
          <p:nvPr/>
        </p:nvSpPr>
        <p:spPr>
          <a:xfrm>
            <a:off x="960120" y="4846320"/>
            <a:ext cx="3474720" cy="685800"/>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About 10 minutes</a:t>
            </a:r>
            <a:endParaRPr lang="en-US" sz="1500" dirty="0"/>
          </a:p>
          <a:p>
            <a:pPr indent="0" marL="0">
              <a:buNone/>
            </a:pPr>
            <a:r>
              <a:rPr lang="en-US" sz="1200" dirty="0">
                <a:solidFill>
                  <a:srgbClr val="CADCFC"/>
                </a:solidFill>
                <a:latin typeface="Palatino Linotype" pitchFamily="34" charset="0"/>
                <a:ea typeface="Palatino Linotype" pitchFamily="34" charset="-122"/>
                <a:cs typeface="Palatino Linotype" pitchFamily="34" charset="-120"/>
              </a:rPr>
              <a:t>Work in pairs if computers are limited</a:t>
            </a:r>
            <a:endParaRPr lang="en-US" sz="1500" dirty="0"/>
          </a:p>
        </p:txBody>
      </p:sp>
      <p:sp>
        <p:nvSpPr>
          <p:cNvPr id="8" name="Callout number 1"/>
          <p:cNvSpPr/>
          <p:nvPr/>
        </p:nvSpPr>
        <p:spPr>
          <a:xfrm>
            <a:off x="5166360" y="1344168"/>
            <a:ext cx="365760" cy="365760"/>
          </a:xfrm>
          <a:prstGeom prst="ellipse">
            <a:avLst/>
          </a:prstGeom>
          <a:solidFill>
            <a:srgbClr val="1B2A8F"/>
          </a:solidFill>
          <a:ln w="25400">
            <a:solidFill>
              <a:srgbClr val="EA580C"/>
            </a:solidFill>
            <a:prstDash val="solid"/>
          </a:ln>
        </p:spPr>
      </p:sp>
      <p:sp>
        <p:nvSpPr>
          <p:cNvPr id="9" name="Text 7"/>
          <p:cNvSpPr txBox="1"/>
          <p:nvPr/>
        </p:nvSpPr>
        <p:spPr>
          <a:xfrm>
            <a:off x="5166360" y="1344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0" name="Legend 1"/>
          <p:cNvSpPr txBox="1"/>
          <p:nvPr/>
        </p:nvSpPr>
        <p:spPr>
          <a:xfrm>
            <a:off x="5696712" y="132588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Filter by Submitted</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On the Activities page.</a:t>
            </a:r>
            <a:endParaRPr lang="en-US" sz="1600" dirty="0"/>
          </a:p>
        </p:txBody>
      </p:sp>
      <p:sp>
        <p:nvSpPr>
          <p:cNvPr id="11" name="Callout number 2"/>
          <p:cNvSpPr/>
          <p:nvPr/>
        </p:nvSpPr>
        <p:spPr>
          <a:xfrm>
            <a:off x="5166360" y="2075688"/>
            <a:ext cx="365760" cy="365760"/>
          </a:xfrm>
          <a:prstGeom prst="ellipse">
            <a:avLst/>
          </a:prstGeom>
          <a:solidFill>
            <a:srgbClr val="1B2A8F"/>
          </a:solidFill>
          <a:ln w="25400">
            <a:solidFill>
              <a:srgbClr val="EA580C"/>
            </a:solidFill>
            <a:prstDash val="solid"/>
          </a:ln>
        </p:spPr>
      </p:sp>
      <p:sp>
        <p:nvSpPr>
          <p:cNvPr id="12" name="Text 10"/>
          <p:cNvSpPr txBox="1"/>
          <p:nvPr/>
        </p:nvSpPr>
        <p:spPr>
          <a:xfrm>
            <a:off x="5166360" y="20756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3" name="Legend 2"/>
          <p:cNvSpPr txBox="1"/>
          <p:nvPr/>
        </p:nvSpPr>
        <p:spPr>
          <a:xfrm>
            <a:off x="5696712" y="205740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Start review</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On Grade 4 Numeracy Benchmark Testing.</a:t>
            </a:r>
            <a:endParaRPr lang="en-US" sz="1600" dirty="0"/>
          </a:p>
        </p:txBody>
      </p:sp>
      <p:sp>
        <p:nvSpPr>
          <p:cNvPr id="14" name="Callout number 3"/>
          <p:cNvSpPr/>
          <p:nvPr/>
        </p:nvSpPr>
        <p:spPr>
          <a:xfrm>
            <a:off x="5166360" y="2807208"/>
            <a:ext cx="365760" cy="365760"/>
          </a:xfrm>
          <a:prstGeom prst="ellipse">
            <a:avLst/>
          </a:prstGeom>
          <a:solidFill>
            <a:srgbClr val="1B2A8F"/>
          </a:solidFill>
          <a:ln w="25400">
            <a:solidFill>
              <a:srgbClr val="EA580C"/>
            </a:solidFill>
            <a:prstDash val="solid"/>
          </a:ln>
        </p:spPr>
      </p:sp>
      <p:sp>
        <p:nvSpPr>
          <p:cNvPr id="15" name="Text 13"/>
          <p:cNvSpPr txBox="1"/>
          <p:nvPr/>
        </p:nvSpPr>
        <p:spPr>
          <a:xfrm>
            <a:off x="5166360" y="28072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6" name="Legend 3"/>
          <p:cNvSpPr txBox="1"/>
          <p:nvPr/>
        </p:nvSpPr>
        <p:spPr>
          <a:xfrm>
            <a:off x="5696712" y="278892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Set the QAME rating</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In the QAME Evaluation section.</a:t>
            </a:r>
            <a:endParaRPr lang="en-US" sz="1600" dirty="0"/>
          </a:p>
        </p:txBody>
      </p:sp>
      <p:sp>
        <p:nvSpPr>
          <p:cNvPr id="17" name="Callout number 4"/>
          <p:cNvSpPr/>
          <p:nvPr/>
        </p:nvSpPr>
        <p:spPr>
          <a:xfrm>
            <a:off x="5166360" y="3538728"/>
            <a:ext cx="365760" cy="365760"/>
          </a:xfrm>
          <a:prstGeom prst="ellipse">
            <a:avLst/>
          </a:prstGeom>
          <a:solidFill>
            <a:srgbClr val="1B2A8F"/>
          </a:solidFill>
          <a:ln w="25400">
            <a:solidFill>
              <a:srgbClr val="EA580C"/>
            </a:solidFill>
            <a:prstDash val="solid"/>
          </a:ln>
        </p:spPr>
      </p:sp>
      <p:sp>
        <p:nvSpPr>
          <p:cNvPr id="18" name="Text 16"/>
          <p:cNvSpPr txBox="1"/>
          <p:nvPr/>
        </p:nvSpPr>
        <p:spPr>
          <a:xfrm>
            <a:off x="5166360" y="35387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9" name="Legend 4"/>
          <p:cNvSpPr txBox="1"/>
          <p:nvPr/>
        </p:nvSpPr>
        <p:spPr>
          <a:xfrm>
            <a:off x="5696712" y="352044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Add the report link</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Paste the sample OneDrive link and save.</a:t>
            </a:r>
            <a:endParaRPr lang="en-US" sz="1600" dirty="0"/>
          </a:p>
        </p:txBody>
      </p:sp>
      <p:sp>
        <p:nvSpPr>
          <p:cNvPr id="20" name="Callout number 5"/>
          <p:cNvSpPr/>
          <p:nvPr/>
        </p:nvSpPr>
        <p:spPr>
          <a:xfrm>
            <a:off x="5166360" y="4270248"/>
            <a:ext cx="365760" cy="365760"/>
          </a:xfrm>
          <a:prstGeom prst="ellipse">
            <a:avLst/>
          </a:prstGeom>
          <a:solidFill>
            <a:srgbClr val="1B2A8F"/>
          </a:solidFill>
          <a:ln w="25400">
            <a:solidFill>
              <a:srgbClr val="EA580C"/>
            </a:solidFill>
            <a:prstDash val="solid"/>
          </a:ln>
        </p:spPr>
      </p:sp>
      <p:sp>
        <p:nvSpPr>
          <p:cNvPr id="21" name="Text 19"/>
          <p:cNvSpPr txBox="1"/>
          <p:nvPr/>
        </p:nvSpPr>
        <p:spPr>
          <a:xfrm>
            <a:off x="5166360" y="42702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2" name="Legend 5"/>
          <p:cNvSpPr txBox="1"/>
          <p:nvPr/>
        </p:nvSpPr>
        <p:spPr>
          <a:xfrm>
            <a:off x="5696712" y="425196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Return it</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Note: Attach the test results summary.</a:t>
            </a:r>
            <a:endParaRPr lang="en-US" sz="1600" dirty="0"/>
          </a:p>
        </p:txBody>
      </p:sp>
      <p:sp>
        <p:nvSpPr>
          <p:cNvPr id="23" name="Shape 21"/>
          <p:cNvSpPr/>
          <p:nvPr/>
        </p:nvSpPr>
        <p:spPr>
          <a:xfrm>
            <a:off x="5166360" y="5074920"/>
            <a:ext cx="6446520" cy="731520"/>
          </a:xfrm>
          <a:prstGeom prst="roundRect">
            <a:avLst>
              <a:gd name="adj" fmla="val 10000"/>
            </a:avLst>
          </a:prstGeom>
          <a:solidFill>
            <a:srgbClr val="EEF2FF"/>
          </a:solidFill>
          <a:ln w="12700">
            <a:solidFill>
              <a:srgbClr val="EEF2FF"/>
            </a:solidFill>
            <a:prstDash val="solid"/>
          </a:ln>
        </p:spPr>
      </p:sp>
      <p:sp>
        <p:nvSpPr>
          <p:cNvPr id="24" name="Text 22"/>
          <p:cNvSpPr txBox="1"/>
          <p:nvPr/>
        </p:nvSpPr>
        <p:spPr>
          <a:xfrm>
            <a:off x="5367528" y="5166360"/>
            <a:ext cx="6044184" cy="54864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Done when: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The activity shows Returned for Revision, with your note on it.</a:t>
            </a:r>
            <a:endParaRPr lang="en-US" sz="1400" dirty="0"/>
          </a:p>
        </p:txBody>
      </p:sp>
      <p:sp>
        <p:nvSpPr>
          <p:cNvPr id="25" name="Text 2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QA Assessors</a:t>
            </a:r>
            <a:endParaRPr lang="en-US" sz="1000" dirty="0"/>
          </a:p>
        </p:txBody>
      </p:sp>
      <p:sp>
        <p:nvSpPr>
          <p:cNvPr id="26" name="Text 2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Where to get help</a:t>
            </a:r>
            <a:endParaRPr lang="en-US" sz="3400" dirty="0"/>
          </a:p>
        </p:txBody>
      </p:sp>
      <p:sp>
        <p:nvSpPr>
          <p:cNvPr id="3" name="Shape 1"/>
          <p:cNvSpPr/>
          <p:nvPr/>
        </p:nvSpPr>
        <p:spPr>
          <a:xfrm>
            <a:off x="548640" y="1371600"/>
            <a:ext cx="3566160" cy="3108960"/>
          </a:xfrm>
          <a:prstGeom prst="roundRect">
            <a:avLst>
              <a:gd name="adj" fmla="val 1765"/>
            </a:avLst>
          </a:prstGeom>
          <a:solidFill>
            <a:srgbClr val="F5F7FA"/>
          </a:solidFill>
          <a:ln w="12700">
            <a:solidFill>
              <a:srgbClr val="E2E8F0"/>
            </a:solidFill>
            <a:prstDash val="solid"/>
          </a:ln>
        </p:spPr>
      </p:sp>
      <p:sp>
        <p:nvSpPr>
          <p:cNvPr id="4" name="Callout number 1"/>
          <p:cNvSpPr/>
          <p:nvPr/>
        </p:nvSpPr>
        <p:spPr>
          <a:xfrm>
            <a:off x="822960" y="1627632"/>
            <a:ext cx="457200" cy="457200"/>
          </a:xfrm>
          <a:prstGeom prst="ellipse">
            <a:avLst/>
          </a:prstGeom>
          <a:solidFill>
            <a:srgbClr val="1B2A8F"/>
          </a:solidFill>
          <a:ln w="25400">
            <a:solidFill>
              <a:srgbClr val="EA580C"/>
            </a:solidFill>
            <a:prstDash val="solid"/>
          </a:ln>
        </p:spPr>
      </p:sp>
      <p:sp>
        <p:nvSpPr>
          <p:cNvPr id="5" name="Text 3"/>
          <p:cNvSpPr txBox="1"/>
          <p:nvPr/>
        </p:nvSpPr>
        <p:spPr>
          <a:xfrm>
            <a:off x="82296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1</a:t>
            </a:r>
            <a:endParaRPr lang="en-US" sz="1600" dirty="0"/>
          </a:p>
        </p:txBody>
      </p:sp>
      <p:sp>
        <p:nvSpPr>
          <p:cNvPr id="6" name="Text 4"/>
          <p:cNvSpPr txBox="1"/>
          <p:nvPr/>
        </p:nvSpPr>
        <p:spPr>
          <a:xfrm>
            <a:off x="82296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Your administrator</a:t>
            </a:r>
            <a:endParaRPr lang="en-US" sz="1700" dirty="0"/>
          </a:p>
        </p:txBody>
      </p:sp>
      <p:sp>
        <p:nvSpPr>
          <p:cNvPr id="7" name="Text 5"/>
          <p:cNvSpPr txBox="1"/>
          <p:nvPr/>
        </p:nvSpPr>
        <p:spPr>
          <a:xfrm>
            <a:off x="82296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Accounts, passwords, roles, divisions, and anything DQAMP will not let you change.</a:t>
            </a:r>
            <a:endParaRPr lang="en-US" sz="1400" dirty="0"/>
          </a:p>
        </p:txBody>
      </p:sp>
      <p:sp>
        <p:nvSpPr>
          <p:cNvPr id="8" name="Shape 6"/>
          <p:cNvSpPr/>
          <p:nvPr/>
        </p:nvSpPr>
        <p:spPr>
          <a:xfrm>
            <a:off x="4297680" y="1371600"/>
            <a:ext cx="3566160" cy="3108960"/>
          </a:xfrm>
          <a:prstGeom prst="roundRect">
            <a:avLst>
              <a:gd name="adj" fmla="val 1765"/>
            </a:avLst>
          </a:prstGeom>
          <a:solidFill>
            <a:srgbClr val="F5F7FA"/>
          </a:solidFill>
          <a:ln w="12700">
            <a:solidFill>
              <a:srgbClr val="E2E8F0"/>
            </a:solidFill>
            <a:prstDash val="solid"/>
          </a:ln>
        </p:spPr>
      </p:sp>
      <p:sp>
        <p:nvSpPr>
          <p:cNvPr id="9" name="Callout number 2"/>
          <p:cNvSpPr/>
          <p:nvPr/>
        </p:nvSpPr>
        <p:spPr>
          <a:xfrm>
            <a:off x="4572000" y="1627632"/>
            <a:ext cx="457200" cy="457200"/>
          </a:xfrm>
          <a:prstGeom prst="ellipse">
            <a:avLst/>
          </a:prstGeom>
          <a:solidFill>
            <a:srgbClr val="1B2A8F"/>
          </a:solidFill>
          <a:ln w="25400">
            <a:solidFill>
              <a:srgbClr val="EA580C"/>
            </a:solidFill>
            <a:prstDash val="solid"/>
          </a:ln>
        </p:spPr>
      </p:sp>
      <p:sp>
        <p:nvSpPr>
          <p:cNvPr id="10" name="Text 8"/>
          <p:cNvSpPr txBox="1"/>
          <p:nvPr/>
        </p:nvSpPr>
        <p:spPr>
          <a:xfrm>
            <a:off x="457200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2</a:t>
            </a:r>
            <a:endParaRPr lang="en-US" sz="1600" dirty="0"/>
          </a:p>
        </p:txBody>
      </p:sp>
      <p:sp>
        <p:nvSpPr>
          <p:cNvPr id="11" name="Text 9"/>
          <p:cNvSpPr txBox="1"/>
          <p:nvPr/>
        </p:nvSpPr>
        <p:spPr>
          <a:xfrm>
            <a:off x="457200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This guide</a:t>
            </a:r>
            <a:endParaRPr lang="en-US" sz="1700" dirty="0"/>
          </a:p>
        </p:txBody>
      </p:sp>
      <p:sp>
        <p:nvSpPr>
          <p:cNvPr id="12" name="Text 10"/>
          <p:cNvSpPr txBox="1"/>
          <p:nvPr/>
        </p:nvSpPr>
        <p:spPr>
          <a:xfrm>
            <a:off x="457200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Keep the checklist on the last slide beside you. Print it if that helps.</a:t>
            </a:r>
            <a:endParaRPr lang="en-US" sz="1400" dirty="0"/>
          </a:p>
        </p:txBody>
      </p:sp>
      <p:sp>
        <p:nvSpPr>
          <p:cNvPr id="13" name="Shape 11"/>
          <p:cNvSpPr/>
          <p:nvPr/>
        </p:nvSpPr>
        <p:spPr>
          <a:xfrm>
            <a:off x="8046720" y="1371600"/>
            <a:ext cx="3566160" cy="3108960"/>
          </a:xfrm>
          <a:prstGeom prst="roundRect">
            <a:avLst>
              <a:gd name="adj" fmla="val 1765"/>
            </a:avLst>
          </a:prstGeom>
          <a:solidFill>
            <a:srgbClr val="F5F7FA"/>
          </a:solidFill>
          <a:ln w="12700">
            <a:solidFill>
              <a:srgbClr val="E2E8F0"/>
            </a:solidFill>
            <a:prstDash val="solid"/>
          </a:ln>
        </p:spPr>
      </p:sp>
      <p:sp>
        <p:nvSpPr>
          <p:cNvPr id="14" name="Callout number 3"/>
          <p:cNvSpPr/>
          <p:nvPr/>
        </p:nvSpPr>
        <p:spPr>
          <a:xfrm>
            <a:off x="8321040" y="1627632"/>
            <a:ext cx="457200" cy="457200"/>
          </a:xfrm>
          <a:prstGeom prst="ellipse">
            <a:avLst/>
          </a:prstGeom>
          <a:solidFill>
            <a:srgbClr val="1B2A8F"/>
          </a:solidFill>
          <a:ln w="25400">
            <a:solidFill>
              <a:srgbClr val="EA580C"/>
            </a:solidFill>
            <a:prstDash val="solid"/>
          </a:ln>
        </p:spPr>
      </p:sp>
      <p:sp>
        <p:nvSpPr>
          <p:cNvPr id="15" name="Text 13"/>
          <p:cNvSpPr txBox="1"/>
          <p:nvPr/>
        </p:nvSpPr>
        <p:spPr>
          <a:xfrm>
            <a:off x="832104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3</a:t>
            </a:r>
            <a:endParaRPr lang="en-US" sz="1600" dirty="0"/>
          </a:p>
        </p:txBody>
      </p:sp>
      <p:sp>
        <p:nvSpPr>
          <p:cNvPr id="16" name="Text 14"/>
          <p:cNvSpPr txBox="1"/>
          <p:nvPr/>
        </p:nvSpPr>
        <p:spPr>
          <a:xfrm>
            <a:off x="832104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Your DQAMP support contact</a:t>
            </a:r>
            <a:endParaRPr lang="en-US" sz="1700" dirty="0"/>
          </a:p>
        </p:txBody>
      </p:sp>
      <p:sp>
        <p:nvSpPr>
          <p:cNvPr id="17" name="Text 15"/>
          <p:cNvSpPr txBox="1"/>
          <p:nvPr/>
        </p:nvSpPr>
        <p:spPr>
          <a:xfrm>
            <a:off x="832104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Name: ____________________</a:t>
            </a:r>
            <a:endParaRPr lang="en-US" sz="14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Contact: __________________</a:t>
            </a:r>
            <a:endParaRPr lang="en-US" sz="1400" dirty="0"/>
          </a:p>
        </p:txBody>
      </p:sp>
      <p:sp>
        <p:nvSpPr>
          <p:cNvPr id="18" name="Text 1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QA Assessors</a:t>
            </a:r>
            <a:endParaRPr lang="en-US" sz="1000" dirty="0"/>
          </a:p>
        </p:txBody>
      </p:sp>
      <p:sp>
        <p:nvSpPr>
          <p:cNvPr id="19" name="Text 17"/>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Quick-start checklist</a:t>
            </a:r>
            <a:endParaRPr lang="en-US" sz="3400" dirty="0"/>
          </a:p>
        </p:txBody>
      </p:sp>
      <p:sp>
        <p:nvSpPr>
          <p:cNvPr id="3" name="Text 1"/>
          <p:cNvSpPr txBox="1"/>
          <p:nvPr/>
        </p:nvSpPr>
        <p:spPr>
          <a:xfrm>
            <a:off x="548640" y="1325880"/>
            <a:ext cx="5303520" cy="365760"/>
          </a:xfrm>
          <a:prstGeom prst="rect">
            <a:avLst/>
          </a:prstGeom>
          <a:noFill/>
          <a:ln/>
        </p:spPr>
        <p:txBody>
          <a:bodyPr wrap="square" lIns="0" tIns="0" rIns="0" bIns="0" rtlCol="0" anchor="ctr"/>
          <a:lstStyle/>
          <a:p>
            <a:pPr indent="0" marL="0">
              <a:buNone/>
            </a:pPr>
            <a:r>
              <a:rPr lang="en-US" sz="1700" b="1" dirty="0">
                <a:solidFill>
                  <a:srgbClr val="1B2A8F"/>
                </a:solidFill>
                <a:latin typeface="Palatino Linotype" pitchFamily="34" charset="0"/>
                <a:ea typeface="Palatino Linotype" pitchFamily="34" charset="-122"/>
                <a:cs typeface="Palatino Linotype" pitchFamily="34" charset="-120"/>
              </a:rPr>
              <a:t>Before you start</a:t>
            </a:r>
            <a:endParaRPr lang="en-US" sz="1700" dirty="0"/>
          </a:p>
        </p:txBody>
      </p:sp>
      <p:sp>
        <p:nvSpPr>
          <p:cNvPr id="4" name="Shape 2"/>
          <p:cNvSpPr/>
          <p:nvPr/>
        </p:nvSpPr>
        <p:spPr>
          <a:xfrm>
            <a:off x="548640" y="1828800"/>
            <a:ext cx="201168" cy="201168"/>
          </a:xfrm>
          <a:prstGeom prst="rect">
            <a:avLst/>
          </a:prstGeom>
          <a:solidFill>
            <a:srgbClr val="FFFFFF"/>
          </a:solidFill>
          <a:ln w="12700">
            <a:solidFill>
              <a:srgbClr val="536379"/>
            </a:solidFill>
            <a:prstDash val="solid"/>
          </a:ln>
        </p:spPr>
      </p:sp>
      <p:sp>
        <p:nvSpPr>
          <p:cNvPr id="5" name="Text 3"/>
          <p:cNvSpPr txBox="1"/>
          <p:nvPr/>
        </p:nvSpPr>
        <p:spPr>
          <a:xfrm>
            <a:off x="896112" y="178308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I can open DQAMP at http://127.0.0.1:3002</a:t>
            </a:r>
            <a:endParaRPr lang="en-US" sz="1350" dirty="0"/>
          </a:p>
        </p:txBody>
      </p:sp>
      <p:sp>
        <p:nvSpPr>
          <p:cNvPr id="6" name="Shape 4"/>
          <p:cNvSpPr/>
          <p:nvPr/>
        </p:nvSpPr>
        <p:spPr>
          <a:xfrm>
            <a:off x="548640" y="2331720"/>
            <a:ext cx="201168" cy="201168"/>
          </a:xfrm>
          <a:prstGeom prst="rect">
            <a:avLst/>
          </a:prstGeom>
          <a:solidFill>
            <a:srgbClr val="FFFFFF"/>
          </a:solidFill>
          <a:ln w="12700">
            <a:solidFill>
              <a:srgbClr val="536379"/>
            </a:solidFill>
            <a:prstDash val="solid"/>
          </a:ln>
        </p:spPr>
      </p:sp>
      <p:sp>
        <p:nvSpPr>
          <p:cNvPr id="7" name="Text 5"/>
          <p:cNvSpPr txBox="1"/>
          <p:nvPr/>
        </p:nvSpPr>
        <p:spPr>
          <a:xfrm>
            <a:off x="896112" y="228600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I can open the OneDrive folder for QAME reports</a:t>
            </a:r>
            <a:endParaRPr lang="en-US" sz="1350" dirty="0"/>
          </a:p>
        </p:txBody>
      </p:sp>
      <p:sp>
        <p:nvSpPr>
          <p:cNvPr id="8" name="Text 6"/>
          <p:cNvSpPr txBox="1"/>
          <p:nvPr/>
        </p:nvSpPr>
        <p:spPr>
          <a:xfrm>
            <a:off x="548640" y="3017520"/>
            <a:ext cx="5303520" cy="365760"/>
          </a:xfrm>
          <a:prstGeom prst="rect">
            <a:avLst/>
          </a:prstGeom>
          <a:noFill/>
          <a:ln/>
        </p:spPr>
        <p:txBody>
          <a:bodyPr wrap="square" lIns="0" tIns="0" rIns="0" bIns="0" rtlCol="0" anchor="ctr"/>
          <a:lstStyle/>
          <a:p>
            <a:pPr indent="0" marL="0">
              <a:buNone/>
            </a:pPr>
            <a:r>
              <a:rPr lang="en-US" sz="1700" b="1" dirty="0">
                <a:solidFill>
                  <a:srgbClr val="1B2A8F"/>
                </a:solidFill>
                <a:latin typeface="Palatino Linotype" pitchFamily="34" charset="0"/>
                <a:ea typeface="Palatino Linotype" pitchFamily="34" charset="-122"/>
                <a:cs typeface="Palatino Linotype" pitchFamily="34" charset="-120"/>
              </a:rPr>
              <a:t>Every week</a:t>
            </a:r>
            <a:endParaRPr lang="en-US" sz="1700" dirty="0"/>
          </a:p>
        </p:txBody>
      </p:sp>
      <p:sp>
        <p:nvSpPr>
          <p:cNvPr id="9" name="Shape 7"/>
          <p:cNvSpPr/>
          <p:nvPr/>
        </p:nvSpPr>
        <p:spPr>
          <a:xfrm>
            <a:off x="548640" y="3520440"/>
            <a:ext cx="201168" cy="201168"/>
          </a:xfrm>
          <a:prstGeom prst="rect">
            <a:avLst/>
          </a:prstGeom>
          <a:solidFill>
            <a:srgbClr val="FFFFFF"/>
          </a:solidFill>
          <a:ln w="12700">
            <a:solidFill>
              <a:srgbClr val="536379"/>
            </a:solidFill>
            <a:prstDash val="solid"/>
          </a:ln>
        </p:spPr>
      </p:sp>
      <p:sp>
        <p:nvSpPr>
          <p:cNvPr id="10" name="Text 8"/>
          <p:cNvSpPr txBox="1"/>
          <p:nvPr/>
        </p:nvSpPr>
        <p:spPr>
          <a:xfrm>
            <a:off x="896112" y="347472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Check for Submitted activities</a:t>
            </a:r>
            <a:endParaRPr lang="en-US" sz="1350" dirty="0"/>
          </a:p>
        </p:txBody>
      </p:sp>
      <p:sp>
        <p:nvSpPr>
          <p:cNvPr id="11" name="Shape 9"/>
          <p:cNvSpPr/>
          <p:nvPr/>
        </p:nvSpPr>
        <p:spPr>
          <a:xfrm>
            <a:off x="548640" y="4023360"/>
            <a:ext cx="201168" cy="201168"/>
          </a:xfrm>
          <a:prstGeom prst="rect">
            <a:avLst/>
          </a:prstGeom>
          <a:solidFill>
            <a:srgbClr val="FFFFFF"/>
          </a:solidFill>
          <a:ln w="12700">
            <a:solidFill>
              <a:srgbClr val="536379"/>
            </a:solidFill>
            <a:prstDash val="solid"/>
          </a:ln>
        </p:spPr>
      </p:sp>
      <p:sp>
        <p:nvSpPr>
          <p:cNvPr id="12" name="Text 10"/>
          <p:cNvSpPr txBox="1"/>
          <p:nvPr/>
        </p:nvSpPr>
        <p:spPr>
          <a:xfrm>
            <a:off x="896112" y="397764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Record ARTA feedback you have received</a:t>
            </a:r>
            <a:endParaRPr lang="en-US" sz="1350" dirty="0"/>
          </a:p>
        </p:txBody>
      </p:sp>
      <p:sp>
        <p:nvSpPr>
          <p:cNvPr id="13" name="Text 11"/>
          <p:cNvSpPr txBox="1"/>
          <p:nvPr/>
        </p:nvSpPr>
        <p:spPr>
          <a:xfrm>
            <a:off x="6309360" y="1325880"/>
            <a:ext cx="5303520" cy="365760"/>
          </a:xfrm>
          <a:prstGeom prst="rect">
            <a:avLst/>
          </a:prstGeom>
          <a:noFill/>
          <a:ln/>
        </p:spPr>
        <p:txBody>
          <a:bodyPr wrap="square" lIns="0" tIns="0" rIns="0" bIns="0" rtlCol="0" anchor="ctr"/>
          <a:lstStyle/>
          <a:p>
            <a:pPr indent="0" marL="0">
              <a:buNone/>
            </a:pPr>
            <a:r>
              <a:rPr lang="en-US" sz="1700" b="1" dirty="0">
                <a:solidFill>
                  <a:srgbClr val="1B2A8F"/>
                </a:solidFill>
                <a:latin typeface="Palatino Linotype" pitchFamily="34" charset="0"/>
                <a:ea typeface="Palatino Linotype" pitchFamily="34" charset="-122"/>
                <a:cs typeface="Palatino Linotype" pitchFamily="34" charset="-120"/>
              </a:rPr>
              <a:t>For each review</a:t>
            </a:r>
            <a:endParaRPr lang="en-US" sz="1700" dirty="0"/>
          </a:p>
        </p:txBody>
      </p:sp>
      <p:sp>
        <p:nvSpPr>
          <p:cNvPr id="14" name="Shape 12"/>
          <p:cNvSpPr/>
          <p:nvPr/>
        </p:nvSpPr>
        <p:spPr>
          <a:xfrm>
            <a:off x="6309360" y="1828800"/>
            <a:ext cx="201168" cy="201168"/>
          </a:xfrm>
          <a:prstGeom prst="rect">
            <a:avLst/>
          </a:prstGeom>
          <a:solidFill>
            <a:srgbClr val="FFFFFF"/>
          </a:solidFill>
          <a:ln w="12700">
            <a:solidFill>
              <a:srgbClr val="536379"/>
            </a:solidFill>
            <a:prstDash val="solid"/>
          </a:ln>
        </p:spPr>
      </p:sp>
      <p:sp>
        <p:nvSpPr>
          <p:cNvPr id="15" name="Text 13"/>
          <p:cNvSpPr txBox="1"/>
          <p:nvPr/>
        </p:nvSpPr>
        <p:spPr>
          <a:xfrm>
            <a:off x="6656832" y="178308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Activities → filter Submitted → Start review</a:t>
            </a:r>
            <a:endParaRPr lang="en-US" sz="1350" dirty="0"/>
          </a:p>
        </p:txBody>
      </p:sp>
      <p:sp>
        <p:nvSpPr>
          <p:cNvPr id="16" name="Shape 14"/>
          <p:cNvSpPr/>
          <p:nvPr/>
        </p:nvSpPr>
        <p:spPr>
          <a:xfrm>
            <a:off x="6309360" y="2331720"/>
            <a:ext cx="201168" cy="201168"/>
          </a:xfrm>
          <a:prstGeom prst="rect">
            <a:avLst/>
          </a:prstGeom>
          <a:solidFill>
            <a:srgbClr val="FFFFFF"/>
          </a:solidFill>
          <a:ln w="12700">
            <a:solidFill>
              <a:srgbClr val="536379"/>
            </a:solidFill>
            <a:prstDash val="solid"/>
          </a:ln>
        </p:spPr>
      </p:sp>
      <p:sp>
        <p:nvSpPr>
          <p:cNvPr id="17" name="Text 15"/>
          <p:cNvSpPr txBox="1"/>
          <p:nvPr/>
        </p:nvSpPr>
        <p:spPr>
          <a:xfrm>
            <a:off x="6656832" y="228600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More actions → View details → View Full Details</a:t>
            </a:r>
            <a:endParaRPr lang="en-US" sz="1350" dirty="0"/>
          </a:p>
        </p:txBody>
      </p:sp>
      <p:sp>
        <p:nvSpPr>
          <p:cNvPr id="18" name="Shape 16"/>
          <p:cNvSpPr/>
          <p:nvPr/>
        </p:nvSpPr>
        <p:spPr>
          <a:xfrm>
            <a:off x="6309360" y="2834640"/>
            <a:ext cx="201168" cy="201168"/>
          </a:xfrm>
          <a:prstGeom prst="rect">
            <a:avLst/>
          </a:prstGeom>
          <a:solidFill>
            <a:srgbClr val="FFFFFF"/>
          </a:solidFill>
          <a:ln w="12700">
            <a:solidFill>
              <a:srgbClr val="536379"/>
            </a:solidFill>
            <a:prstDash val="solid"/>
          </a:ln>
        </p:spPr>
      </p:sp>
      <p:sp>
        <p:nvSpPr>
          <p:cNvPr id="19" name="Text 17"/>
          <p:cNvSpPr txBox="1"/>
          <p:nvPr/>
        </p:nvSpPr>
        <p:spPr>
          <a:xfrm>
            <a:off x="6656832" y="278892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QAME Evaluation → rating → report link → Save link</a:t>
            </a:r>
            <a:endParaRPr lang="en-US" sz="1350" dirty="0"/>
          </a:p>
        </p:txBody>
      </p:sp>
      <p:sp>
        <p:nvSpPr>
          <p:cNvPr id="20" name="Shape 18"/>
          <p:cNvSpPr/>
          <p:nvPr/>
        </p:nvSpPr>
        <p:spPr>
          <a:xfrm>
            <a:off x="6309360" y="3337560"/>
            <a:ext cx="201168" cy="201168"/>
          </a:xfrm>
          <a:prstGeom prst="rect">
            <a:avLst/>
          </a:prstGeom>
          <a:solidFill>
            <a:srgbClr val="FFFFFF"/>
          </a:solidFill>
          <a:ln w="12700">
            <a:solidFill>
              <a:srgbClr val="536379"/>
            </a:solidFill>
            <a:prstDash val="solid"/>
          </a:ln>
        </p:spPr>
      </p:sp>
      <p:sp>
        <p:nvSpPr>
          <p:cNvPr id="21" name="Text 19"/>
          <p:cNvSpPr txBox="1"/>
          <p:nvPr/>
        </p:nvSpPr>
        <p:spPr>
          <a:xfrm>
            <a:off x="6656832" y="329184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If something is missing: Return for Revision with a clear note</a:t>
            </a:r>
            <a:endParaRPr lang="en-US" sz="1350" dirty="0"/>
          </a:p>
        </p:txBody>
      </p:sp>
      <p:sp>
        <p:nvSpPr>
          <p:cNvPr id="22" name="Text 20"/>
          <p:cNvSpPr txBox="1"/>
          <p:nvPr/>
        </p:nvSpPr>
        <p:spPr>
          <a:xfrm>
            <a:off x="548640" y="5989320"/>
            <a:ext cx="11064240" cy="274320"/>
          </a:xfrm>
          <a:prstGeom prst="rect">
            <a:avLst/>
          </a:prstGeom>
          <a:noFill/>
          <a:ln/>
        </p:spPr>
        <p:txBody>
          <a:bodyPr wrap="square" lIns="0" tIns="0" rIns="0" bIns="0" rtlCol="0" anchor="ctr"/>
          <a:lstStyle/>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Help: your DQAMP administrator · README.md beside the launcher · http://127.0.0.1:3002</a:t>
            </a:r>
            <a:endParaRPr lang="en-US" sz="1200" dirty="0"/>
          </a:p>
        </p:txBody>
      </p:sp>
      <p:sp>
        <p:nvSpPr>
          <p:cNvPr id="23" name="Text 2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QA Assessors</a:t>
            </a:r>
            <a:endParaRPr lang="en-US" sz="1000" dirty="0"/>
          </a:p>
        </p:txBody>
      </p:sp>
      <p:sp>
        <p:nvSpPr>
          <p:cNvPr id="24" name="Text 2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16</a:t>
            </a:r>
            <a:endParaRPr lang="en-US" sz="1000" dirty="0"/>
          </a:p>
        </p:txBody>
      </p:sp>
    </p:spTree>
  </p:cSld>
  <p:clrMapOvr>
    <a:masterClrMapping/>
  </p:clrMapOvr>
</p:sld>
</file>

<file path=ppt/theme/theme1.xml><?xml version="1.0" encoding="utf-8"?>
<a:theme xmlns:a="http://schemas.openxmlformats.org/drawingml/2006/main" name="DQAMP">
  <a:themeElements>
    <a:clrScheme name="DQAMP">
      <a:dk1>
        <a:srgbClr val="1E293B"/>
      </a:dk1>
      <a:lt1>
        <a:srgbClr val="FFFFFF"/>
      </a:lt1>
      <a:dk2>
        <a:srgbClr val="1B2A8F"/>
      </a:dk2>
      <a:lt2>
        <a:srgbClr val="F5F7FA"/>
      </a:lt2>
      <a:accent1>
        <a:srgbClr val="1B2A8F"/>
      </a:accent1>
      <a:accent2>
        <a:srgbClr val="EA580C"/>
      </a:accent2>
      <a:accent3>
        <a:srgbClr val="F2B705"/>
      </a:accent3>
      <a:accent4>
        <a:srgbClr val="B91C1C"/>
      </a:accent4>
      <a:accent5>
        <a:srgbClr val="536379"/>
      </a:accent5>
      <a:accent6>
        <a:srgbClr val="15338A"/>
      </a:accent6>
      <a:hlink>
        <a:srgbClr val="1B2A8F"/>
      </a:hlink>
      <a:folHlink>
        <a:srgbClr val="536379"/>
      </a:folHlink>
    </a:clrScheme>
    <a:fontScheme name="DQAMP">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alatino Linoty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SDO Lucena City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DQAMP onboarding: QA Assessors</dc:title>
  <dc:subject>PptxGenJS Presentation</dc:subject>
  <dc:creator>DQAMP 2026</dc:creator>
  <cp:lastModifiedBy>DQAMP 2026</cp:lastModifiedBy>
  <cp:revision>1</cp:revision>
  <dcterms:created xsi:type="dcterms:W3CDTF">2026-10-26T13:51:55Z</dcterms:created>
  <dcterms:modified xsi:type="dcterms:W3CDTF">2026-10-26T13:51:55Z</dcterms:modified>
</cp:coreProperties>
</file>